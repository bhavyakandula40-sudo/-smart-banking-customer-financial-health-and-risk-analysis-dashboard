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8"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custDataLst>
    <p:tags r:id="rId14"/>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65C0"/>
    <a:srgbClr val="FDF3ED"/>
    <a:srgbClr val="CEE3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CBDC38-0F0C-EF0A-5169-FC033B4B9FA1}" v="4" dt="2026-02-19T06:35:51.132"/>
    <p1510:client id="{DDC0B4EE-2D5D-447B-AE11-6BA75CAE74F0}" v="57" dt="2026-02-19T11:04:26.3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86" y="413"/>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notesSlide" Target="../notesSlides/notesSlide1.xml"/><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3.png"/><Relationship Id="rId5" Type="http://schemas.openxmlformats.org/officeDocument/2006/relationships/image" Target="../media/image3.sv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5" Type="http://schemas.openxmlformats.org/officeDocument/2006/relationships/image" Target="../media/image11.sv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 xmlns:a16="http://schemas.microsoft.com/office/drawing/2014/main" id="{071C7EC6-7D4C-F061-CDE0-6A50914ECB9E}"/>
              </a:ext>
            </a:extLst>
          </p:cNvPr>
          <p:cNvGrpSpPr/>
          <p:nvPr/>
        </p:nvGrpSpPr>
        <p:grpSpPr>
          <a:xfrm>
            <a:off x="0" y="5017322"/>
            <a:ext cx="7571294" cy="126178"/>
            <a:chOff x="0" y="0"/>
            <a:chExt cx="3988171" cy="66464"/>
          </a:xfrm>
        </p:grpSpPr>
        <p:sp>
          <p:nvSpPr>
            <p:cNvPr id="6" name="Freeform 6">
              <a:extLst>
                <a:ext uri="{FF2B5EF4-FFF2-40B4-BE49-F238E27FC236}">
                  <a16:creationId xmlns=""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txBody>
          <a:bodyPr/>
          <a:lstStyle/>
          <a:p>
            <a:endParaRPr lang="en-IN" sz="700"/>
          </a:p>
        </p:txBody>
      </p:sp>
      <p:sp>
        <p:nvSpPr>
          <p:cNvPr id="35" name="Freeform 35">
            <a:extLst>
              <a:ext uri="{FF2B5EF4-FFF2-40B4-BE49-F238E27FC236}">
                <a16:creationId xmlns=""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txBody>
          <a:bodyPr/>
          <a:lstStyle/>
          <a:p>
            <a:endParaRPr lang="en-IN" sz="700"/>
          </a:p>
        </p:txBody>
      </p:sp>
      <p:sp>
        <p:nvSpPr>
          <p:cNvPr id="36" name="Freeform 36">
            <a:extLst>
              <a:ext uri="{FF2B5EF4-FFF2-40B4-BE49-F238E27FC236}">
                <a16:creationId xmlns=""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txBody>
          <a:bodyPr/>
          <a:lstStyle/>
          <a:p>
            <a:endParaRPr lang="en-IN" sz="700"/>
          </a:p>
        </p:txBody>
      </p:sp>
      <p:grpSp>
        <p:nvGrpSpPr>
          <p:cNvPr id="47" name="Group 46">
            <a:extLst>
              <a:ext uri="{FF2B5EF4-FFF2-40B4-BE49-F238E27FC236}">
                <a16:creationId xmlns="" xmlns:a16="http://schemas.microsoft.com/office/drawing/2014/main" id="{1E9CDC51-FF0E-F171-6762-BB19A05B4D8E}"/>
              </a:ext>
            </a:extLst>
          </p:cNvPr>
          <p:cNvGrpSpPr/>
          <p:nvPr/>
        </p:nvGrpSpPr>
        <p:grpSpPr>
          <a:xfrm>
            <a:off x="-19007" y="2928677"/>
            <a:ext cx="4276134" cy="431080"/>
            <a:chOff x="0" y="2985846"/>
            <a:chExt cx="4276134" cy="431080"/>
          </a:xfrm>
        </p:grpSpPr>
        <p:grpSp>
          <p:nvGrpSpPr>
            <p:cNvPr id="28" name="Group 28">
              <a:extLst>
                <a:ext uri="{FF2B5EF4-FFF2-40B4-BE49-F238E27FC236}">
                  <a16:creationId xmlns=""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 xmlns:a16="http://schemas.microsoft.com/office/drawing/2014/main" id="{EEE29F0A-1253-B8CE-E742-41B8B6EB922D}"/>
              </a:ext>
            </a:extLst>
          </p:cNvPr>
          <p:cNvSpPr txBox="1"/>
          <p:nvPr/>
        </p:nvSpPr>
        <p:spPr>
          <a:xfrm>
            <a:off x="2302781" y="4344678"/>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Name</a:t>
            </a:r>
          </a:p>
        </p:txBody>
      </p:sp>
      <p:sp>
        <p:nvSpPr>
          <p:cNvPr id="42" name="TextBox 42">
            <a:extLst>
              <a:ext uri="{FF2B5EF4-FFF2-40B4-BE49-F238E27FC236}">
                <a16:creationId xmlns="" xmlns:a16="http://schemas.microsoft.com/office/drawing/2014/main" id="{2E9FAC26-1E84-D690-0FD4-B1A364AF40DE}"/>
              </a:ext>
            </a:extLst>
          </p:cNvPr>
          <p:cNvSpPr txBox="1"/>
          <p:nvPr/>
        </p:nvSpPr>
        <p:spPr>
          <a:xfrm>
            <a:off x="2302779" y="4471625"/>
            <a:ext cx="1633432" cy="227435"/>
          </a:xfrm>
          <a:prstGeom prst="rect">
            <a:avLst/>
          </a:prstGeom>
        </p:spPr>
        <p:txBody>
          <a:bodyPr lIns="0" tIns="0" rIns="0" bIns="0" rtlCol="0" anchor="t">
            <a:spAutoFit/>
          </a:bodyPr>
          <a:lstStyle/>
          <a:p>
            <a:pPr>
              <a:lnSpc>
                <a:spcPts val="2038"/>
              </a:lnSpc>
            </a:pPr>
            <a:r>
              <a:rPr lang="en-US" sz="1200" b="1" dirty="0" smtClean="0">
                <a:solidFill>
                  <a:srgbClr val="0D358D"/>
                </a:solidFill>
                <a:latin typeface="Arial" panose="020B0604020202020204" pitchFamily="34" charset="0"/>
                <a:ea typeface="Aileron Bold"/>
                <a:cs typeface="Arial" panose="020B0604020202020204" pitchFamily="34" charset="0"/>
                <a:sym typeface="Aileron Bold"/>
              </a:rPr>
              <a:t>K .</a:t>
            </a:r>
            <a:r>
              <a:rPr lang="en-US" sz="1200" b="1" dirty="0" err="1" smtClean="0">
                <a:solidFill>
                  <a:srgbClr val="0D358D"/>
                </a:solidFill>
                <a:latin typeface="Arial" panose="020B0604020202020204" pitchFamily="34" charset="0"/>
                <a:ea typeface="Aileron Bold"/>
                <a:cs typeface="Arial" panose="020B0604020202020204" pitchFamily="34" charset="0"/>
                <a:sym typeface="Aileron Bold"/>
              </a:rPr>
              <a:t>Bhavya</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pic>
        <p:nvPicPr>
          <p:cNvPr id="50" name="Picture 49" descr="A blue circle with a person and a envelope in it&#10;&#10;AI-generated content may be incorrect.">
            <a:extLst>
              <a:ext uri="{FF2B5EF4-FFF2-40B4-BE49-F238E27FC236}">
                <a16:creationId xmlns="" xmlns:a16="http://schemas.microsoft.com/office/drawing/2014/main" id="{C926F708-70B7-B0DB-A148-0FA2830D925D}"/>
              </a:ext>
            </a:extLst>
          </p:cNvPr>
          <p:cNvPicPr>
            <a:picLocks noChangeAspect="1"/>
          </p:cNvPicPr>
          <p:nvPr/>
        </p:nvPicPr>
        <p:blipFill>
          <a:blip r:embed="rId6"/>
          <a:srcRect l="26757" t="2453" r="27842" b="53701"/>
          <a:stretch>
            <a:fillRect/>
          </a:stretch>
        </p:blipFill>
        <p:spPr>
          <a:xfrm>
            <a:off x="1879018" y="4336133"/>
            <a:ext cx="395331" cy="381795"/>
          </a:xfrm>
          <a:prstGeom prst="rect">
            <a:avLst/>
          </a:prstGeom>
        </p:spPr>
      </p:pic>
      <p:sp>
        <p:nvSpPr>
          <p:cNvPr id="41" name="TextBox 41">
            <a:extLst>
              <a:ext uri="{FF2B5EF4-FFF2-40B4-BE49-F238E27FC236}">
                <a16:creationId xmlns="" xmlns:a16="http://schemas.microsoft.com/office/drawing/2014/main" id="{3403BDBE-05E2-50C5-0F55-4F0483352E2C}"/>
              </a:ext>
            </a:extLst>
          </p:cNvPr>
          <p:cNvSpPr txBox="1"/>
          <p:nvPr/>
        </p:nvSpPr>
        <p:spPr>
          <a:xfrm>
            <a:off x="3924234" y="4279537"/>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Email</a:t>
            </a:r>
          </a:p>
        </p:txBody>
      </p:sp>
      <p:sp>
        <p:nvSpPr>
          <p:cNvPr id="43" name="TextBox 43">
            <a:extLst>
              <a:ext uri="{FF2B5EF4-FFF2-40B4-BE49-F238E27FC236}">
                <a16:creationId xmlns="" xmlns:a16="http://schemas.microsoft.com/office/drawing/2014/main" id="{B84F91E2-C42E-10B3-A03A-88AA58AF1258}"/>
              </a:ext>
            </a:extLst>
          </p:cNvPr>
          <p:cNvSpPr txBox="1"/>
          <p:nvPr/>
        </p:nvSpPr>
        <p:spPr>
          <a:xfrm>
            <a:off x="3945013" y="4413410"/>
            <a:ext cx="2272871" cy="227435"/>
          </a:xfrm>
          <a:prstGeom prst="rect">
            <a:avLst/>
          </a:prstGeom>
        </p:spPr>
        <p:txBody>
          <a:bodyPr lIns="0" tIns="0" rIns="0" bIns="0" rtlCol="0" anchor="t">
            <a:spAutoFit/>
          </a:bodyPr>
          <a:lstStyle/>
          <a:p>
            <a:pPr>
              <a:lnSpc>
                <a:spcPts val="2038"/>
              </a:lnSpc>
            </a:pPr>
            <a:r>
              <a:rPr lang="en-US" sz="1200" b="1" dirty="0" smtClean="0">
                <a:solidFill>
                  <a:srgbClr val="0D358D"/>
                </a:solidFill>
                <a:latin typeface="Arial" panose="020B0604020202020204" pitchFamily="34" charset="0"/>
                <a:ea typeface="Aileron Bold"/>
                <a:cs typeface="Arial" panose="020B0604020202020204" pitchFamily="34" charset="0"/>
                <a:sym typeface="Aileron Bold"/>
              </a:rPr>
              <a:t>bhavyakandula40@gmail.com</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pic>
        <p:nvPicPr>
          <p:cNvPr id="51" name="Picture 50" descr="A blue circle with a person and a envelope in it&#10;&#10;AI-generated content may be incorrect.">
            <a:extLst>
              <a:ext uri="{FF2B5EF4-FFF2-40B4-BE49-F238E27FC236}">
                <a16:creationId xmlns="" xmlns:a16="http://schemas.microsoft.com/office/drawing/2014/main" id="{EC8FEF14-C75E-1155-0600-B4343B3F57F8}"/>
              </a:ext>
            </a:extLst>
          </p:cNvPr>
          <p:cNvPicPr>
            <a:picLocks noChangeAspect="1"/>
          </p:cNvPicPr>
          <p:nvPr/>
        </p:nvPicPr>
        <p:blipFill>
          <a:blip r:embed="rId6"/>
          <a:srcRect l="26859" t="52379" r="26874" b="2349"/>
          <a:stretch>
            <a:fillRect/>
          </a:stretch>
        </p:blipFill>
        <p:spPr>
          <a:xfrm>
            <a:off x="3523298" y="4318413"/>
            <a:ext cx="398279" cy="389719"/>
          </a:xfrm>
          <a:prstGeom prst="rect">
            <a:avLst/>
          </a:prstGeom>
        </p:spPr>
      </p:pic>
      <p:grpSp>
        <p:nvGrpSpPr>
          <p:cNvPr id="66" name="Group 65">
            <a:extLst>
              <a:ext uri="{FF2B5EF4-FFF2-40B4-BE49-F238E27FC236}">
                <a16:creationId xmlns="" xmlns:a16="http://schemas.microsoft.com/office/drawing/2014/main" id="{658A7A12-122B-4A3C-11D3-C4D8BF732077}"/>
              </a:ext>
            </a:extLst>
          </p:cNvPr>
          <p:cNvGrpSpPr/>
          <p:nvPr/>
        </p:nvGrpSpPr>
        <p:grpSpPr>
          <a:xfrm>
            <a:off x="832333" y="4337076"/>
            <a:ext cx="1838104" cy="353150"/>
            <a:chOff x="3111573" y="4295282"/>
            <a:chExt cx="1838104" cy="353150"/>
          </a:xfrm>
        </p:grpSpPr>
        <p:sp>
          <p:nvSpPr>
            <p:cNvPr id="67" name="TextBox 41">
              <a:extLst>
                <a:ext uri="{FF2B5EF4-FFF2-40B4-BE49-F238E27FC236}">
                  <a16:creationId xmlns="" xmlns:a16="http://schemas.microsoft.com/office/drawing/2014/main" id="{5FE6F280-D970-382B-5260-25E219F86722}"/>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 xmlns:a16="http://schemas.microsoft.com/office/drawing/2014/main" id="{A541DFB6-306C-CD3E-24BD-6D7131F87B73}"/>
                </a:ext>
              </a:extLst>
            </p:cNvPr>
            <p:cNvSpPr txBox="1"/>
            <p:nvPr/>
          </p:nvSpPr>
          <p:spPr>
            <a:xfrm>
              <a:off x="3111573" y="4391952"/>
              <a:ext cx="1072420" cy="256480"/>
            </a:xfrm>
            <a:prstGeom prst="rect">
              <a:avLst/>
            </a:prstGeom>
          </p:spPr>
          <p:txBody>
            <a:bodyPr wrap="square" lIns="0" tIns="0" rIns="0" bIns="0" rtlCol="0" anchor="t">
              <a:spAutoFit/>
            </a:bodyPr>
            <a:lstStyle/>
            <a:p>
              <a:pPr>
                <a:lnSpc>
                  <a:spcPts val="2038"/>
                </a:lnSpc>
              </a:pPr>
              <a:r>
                <a:rPr lang="en-US" sz="1000" b="1" dirty="0" smtClean="0">
                  <a:solidFill>
                    <a:srgbClr val="0D358D"/>
                  </a:solidFill>
                  <a:ea typeface="Aileron Bold"/>
                  <a:cs typeface="Arial" panose="020B0604020202020204" pitchFamily="34" charset="0"/>
                  <a:sym typeface="Aileron Bold"/>
                </a:rPr>
                <a:t>  </a:t>
              </a:r>
              <a:r>
                <a:rPr lang="en-US" sz="900" b="1" dirty="0" smtClean="0">
                  <a:solidFill>
                    <a:srgbClr val="0D358D"/>
                  </a:solidFill>
                  <a:latin typeface="Arial" panose="020B0604020202020204" pitchFamily="34" charset="0"/>
                  <a:ea typeface="Aileron Bold"/>
                  <a:cs typeface="Arial" panose="020B0604020202020204" pitchFamily="34" charset="0"/>
                  <a:sym typeface="Aileron Bold"/>
                </a:rPr>
                <a:t>Uma </a:t>
              </a:r>
              <a:r>
                <a:rPr lang="en-US" sz="900" b="1" dirty="0" err="1" smtClean="0">
                  <a:solidFill>
                    <a:srgbClr val="0D358D"/>
                  </a:solidFill>
                  <a:latin typeface="Arial" panose="020B0604020202020204" pitchFamily="34" charset="0"/>
                  <a:ea typeface="Aileron Bold"/>
                  <a:cs typeface="Arial" panose="020B0604020202020204" pitchFamily="34" charset="0"/>
                  <a:sym typeface="Aileron Bold"/>
                </a:rPr>
                <a:t>Maheshwari</a:t>
              </a:r>
              <a:r>
                <a:rPr lang="en-US" sz="900" b="1" dirty="0" smtClean="0">
                  <a:solidFill>
                    <a:srgbClr val="0D358D"/>
                  </a:solidFill>
                  <a:latin typeface="Arial" panose="020B0604020202020204" pitchFamily="34" charset="0"/>
                  <a:ea typeface="Aileron Bold"/>
                  <a:cs typeface="Arial" panose="020B0604020202020204" pitchFamily="34" charset="0"/>
                  <a:sym typeface="Aileron Bold"/>
                </a:rPr>
                <a:t> </a:t>
              </a:r>
              <a:endParaRPr lang="en-US" sz="900" b="1" dirty="0">
                <a:solidFill>
                  <a:srgbClr val="0D358D"/>
                </a:solidFill>
                <a:latin typeface="Arial" panose="020B0604020202020204" pitchFamily="34" charset="0"/>
                <a:ea typeface="Aileron Bold"/>
                <a:cs typeface="Arial" panose="020B0604020202020204" pitchFamily="34" charset="0"/>
                <a:sym typeface="Aileron Bold"/>
              </a:endParaRPr>
            </a:p>
          </p:txBody>
        </p:sp>
      </p:grpSp>
      <p:pic>
        <p:nvPicPr>
          <p:cNvPr id="71" name="Picture 70">
            <a:extLst>
              <a:ext uri="{FF2B5EF4-FFF2-40B4-BE49-F238E27FC236}">
                <a16:creationId xmlns="" xmlns:a16="http://schemas.microsoft.com/office/drawing/2014/main" id="{4094A52A-31D4-B030-C8BD-9B0ACB0083EC}"/>
              </a:ext>
            </a:extLst>
          </p:cNvPr>
          <p:cNvPicPr>
            <a:picLocks noChangeAspect="1"/>
          </p:cNvPicPr>
          <p:nvPr/>
        </p:nvPicPr>
        <p:blipFill>
          <a:blip r:embed="rId7"/>
          <a:srcRect l="28109" t="6546" r="28551" b="49509"/>
          <a:stretch>
            <a:fillRect/>
          </a:stretch>
        </p:blipFill>
        <p:spPr>
          <a:xfrm>
            <a:off x="447718" y="4346948"/>
            <a:ext cx="375815" cy="381063"/>
          </a:xfrm>
          <a:prstGeom prst="rect">
            <a:avLst/>
          </a:prstGeom>
        </p:spPr>
      </p:pic>
      <p:grpSp>
        <p:nvGrpSpPr>
          <p:cNvPr id="49" name="Group 48">
            <a:extLst>
              <a:ext uri="{FF2B5EF4-FFF2-40B4-BE49-F238E27FC236}">
                <a16:creationId xmlns=""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 xmlns:a16="http://schemas.microsoft.com/office/drawing/2014/main" id="{9016EA03-A173-06E1-C2CA-FF7DC65A3637}"/>
                </a:ext>
              </a:extLst>
            </p:cNvPr>
            <p:cNvPicPr>
              <a:picLocks noChangeAspect="1"/>
            </p:cNvPicPr>
            <p:nvPr/>
          </p:nvPicPr>
          <p:blipFill>
            <a:blip r:embed="rId8"/>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 xmlns:a16="http://schemas.microsoft.com/office/drawing/2014/main" id="{B084208C-F6C2-47AC-3616-A62F69B53173}"/>
                </a:ext>
              </a:extLst>
            </p:cNvPr>
            <p:cNvPicPr>
              <a:picLocks noChangeAspect="1"/>
            </p:cNvPicPr>
            <p:nvPr/>
          </p:nvPicPr>
          <p:blipFill>
            <a:blip r:embed="rId9"/>
            <a:stretch>
              <a:fillRect/>
            </a:stretch>
          </p:blipFill>
          <p:spPr>
            <a:xfrm>
              <a:off x="2670437" y="826472"/>
              <a:ext cx="564448" cy="183584"/>
            </a:xfrm>
            <a:prstGeom prst="rect">
              <a:avLst/>
            </a:prstGeom>
          </p:spPr>
        </p:pic>
      </p:grpSp>
      <p:sp>
        <p:nvSpPr>
          <p:cNvPr id="31" name="Shape 7">
            <a:extLst>
              <a:ext uri="{FF2B5EF4-FFF2-40B4-BE49-F238E27FC236}">
                <a16:creationId xmlns=""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 xmlns:a16="http://schemas.microsoft.com/office/drawing/2014/main" id="{21A2EF52-784B-5BFA-EB88-FB9E7588BFF8}"/>
              </a:ext>
            </a:extLst>
          </p:cNvPr>
          <p:cNvPicPr>
            <a:picLocks noChangeAspect="1"/>
          </p:cNvPicPr>
          <p:nvPr/>
        </p:nvPicPr>
        <p:blipFill>
          <a:blip r:embed="rId10"/>
          <a:srcRect b="19729"/>
          <a:stretch>
            <a:fillRect/>
          </a:stretch>
        </p:blipFill>
        <p:spPr>
          <a:xfrm>
            <a:off x="173754" y="1046557"/>
            <a:ext cx="3854253" cy="1849530"/>
          </a:xfrm>
          <a:prstGeom prst="rect">
            <a:avLst/>
          </a:prstGeom>
        </p:spPr>
      </p:pic>
      <p:sp>
        <p:nvSpPr>
          <p:cNvPr id="27" name="TextBox 26">
            <a:extLst>
              <a:ext uri="{FF2B5EF4-FFF2-40B4-BE49-F238E27FC236}">
                <a16:creationId xmlns="" xmlns:a16="http://schemas.microsoft.com/office/drawing/2014/main" id="{56CE2B4C-42F3-6C3D-A2AC-C0C414252A53}"/>
              </a:ext>
            </a:extLst>
          </p:cNvPr>
          <p:cNvSpPr txBox="1"/>
          <p:nvPr/>
        </p:nvSpPr>
        <p:spPr>
          <a:xfrm>
            <a:off x="68461" y="3462539"/>
            <a:ext cx="5447162" cy="523220"/>
          </a:xfrm>
          <a:prstGeom prst="rect">
            <a:avLst/>
          </a:prstGeom>
          <a:noFill/>
        </p:spPr>
        <p:txBody>
          <a:bodyPr wrap="square">
            <a:spAutoFit/>
          </a:bodyPr>
          <a:lstStyle/>
          <a:p>
            <a:pPr algn="ctr">
              <a:spcBef>
                <a:spcPts val="400"/>
              </a:spcBef>
              <a:spcAft>
                <a:spcPts val="400"/>
              </a:spcAft>
              <a:buNone/>
            </a:pPr>
            <a:r>
              <a:rPr lang="en-US" sz="1400" b="1" dirty="0" smtClean="0">
                <a:solidFill>
                  <a:srgbClr val="0070C0"/>
                </a:solidFill>
              </a:rPr>
              <a:t>     Smart </a:t>
            </a:r>
            <a:r>
              <a:rPr lang="en-US" sz="1400" b="1" dirty="0">
                <a:solidFill>
                  <a:srgbClr val="0070C0"/>
                </a:solidFill>
              </a:rPr>
              <a:t>banking customer financial health and risk analysis Dashboard</a:t>
            </a:r>
            <a:endParaRPr lang="en-IN" sz="1400" dirty="0">
              <a:solidFill>
                <a:srgbClr val="0070C0"/>
              </a:solidFill>
              <a:effectLst/>
              <a:latin typeface="Arial" panose="020B0604020202020204" pitchFamily="34" charset="0"/>
              <a:ea typeface="Arial" panose="020B0604020202020204" pitchFamily="34" charset="0"/>
            </a:endParaRPr>
          </a:p>
        </p:txBody>
      </p:sp>
    </p:spTree>
    <p:custDataLst>
      <p:tags r:id="rId1"/>
    </p:custDataLst>
    <p:extLst>
      <p:ext uri="{BB962C8B-B14F-4D97-AF65-F5344CB8AC3E}">
        <p14:creationId xmlns:p14="http://schemas.microsoft.com/office/powerpoint/2010/main" val="12122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 xmlns:a16="http://schemas.microsoft.com/office/drawing/2014/main"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a:extLst>
              <a:ext uri="{FF2B5EF4-FFF2-40B4-BE49-F238E27FC236}">
                <a16:creationId xmlns="" xmlns:a16="http://schemas.microsoft.com/office/drawing/2014/main" id="{38849028-F25C-7DA0-DE56-0DC142EECABD}"/>
              </a:ext>
            </a:extLst>
          </p:cNvPr>
          <p:cNvSpPr txBox="1"/>
          <p:nvPr/>
        </p:nvSpPr>
        <p:spPr>
          <a:xfrm>
            <a:off x="279070" y="1312225"/>
            <a:ext cx="4667003" cy="2292935"/>
          </a:xfrm>
          <a:prstGeom prst="rect">
            <a:avLst/>
          </a:prstGeom>
          <a:noFill/>
        </p:spPr>
        <p:txBody>
          <a:bodyPr wrap="square">
            <a:spAutoFit/>
          </a:bodyPr>
          <a:lstStyle/>
          <a:p>
            <a:pPr marL="285750" indent="-285750">
              <a:buFont typeface="Arial" panose="020B0604020202020204" pitchFamily="34" charset="0"/>
              <a:buChar char="•"/>
            </a:pPr>
            <a:r>
              <a:rPr lang="en-US" sz="1100" dirty="0"/>
              <a:t>Analyze banking customer data to understand financial behavior, spending patterns, and risk levels. </a:t>
            </a:r>
          </a:p>
          <a:p>
            <a:pPr marL="285750" indent="-285750">
              <a:buFont typeface="Arial" panose="020B0604020202020204" pitchFamily="34" charset="0"/>
              <a:buChar char="•"/>
            </a:pPr>
            <a:r>
              <a:rPr lang="en-US" sz="1100" dirty="0"/>
              <a:t>Objective is to convert raw data into meaningful insights for better decision-making.</a:t>
            </a:r>
          </a:p>
          <a:p>
            <a:pPr marL="285750" indent="-285750">
              <a:buFont typeface="Arial" panose="020B0604020202020204" pitchFamily="34" charset="0"/>
              <a:buChar char="•"/>
            </a:pPr>
            <a:r>
              <a:rPr lang="en-US" sz="1100" dirty="0"/>
              <a:t>Uses Microsoft Excel for data cleaning and preprocessing. </a:t>
            </a:r>
          </a:p>
          <a:p>
            <a:pPr marL="285750" indent="-285750">
              <a:buFont typeface="Arial" panose="020B0604020202020204" pitchFamily="34" charset="0"/>
              <a:buChar char="•"/>
            </a:pPr>
            <a:r>
              <a:rPr lang="en-US" sz="1100" dirty="0"/>
              <a:t>Uses Power BI to create interactive dashboards and visualizations. </a:t>
            </a:r>
          </a:p>
          <a:p>
            <a:pPr marL="285750" indent="-285750">
              <a:buFont typeface="Arial" panose="020B0604020202020204" pitchFamily="34" charset="0"/>
              <a:buChar char="•"/>
            </a:pPr>
            <a:r>
              <a:rPr lang="en-US" sz="1100" dirty="0"/>
              <a:t>Integrates AI tools like Chat GPT/Copilot for insights and report generation. </a:t>
            </a:r>
          </a:p>
          <a:p>
            <a:pPr marL="285750" indent="-285750">
              <a:buFont typeface="Arial" panose="020B0604020202020204" pitchFamily="34" charset="0"/>
              <a:buChar char="•"/>
            </a:pPr>
            <a:r>
              <a:rPr lang="en-US" sz="1100" dirty="0"/>
              <a:t>Identifies high-value customers and detects potential financial risks. </a:t>
            </a:r>
          </a:p>
          <a:p>
            <a:pPr marL="285750" indent="-285750">
              <a:buFont typeface="Arial" panose="020B0604020202020204" pitchFamily="34" charset="0"/>
              <a:buChar char="•"/>
            </a:pPr>
            <a:r>
              <a:rPr lang="en-US" sz="1100" dirty="0"/>
              <a:t>Provides clear, data-driven insights through dashboards. </a:t>
            </a:r>
          </a:p>
          <a:p>
            <a:pPr marL="285750" indent="-285750">
              <a:buFont typeface="Arial" panose="020B0604020202020204" pitchFamily="34" charset="0"/>
              <a:buChar char="•"/>
            </a:pPr>
            <a:r>
              <a:rPr lang="en-US" sz="1100" dirty="0"/>
              <a:t>Key highlight: Combines AI with business intelligence tools for smarter and more efficient analysis.</a:t>
            </a:r>
          </a:p>
          <a:p>
            <a:pPr>
              <a:spcAft>
                <a:spcPts val="800"/>
              </a:spcAft>
              <a:tabLst>
                <a:tab pos="4229100" algn="ctr"/>
              </a:tabLst>
            </a:pPr>
            <a:endParaRPr lang="en-US" sz="1100" dirty="0">
              <a:latin typeface="Lato" panose="020F0502020204030203" pitchFamily="34" charset="0"/>
              <a:ea typeface="+mn-lt"/>
              <a:cs typeface="Arial" panose="020B0604020202020204" pitchFamily="34" charset="0"/>
            </a:endParaRPr>
          </a:p>
        </p:txBody>
      </p:sp>
      <p:sp>
        <p:nvSpPr>
          <p:cNvPr id="2" name="Freeform 28">
            <a:extLst>
              <a:ext uri="{FF2B5EF4-FFF2-40B4-BE49-F238E27FC236}">
                <a16:creationId xmlns="" xmlns:a16="http://schemas.microsoft.com/office/drawing/2014/main" id="{AA7F05EE-340D-A58A-BAD0-FB0660B2D339}"/>
              </a:ext>
            </a:extLst>
          </p:cNvPr>
          <p:cNvSpPr/>
          <p:nvPr/>
        </p:nvSpPr>
        <p:spPr>
          <a:xfrm>
            <a:off x="5814470" y="108280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txBody>
          <a:bodyPr/>
          <a:lstStyle/>
          <a:p>
            <a:endParaRPr 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327B2E24-A610-1C01-FCDD-9B6B67A72E49}"/>
              </a:ext>
            </a:extLst>
          </p:cNvPr>
          <p:cNvPicPr>
            <a:picLocks noChangeAspect="1"/>
          </p:cNvPicPr>
          <p:nvPr/>
        </p:nvPicPr>
        <p:blipFill>
          <a:blip r:embed="rId4"/>
          <a:stretch>
            <a:fillRect/>
          </a:stretch>
        </p:blipFill>
        <p:spPr>
          <a:xfrm>
            <a:off x="4888151" y="873760"/>
            <a:ext cx="3947240" cy="3947240"/>
          </a:xfrm>
          <a:prstGeom prst="rect">
            <a:avLst/>
          </a:prstGeom>
        </p:spPr>
      </p:pic>
      <p:sp>
        <p:nvSpPr>
          <p:cNvPr id="4" name="Text 2"/>
          <p:cNvSpPr/>
          <p:nvPr/>
        </p:nvSpPr>
        <p:spPr>
          <a:xfrm>
            <a:off x="120623" y="611286"/>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6" name="TextBox 5">
            <a:extLst>
              <a:ext uri="{FF2B5EF4-FFF2-40B4-BE49-F238E27FC236}">
                <a16:creationId xmlns="" xmlns:a16="http://schemas.microsoft.com/office/drawing/2014/main" id="{EE76AC24-5CB7-D860-6A01-E6D8ABD38610}"/>
              </a:ext>
            </a:extLst>
          </p:cNvPr>
          <p:cNvSpPr txBox="1"/>
          <p:nvPr/>
        </p:nvSpPr>
        <p:spPr>
          <a:xfrm>
            <a:off x="92302" y="979269"/>
            <a:ext cx="4795849" cy="2569934"/>
          </a:xfrm>
          <a:prstGeom prst="rect">
            <a:avLst/>
          </a:prstGeom>
          <a:noFill/>
        </p:spPr>
        <p:txBody>
          <a:bodyPr wrap="square">
            <a:spAutoFit/>
          </a:bodyPr>
          <a:lstStyle/>
          <a:p>
            <a:r>
              <a:rPr lang="en-US" dirty="0"/>
              <a:t> </a:t>
            </a:r>
            <a:r>
              <a:rPr lang="en-US" sz="1100" dirty="0"/>
              <a:t>Banks collect large volumes of customer financial data daily, but this data is often not properly utilized to assess financial health and risk levels. Due to lack of structured analysis and visualization, it becomes difficult to identify high-risk customers and support effective decision-making.</a:t>
            </a:r>
          </a:p>
          <a:p>
            <a:r>
              <a:rPr lang="en-US" sz="1100" dirty="0"/>
              <a:t>At the same time, AI tools like Microsoft Copilot and </a:t>
            </a:r>
            <a:r>
              <a:rPr lang="en-US" sz="1100" dirty="0" err="1"/>
              <a:t>chatbots</a:t>
            </a:r>
            <a:r>
              <a:rPr lang="en-US" sz="1100" dirty="0"/>
              <a:t> offer opportunities to enhance data analysis, but many users lack the skills to use them effectively</a:t>
            </a:r>
            <a:r>
              <a:rPr lang="en-US" sz="1100" dirty="0" smtClean="0"/>
              <a:t>.</a:t>
            </a:r>
            <a:endParaRPr lang="en-US" sz="1100" dirty="0"/>
          </a:p>
          <a:p>
            <a:r>
              <a:rPr lang="en-US" sz="1100" dirty="0"/>
              <a:t>• Background of the banking domain and challenges in analyzing customer financial data.</a:t>
            </a:r>
            <a:br>
              <a:rPr lang="en-US" sz="1100" dirty="0"/>
            </a:br>
            <a:r>
              <a:rPr lang="en-US" sz="1100" dirty="0"/>
              <a:t>• Importance of identifying financial health and risk levels in real-world banking.</a:t>
            </a:r>
            <a:br>
              <a:rPr lang="en-US" sz="1100" dirty="0"/>
            </a:br>
            <a:r>
              <a:rPr lang="en-US" sz="1100" dirty="0"/>
              <a:t>• Gap in effectively utilizing data and AI tools for decision-making.</a:t>
            </a:r>
            <a:br>
              <a:rPr lang="en-US" sz="1100" dirty="0"/>
            </a:br>
            <a:r>
              <a:rPr lang="en-US" sz="1100" dirty="0"/>
              <a:t>• Value delivered to banks in improving risk assessment and customer analysis.</a:t>
            </a:r>
          </a:p>
          <a:p>
            <a:r>
              <a:rPr lang="en-US" sz="1100" dirty="0"/>
              <a:t>• Need for real-time monitoring of customer transactions and financial activities.</a:t>
            </a:r>
            <a:br>
              <a:rPr lang="en-US" sz="1100" dirty="0"/>
            </a:br>
            <a:r>
              <a:rPr lang="en-US" sz="1100" dirty="0"/>
              <a:t>• Challenges in identifying early warning signs of financial instability.</a:t>
            </a:r>
            <a:br>
              <a:rPr lang="en-US" sz="1100" dirty="0"/>
            </a:br>
            <a:r>
              <a:rPr lang="en-US" sz="1100" dirty="0"/>
              <a:t>• Lack of integrated systems for combining multiple financial indicators</a:t>
            </a:r>
            <a:endParaRPr lang="en-US" sz="1100" dirty="0">
              <a:ea typeface="+mn-lt"/>
              <a:cs typeface="Arial" panose="020B0604020202020204" pitchFamily="34" charset="0"/>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 xmlns:a16="http://schemas.microsoft.com/office/drawing/2014/main" id="{F1F49F94-4102-44CC-056B-FA1BB4DA8DA6}"/>
              </a:ext>
            </a:extLst>
          </p:cNvPr>
          <p:cNvPicPr>
            <a:picLocks noChangeAspect="1"/>
          </p:cNvPicPr>
          <p:nvPr/>
        </p:nvPicPr>
        <p:blipFill>
          <a:blip r:embed="rId4"/>
          <a:stretch>
            <a:fillRect/>
          </a:stretch>
        </p:blipFill>
        <p:spPr>
          <a:xfrm>
            <a:off x="4240286" y="725532"/>
            <a:ext cx="4903714" cy="4203183"/>
          </a:xfrm>
          <a:prstGeom prst="rect">
            <a:avLst/>
          </a:prstGeom>
        </p:spPr>
      </p:pic>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125486" y="1046013"/>
            <a:ext cx="4416154" cy="3474720"/>
          </a:xfrm>
          <a:prstGeom prst="rect">
            <a:avLst/>
          </a:prstGeom>
          <a:noFill/>
          <a:ln/>
        </p:spPr>
        <p:txBody>
          <a:bodyPr wrap="square" rtlCol="0" anchor="t"/>
          <a:lstStyle/>
          <a:p>
            <a:r>
              <a:rPr lang="en-US" sz="1200" dirty="0"/>
              <a:t>The proposed solution focuses on transforming raw banking data into meaningful insights to improve decision-making and customer analysis. Microsoft Excel is used for data cleaning and preprocessing, while Power BI is used to create interactive dashboards for visualizing customer behavior and financial performance. AI tools like </a:t>
            </a:r>
            <a:r>
              <a:rPr lang="en-US" sz="1200" dirty="0" smtClean="0"/>
              <a:t>Copilot </a:t>
            </a:r>
            <a:r>
              <a:rPr lang="en-US" sz="1200" dirty="0"/>
              <a:t>are integrated to generate insights and automate reporting. The approach follows a structured process of data collection, cleaning, analysis, and visualization, helping to identify customer segments and risk </a:t>
            </a:r>
            <a:r>
              <a:rPr lang="en-US" sz="1200" dirty="0" smtClean="0"/>
              <a:t>levels more </a:t>
            </a:r>
            <a:r>
              <a:rPr lang="en-US" sz="1200" dirty="0"/>
              <a:t>efficiently compared to traditional methods</a:t>
            </a:r>
            <a:r>
              <a:rPr lang="en-US" dirty="0"/>
              <a:t>.</a:t>
            </a:r>
          </a:p>
          <a:p>
            <a:pPr marL="0" indent="0">
              <a:buNone/>
            </a:pPr>
            <a:endParaRPr lang="en-US" dirty="0">
              <a:latin typeface="Lato" panose="020F0502020204030203" pitchFamily="34" charset="0"/>
              <a:cs typeface="Arial" panose="020B0604020202020204" pitchFamily="34" charset="0"/>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235408"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528453" y="1508166"/>
            <a:ext cx="3501716" cy="973777"/>
          </a:xfrm>
          <a:prstGeom prst="rect">
            <a:avLst/>
          </a:prstGeom>
          <a:noFill/>
          <a:ln/>
        </p:spPr>
        <p:txBody>
          <a:bodyPr wrap="square" rtlCol="0" anchor="t"/>
          <a:lstStyle/>
          <a:p>
            <a:pPr lvl="0" eaLnBrk="0" fontAlgn="base" hangingPunct="0">
              <a:spcBef>
                <a:spcPct val="0"/>
              </a:spcBef>
              <a:spcAft>
                <a:spcPct val="0"/>
              </a:spcAft>
              <a:buFontTx/>
              <a:buChar char="•"/>
            </a:pPr>
            <a:endParaRPr lang="en-US" altLang="en-US" sz="900" dirty="0" smtClean="0"/>
          </a:p>
          <a:p>
            <a:pPr lvl="0" eaLnBrk="0" fontAlgn="base" hangingPunct="0">
              <a:spcBef>
                <a:spcPct val="0"/>
              </a:spcBef>
              <a:spcAft>
                <a:spcPct val="0"/>
              </a:spcAft>
              <a:buFontTx/>
              <a:buChar char="•"/>
            </a:pPr>
            <a:r>
              <a:rPr lang="en-US" altLang="en-US" sz="900" dirty="0"/>
              <a:t> </a:t>
            </a:r>
            <a:r>
              <a:rPr lang="en-US" altLang="en-US" sz="900" dirty="0" smtClean="0"/>
              <a:t>Real includes </a:t>
            </a:r>
            <a:r>
              <a:rPr lang="en-US" altLang="en-US" sz="900" dirty="0"/>
              <a:t>key details like demographics, account types, balances, income, and credit score. </a:t>
            </a:r>
          </a:p>
          <a:p>
            <a:pPr lvl="0" eaLnBrk="0" fontAlgn="base" hangingPunct="0">
              <a:spcBef>
                <a:spcPct val="0"/>
              </a:spcBef>
              <a:spcAft>
                <a:spcPct val="0"/>
              </a:spcAft>
              <a:buFontTx/>
              <a:buChar char="•"/>
            </a:pPr>
            <a:r>
              <a:rPr lang="en-US" altLang="en-US" sz="900" dirty="0"/>
              <a:t>Acts as the primary input for financial analysis and insights generation. </a:t>
            </a:r>
          </a:p>
          <a:p>
            <a:pPr lvl="0" eaLnBrk="0" fontAlgn="base" hangingPunct="0">
              <a:spcBef>
                <a:spcPct val="0"/>
              </a:spcBef>
              <a:spcAft>
                <a:spcPct val="0"/>
              </a:spcAft>
              <a:buFontTx/>
              <a:buChar char="•"/>
            </a:pPr>
            <a:r>
              <a:rPr lang="en-US" altLang="en-US" sz="900" dirty="0"/>
              <a:t>Data is directly uploaded into Excel and Power BI for processing. </a:t>
            </a:r>
          </a:p>
          <a:p>
            <a:pPr lvl="0" eaLnBrk="0" fontAlgn="base" hangingPunct="0">
              <a:spcBef>
                <a:spcPct val="0"/>
              </a:spcBef>
              <a:spcAft>
                <a:spcPct val="0"/>
              </a:spcAft>
              <a:buFontTx/>
              <a:buChar char="•"/>
            </a:pPr>
            <a:r>
              <a:rPr lang="en-US" altLang="en-US" sz="900" dirty="0"/>
              <a:t>No external APIs or databases used, ensuring a simple and controlled data environment.</a:t>
            </a:r>
          </a:p>
          <a:p>
            <a:pPr lvl="0" eaLnBrk="0" fontAlgn="base" hangingPunct="0">
              <a:spcBef>
                <a:spcPct val="0"/>
              </a:spcBef>
              <a:spcAft>
                <a:spcPct val="0"/>
              </a:spcAft>
              <a:buFontTx/>
              <a:buChar char="•"/>
            </a:pPr>
            <a:r>
              <a:rPr lang="en-US" altLang="en-US" sz="900" dirty="0"/>
              <a:t>l-world inspired banking customer dataset in Excel format. </a:t>
            </a:r>
          </a:p>
          <a:p>
            <a:pPr marL="0" indent="0">
              <a:buNone/>
            </a:pPr>
            <a:endParaRPr lang="en-US" sz="1600" dirty="0">
              <a:latin typeface="Lato" panose="020F0502020204030203" pitchFamily="34" charset="0"/>
              <a:cs typeface="Arial" panose="020B0604020202020204" pitchFamily="34" charset="0"/>
            </a:endParaRPr>
          </a:p>
        </p:txBody>
      </p:sp>
      <p:sp>
        <p:nvSpPr>
          <p:cNvPr id="10" name="Shape 8"/>
          <p:cNvSpPr/>
          <p:nvPr/>
        </p:nvSpPr>
        <p:spPr>
          <a:xfrm>
            <a:off x="4670248" y="1243200"/>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1" name="Shape 9"/>
          <p:cNvSpPr/>
          <p:nvPr/>
        </p:nvSpPr>
        <p:spPr>
          <a:xfrm>
            <a:off x="860216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p:cNvSpPr/>
          <p:nvPr/>
        </p:nvSpPr>
        <p:spPr>
          <a:xfrm>
            <a:off x="476168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nvSpPr>
        <p:spPr>
          <a:xfrm>
            <a:off x="4761688" y="1700400"/>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4" name="Shape 12"/>
          <p:cNvSpPr/>
          <p:nvPr/>
        </p:nvSpPr>
        <p:spPr>
          <a:xfrm>
            <a:off x="23540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5" name="Shape 13"/>
          <p:cNvSpPr/>
          <p:nvPr/>
        </p:nvSpPr>
        <p:spPr>
          <a:xfrm>
            <a:off x="416732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6" name="Text 14"/>
          <p:cNvSpPr/>
          <p:nvPr/>
        </p:nvSpPr>
        <p:spPr>
          <a:xfrm>
            <a:off x="32684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nvSpPr>
        <p:spPr>
          <a:xfrm>
            <a:off x="326848" y="3427056"/>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8" name="Shape 16"/>
          <p:cNvSpPr/>
          <p:nvPr/>
        </p:nvSpPr>
        <p:spPr>
          <a:xfrm>
            <a:off x="467024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9" name="Shape 17"/>
          <p:cNvSpPr/>
          <p:nvPr/>
        </p:nvSpPr>
        <p:spPr>
          <a:xfrm>
            <a:off x="860216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0" name="Text 18"/>
          <p:cNvSpPr/>
          <p:nvPr/>
        </p:nvSpPr>
        <p:spPr>
          <a:xfrm>
            <a:off x="476168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4761688" y="3427056"/>
            <a:ext cx="4023360" cy="1188720"/>
          </a:xfrm>
          <a:prstGeom prst="rect">
            <a:avLst/>
          </a:prstGeom>
          <a:noFill/>
          <a:ln/>
        </p:spPr>
        <p:txBody>
          <a:bodyPr wrap="square" rtlCol="0" anchor="t"/>
          <a:lstStyle/>
          <a:p>
            <a:pPr marL="285750" indent="-285750">
              <a:buFont typeface="Arial" panose="020B0604020202020204" pitchFamily="34" charset="0"/>
              <a:buChar char="•"/>
            </a:pPr>
            <a:r>
              <a:rPr lang="en-US" sz="900" dirty="0"/>
              <a:t>Final output is an interactive Power BI dashboard. </a:t>
            </a:r>
          </a:p>
          <a:p>
            <a:pPr marL="285750" indent="-285750">
              <a:buFont typeface="Arial" panose="020B0604020202020204" pitchFamily="34" charset="0"/>
              <a:buChar char="•"/>
            </a:pPr>
            <a:r>
              <a:rPr lang="en-US" sz="900" dirty="0"/>
              <a:t>Displays charts, graphs, and KPI indicators for analysis. </a:t>
            </a:r>
          </a:p>
          <a:p>
            <a:pPr marL="285750" indent="-285750">
              <a:buFont typeface="Arial" panose="020B0604020202020204" pitchFamily="34" charset="0"/>
              <a:buChar char="•"/>
            </a:pPr>
            <a:r>
              <a:rPr lang="en-US" sz="900" dirty="0"/>
              <a:t>how customer demographics, account distribution, and financial performance.</a:t>
            </a:r>
          </a:p>
          <a:p>
            <a:pPr marL="285750" indent="-285750">
              <a:buFont typeface="Arial" panose="020B0604020202020204" pitchFamily="34" charset="0"/>
              <a:buChar char="•"/>
            </a:pPr>
            <a:r>
              <a:rPr lang="en-US" sz="900" dirty="0"/>
              <a:t>Provides clear insights into customer segments and risk levels. </a:t>
            </a:r>
          </a:p>
          <a:p>
            <a:pPr marL="285750" indent="-285750">
              <a:buFont typeface="Arial" panose="020B0604020202020204" pitchFamily="34" charset="0"/>
              <a:buChar char="•"/>
            </a:pPr>
            <a:r>
              <a:rPr lang="en-US" sz="900" dirty="0"/>
              <a:t>Enables easy understanding of data through visual representation</a:t>
            </a:r>
            <a:r>
              <a:rPr lang="en-US" sz="1600" dirty="0"/>
              <a:t>.</a:t>
            </a:r>
          </a:p>
          <a:p>
            <a:pPr marL="0" indent="0">
              <a:buNone/>
            </a:pPr>
            <a:endParaRPr lang="en-US" sz="1600" dirty="0">
              <a:latin typeface="Lato" panose="020F0502020204030203" pitchFamily="34" charset="0"/>
              <a:cs typeface="Arial" panose="020B0604020202020204" pitchFamily="34" charset="0"/>
            </a:endParaRPr>
          </a:p>
        </p:txBody>
      </p:sp>
      <p:sp>
        <p:nvSpPr>
          <p:cNvPr id="2" name="Rectangle 1"/>
          <p:cNvSpPr/>
          <p:nvPr/>
        </p:nvSpPr>
        <p:spPr>
          <a:xfrm>
            <a:off x="4761688" y="1751610"/>
            <a:ext cx="3936986" cy="1061829"/>
          </a:xfrm>
          <a:prstGeom prst="rect">
            <a:avLst/>
          </a:prstGeom>
        </p:spPr>
        <p:txBody>
          <a:bodyPr wrap="square">
            <a:spAutoFit/>
          </a:bodyPr>
          <a:lstStyle/>
          <a:p>
            <a:pPr>
              <a:buFont typeface="Arial" panose="020B0604020202020204" pitchFamily="34" charset="0"/>
              <a:buChar char="•"/>
            </a:pPr>
            <a:r>
              <a:rPr lang="en-US" sz="900" dirty="0"/>
              <a:t>Raw data is refined in Excel by removing duplicates and fixing missing values. </a:t>
            </a:r>
          </a:p>
          <a:p>
            <a:pPr>
              <a:buFont typeface="Arial" panose="020B0604020202020204" pitchFamily="34" charset="0"/>
              <a:buChar char="•"/>
            </a:pPr>
            <a:r>
              <a:rPr lang="en-US" sz="900" dirty="0"/>
              <a:t>Data is standardized and structured to ensure accuracy and consistency.</a:t>
            </a:r>
          </a:p>
          <a:p>
            <a:pPr>
              <a:buFont typeface="Arial" panose="020B0604020202020204" pitchFamily="34" charset="0"/>
              <a:buChar char="•"/>
            </a:pPr>
            <a:r>
              <a:rPr lang="en-US" sz="900" dirty="0"/>
              <a:t>Data is organized using sorting, filtering, and conditional formatting techniques. </a:t>
            </a:r>
          </a:p>
          <a:p>
            <a:pPr>
              <a:buFont typeface="Arial" panose="020B0604020202020204" pitchFamily="34" charset="0"/>
              <a:buChar char="•"/>
            </a:pPr>
            <a:r>
              <a:rPr lang="en-US" sz="900" dirty="0"/>
              <a:t>Advanced calculations and aggregations are applied to uncover hidden patterns. </a:t>
            </a:r>
          </a:p>
          <a:p>
            <a:pPr>
              <a:buFont typeface="Arial" panose="020B0604020202020204" pitchFamily="34" charset="0"/>
              <a:buChar char="•"/>
            </a:pPr>
            <a:r>
              <a:rPr lang="en-US" sz="900" dirty="0"/>
              <a:t>Power BI transforms the processed data into interactive visuals and meaningful insights.</a:t>
            </a:r>
          </a:p>
        </p:txBody>
      </p:sp>
      <p:sp>
        <p:nvSpPr>
          <p:cNvPr id="3" name="Rectangle 2"/>
          <p:cNvSpPr/>
          <p:nvPr/>
        </p:nvSpPr>
        <p:spPr>
          <a:xfrm>
            <a:off x="469074" y="3353904"/>
            <a:ext cx="4064013" cy="1061829"/>
          </a:xfrm>
          <a:prstGeom prst="rect">
            <a:avLst/>
          </a:prstGeom>
        </p:spPr>
        <p:txBody>
          <a:bodyPr wrap="square">
            <a:spAutoFit/>
          </a:bodyPr>
          <a:lstStyle/>
          <a:p>
            <a:pPr marL="171450" indent="-171450">
              <a:buFont typeface="Arial" panose="020B0604020202020204" pitchFamily="34" charset="0"/>
              <a:buChar char="•"/>
            </a:pPr>
            <a:r>
              <a:rPr lang="en-US" sz="900" dirty="0"/>
              <a:t>Excel is used for data cleaning, preprocessing, and basic analysis.</a:t>
            </a:r>
          </a:p>
          <a:p>
            <a:pPr marL="171450" indent="-171450">
              <a:buFont typeface="Arial" panose="020B0604020202020204" pitchFamily="34" charset="0"/>
              <a:buChar char="•"/>
            </a:pPr>
            <a:r>
              <a:rPr lang="en-US" sz="900" dirty="0"/>
              <a:t>Power BI is connected to Excel data to build interactive dashboards and visualizations.</a:t>
            </a:r>
          </a:p>
          <a:p>
            <a:pPr marL="171450" indent="-171450">
              <a:buFont typeface="Arial" panose="020B0604020202020204" pitchFamily="34" charset="0"/>
              <a:buChar char="•"/>
            </a:pPr>
            <a:r>
              <a:rPr lang="en-US" sz="900" dirty="0"/>
              <a:t>AI tools like </a:t>
            </a:r>
            <a:r>
              <a:rPr lang="en-US" sz="900" dirty="0" smtClean="0"/>
              <a:t>Copilot </a:t>
            </a:r>
            <a:r>
              <a:rPr lang="en-US" sz="900" dirty="0"/>
              <a:t>are used to generate insights and summaries.</a:t>
            </a:r>
          </a:p>
          <a:p>
            <a:pPr marL="171450" indent="-171450">
              <a:buFont typeface="Arial" panose="020B0604020202020204" pitchFamily="34" charset="0"/>
              <a:buChar char="•"/>
            </a:pPr>
            <a:r>
              <a:rPr lang="en-US" sz="900" dirty="0"/>
              <a:t>AI helps in faster report writing and better interpretation of data. </a:t>
            </a:r>
          </a:p>
          <a:p>
            <a:pPr marL="171450" indent="-171450">
              <a:buFont typeface="Arial" panose="020B0604020202020204" pitchFamily="34" charset="0"/>
              <a:buChar char="•"/>
            </a:pPr>
            <a:r>
              <a:rPr lang="en-US" sz="900" dirty="0"/>
              <a:t>Integration of these tools creates a smooth workflow from data processing to visualization.</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screenshots / features of the project:</a:t>
            </a:r>
            <a:endParaRPr lang="en-US" dirty="0">
              <a:latin typeface="Lato" panose="020F0502020204030203" pitchFamily="34" charset="0"/>
              <a:cs typeface="Arial" panose="020B0604020202020204" pitchFamily="34"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9" name="Shape 7"/>
          <p:cNvSpPr/>
          <p:nvPr/>
        </p:nvSpPr>
        <p:spPr>
          <a:xfrm>
            <a:off x="251460" y="2196877"/>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pPr algn="ctr"/>
            <a:r>
              <a:rPr lang="en-US" sz="2000" b="1" dirty="0" smtClean="0"/>
              <a:t> </a:t>
            </a:r>
          </a:p>
          <a:p>
            <a:pPr algn="ctr"/>
            <a:endParaRPr lang="en-US" sz="2000" b="1" dirty="0" smtClean="0"/>
          </a:p>
          <a:p>
            <a:pPr algn="ctr"/>
            <a:endParaRPr lang="en-US" sz="900" b="1" dirty="0"/>
          </a:p>
          <a:p>
            <a:pPr algn="ctr"/>
            <a:r>
              <a:rPr lang="en-US" sz="900" b="1" dirty="0" smtClean="0"/>
              <a:t>Customer Overview Dashboard</a:t>
            </a:r>
          </a:p>
          <a:p>
            <a:r>
              <a:rPr lang="en-US" sz="900" dirty="0" smtClean="0"/>
              <a:t>Shows overall customer data including age, income, and account type. Helps in understanding customer distribution and segmentation for better analysis.</a:t>
            </a:r>
          </a:p>
          <a:p>
            <a:r>
              <a:rPr lang="en-US" dirty="0" smtClean="0"/>
              <a:t>           </a:t>
            </a:r>
            <a:endParaRPr lang="en-IN" dirty="0">
              <a:latin typeface="Lato" panose="020F0502020204030203" pitchFamily="34" charset="0"/>
            </a:endParaRPr>
          </a:p>
        </p:txBody>
      </p:sp>
      <p:sp>
        <p:nvSpPr>
          <p:cNvPr id="10" name="Text 8"/>
          <p:cNvSpPr/>
          <p:nvPr/>
        </p:nvSpPr>
        <p:spPr>
          <a:xfrm>
            <a:off x="274320"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1</a:t>
            </a:r>
            <a:endParaRPr lang="en-US" sz="1600" dirty="0">
              <a:latin typeface="Lato" panose="020F0502020204030203" pitchFamily="34" charset="0"/>
              <a:cs typeface="Arial" panose="020B0604020202020204" pitchFamily="34" charset="0"/>
            </a:endParaRPr>
          </a:p>
        </p:txBody>
      </p:sp>
      <p:sp>
        <p:nvSpPr>
          <p:cNvPr id="11" name="Text 9"/>
          <p:cNvSpPr/>
          <p:nvPr/>
        </p:nvSpPr>
        <p:spPr>
          <a:xfrm>
            <a:off x="411480"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2"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4" name="Shape 12"/>
          <p:cNvSpPr/>
          <p:nvPr/>
        </p:nvSpPr>
        <p:spPr>
          <a:xfrm>
            <a:off x="3218688" y="2196877"/>
            <a:ext cx="2788920" cy="2651760"/>
          </a:xfrm>
          <a:prstGeom prst="rect">
            <a:avLst/>
          </a:prstGeom>
          <a:solidFill>
            <a:srgbClr val="FDF3ED"/>
          </a:solidFill>
          <a:ln/>
          <a:effectLst>
            <a:outerShdw blurRad="101600" dist="38100" dir="8100000" algn="bl" rotWithShape="0">
              <a:srgbClr val="000000">
                <a:alpha val="15000"/>
              </a:srgbClr>
            </a:outerShdw>
          </a:effectLst>
        </p:spPr>
        <p:txBody>
          <a:bodyPr/>
          <a:lstStyle/>
          <a:p>
            <a:pPr algn="ctr"/>
            <a:endParaRPr lang="en-US" sz="900" b="1" dirty="0" smtClean="0"/>
          </a:p>
          <a:p>
            <a:pPr algn="ctr"/>
            <a:endParaRPr lang="en-US" sz="900" b="1" dirty="0"/>
          </a:p>
          <a:p>
            <a:pPr algn="ctr"/>
            <a:endParaRPr lang="en-US" sz="900" b="1" dirty="0" smtClean="0"/>
          </a:p>
          <a:p>
            <a:pPr algn="ctr"/>
            <a:endParaRPr lang="en-US" sz="900" b="1" dirty="0"/>
          </a:p>
          <a:p>
            <a:pPr algn="ctr"/>
            <a:endParaRPr lang="en-US" sz="900" b="1" dirty="0" smtClean="0"/>
          </a:p>
          <a:p>
            <a:pPr algn="ctr"/>
            <a:r>
              <a:rPr lang="en-US" sz="900" b="1" dirty="0" smtClean="0"/>
              <a:t>Risk </a:t>
            </a:r>
            <a:r>
              <a:rPr lang="en-US" sz="900" b="1" dirty="0"/>
              <a:t>&amp; Loan Analysis</a:t>
            </a:r>
          </a:p>
          <a:p>
            <a:r>
              <a:rPr lang="en-US" sz="900" dirty="0"/>
              <a:t>Displays loan status and risk levels of customers. Helps identify high-risk customers and supports </a:t>
            </a:r>
            <a:r>
              <a:rPr lang="en-US" sz="900" dirty="0" smtClean="0"/>
              <a:t>better financial decision-making.</a:t>
            </a:r>
            <a:endParaRPr lang="en-US" dirty="0"/>
          </a:p>
        </p:txBody>
      </p:sp>
      <p:sp>
        <p:nvSpPr>
          <p:cNvPr id="15" name="Text 13"/>
          <p:cNvSpPr/>
          <p:nvPr/>
        </p:nvSpPr>
        <p:spPr>
          <a:xfrm>
            <a:off x="3218688"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2</a:t>
            </a:r>
            <a:endParaRPr lang="en-US" sz="1600" dirty="0">
              <a:latin typeface="Lato" panose="020F0502020204030203" pitchFamily="34" charset="0"/>
              <a:cs typeface="Arial" panose="020B0604020202020204" pitchFamily="34" charset="0"/>
            </a:endParaRPr>
          </a:p>
        </p:txBody>
      </p:sp>
      <p:sp>
        <p:nvSpPr>
          <p:cNvPr id="16" name="Text 14"/>
          <p:cNvSpPr/>
          <p:nvPr/>
        </p:nvSpPr>
        <p:spPr>
          <a:xfrm>
            <a:off x="3355848"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7" name="Shape 15"/>
          <p:cNvSpPr/>
          <p:nvPr/>
        </p:nvSpPr>
        <p:spPr>
          <a:xfrm>
            <a:off x="6867144"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63056" y="2200479"/>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US" b="1" dirty="0" smtClean="0"/>
          </a:p>
          <a:p>
            <a:r>
              <a:rPr lang="en-US" b="1" dirty="0"/>
              <a:t> </a:t>
            </a:r>
            <a:r>
              <a:rPr lang="en-US" b="1" dirty="0" smtClean="0"/>
              <a:t>    </a:t>
            </a:r>
          </a:p>
          <a:p>
            <a:r>
              <a:rPr lang="en-US" b="1" dirty="0"/>
              <a:t> </a:t>
            </a:r>
            <a:r>
              <a:rPr lang="en-US" b="1" dirty="0" smtClean="0"/>
              <a:t>          </a:t>
            </a:r>
            <a:r>
              <a:rPr lang="en-US" sz="900" b="1" dirty="0"/>
              <a:t>Financial Insights Dashboard</a:t>
            </a:r>
          </a:p>
          <a:p>
            <a:r>
              <a:rPr lang="en-US" sz="900" dirty="0"/>
              <a:t>Provides key financial metrics like total balance, transactions, and trends. Helps in analyzing customer financial health and performance.</a:t>
            </a:r>
          </a:p>
          <a:p>
            <a:endParaRPr lang="en-US" dirty="0"/>
          </a:p>
        </p:txBody>
      </p:sp>
      <p:sp>
        <p:nvSpPr>
          <p:cNvPr id="20" name="Text 18"/>
          <p:cNvSpPr/>
          <p:nvPr/>
        </p:nvSpPr>
        <p:spPr>
          <a:xfrm>
            <a:off x="6163056"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3</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00216"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1" name="Shape 9"/>
          <p:cNvSpPr/>
          <p:nvPr/>
        </p:nvSpPr>
        <p:spPr>
          <a:xfrm>
            <a:off x="1371600" y="777240"/>
            <a:ext cx="5029200" cy="201168"/>
          </a:xfrm>
          <a:prstGeom prst="rect">
            <a:avLst/>
          </a:prstGeom>
          <a:solidFill>
            <a:srgbClr val="FFFFFF"/>
          </a:solidFill>
          <a:ln w="6350">
            <a:solidFill>
              <a:srgbClr val="CCCCCC"/>
            </a:solidFill>
            <a:prstDash val="solid"/>
          </a:ln>
        </p:spPr>
        <p:txBody>
          <a:bodyPr/>
          <a:lstStyle/>
          <a:p>
            <a:endParaRPr lang="en-IN"/>
          </a:p>
        </p:txBody>
      </p:sp>
      <p:sp>
        <p:nvSpPr>
          <p:cNvPr id="12" name="Text 10"/>
          <p:cNvSpPr/>
          <p:nvPr/>
        </p:nvSpPr>
        <p:spPr>
          <a:xfrm>
            <a:off x="1389888" y="768096"/>
            <a:ext cx="4992624" cy="219456"/>
          </a:xfrm>
          <a:prstGeom prst="rect">
            <a:avLst/>
          </a:prstGeom>
          <a:noFill/>
          <a:ln/>
        </p:spPr>
        <p:txBody>
          <a:bodyPr wrap="square" rtlCol="0" anchor="ctr"/>
          <a:lstStyle/>
          <a:p>
            <a:pPr marL="0" indent="0">
              <a:buNone/>
            </a:pPr>
            <a:r>
              <a:rPr lang="en-US" sz="900" dirty="0">
                <a:solidFill>
                  <a:srgbClr val="607D8B"/>
                </a:solidFill>
                <a:latin typeface="Calibri" pitchFamily="34" charset="0"/>
                <a:ea typeface="Calibri" pitchFamily="34" charset="-122"/>
                <a:cs typeface="Calibri" pitchFamily="34" charset="-120"/>
              </a:rPr>
              <a:t>[https://your-project-demo-link.com]</a:t>
            </a:r>
            <a:endParaRPr lang="en-US" sz="900" dirty="0"/>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rPr>
              <a:t>▶</a:t>
            </a: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dirty="0">
                <a:solidFill>
                  <a:srgbClr val="607D8B"/>
                </a:solidFill>
                <a:latin typeface="Calibri" pitchFamily="34" charset="0"/>
                <a:ea typeface="Calibri" pitchFamily="34" charset="-122"/>
                <a:cs typeface="Calibri" pitchFamily="34" charset="-120"/>
              </a:rPr>
              <a:t>[Insert your project demo video.</a:t>
            </a:r>
            <a:endParaRPr lang="en-US" sz="1100" dirty="0"/>
          </a:p>
          <a:p>
            <a:pPr marL="0" indent="0" algn="ctr">
              <a:buNone/>
            </a:pPr>
            <a:r>
              <a:rPr lang="en-US" sz="1100" i="1" dirty="0">
                <a:solidFill>
                  <a:srgbClr val="607D8B"/>
                </a:solidFill>
                <a:latin typeface="Calibri" pitchFamily="34" charset="0"/>
                <a:ea typeface="Calibri" pitchFamily="34" charset="-122"/>
                <a:cs typeface="Calibri" pitchFamily="34" charset="-120"/>
              </a:rPr>
              <a:t>You can embed a video your live project.]</a:t>
            </a:r>
            <a:endParaRPr lang="en-US" sz="1100" dirty="0"/>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5486" y="1084927"/>
            <a:ext cx="4446513" cy="3474720"/>
          </a:xfrm>
          <a:prstGeom prst="rect">
            <a:avLst/>
          </a:prstGeom>
          <a:noFill/>
          <a:ln/>
        </p:spPr>
        <p:txBody>
          <a:bodyPr wrap="square" rtlCol="0" anchor="t"/>
          <a:lstStyle/>
          <a:p>
            <a:pPr lvl="0" eaLnBrk="0" fontAlgn="base" hangingPunct="0">
              <a:spcBef>
                <a:spcPct val="0"/>
              </a:spcBef>
              <a:spcAft>
                <a:spcPct val="0"/>
              </a:spcAft>
              <a:buFontTx/>
              <a:buChar char="•"/>
            </a:pPr>
            <a:r>
              <a:rPr lang="en-US" altLang="en-US" sz="1400" dirty="0"/>
              <a:t>Developed a banking dashboard</a:t>
            </a:r>
            <a:br>
              <a:rPr lang="en-US" altLang="en-US" sz="1400" dirty="0"/>
            </a:br>
            <a:r>
              <a:rPr lang="en-US" altLang="en-US" sz="1400" dirty="0"/>
              <a:t>to analyze customer behavior and risk levels </a:t>
            </a:r>
          </a:p>
          <a:p>
            <a:pPr lvl="0" eaLnBrk="0" fontAlgn="base" hangingPunct="0">
              <a:spcBef>
                <a:spcPct val="0"/>
              </a:spcBef>
              <a:spcAft>
                <a:spcPct val="0"/>
              </a:spcAft>
              <a:buFontTx/>
              <a:buChar char="•"/>
            </a:pPr>
            <a:r>
              <a:rPr lang="en-US" altLang="en-US" sz="1400" dirty="0"/>
              <a:t>Used Excel and Power BI</a:t>
            </a:r>
            <a:br>
              <a:rPr lang="en-US" altLang="en-US" sz="1400" dirty="0"/>
            </a:br>
            <a:r>
              <a:rPr lang="en-US" altLang="en-US" sz="1400" dirty="0"/>
              <a:t>to generate meaningful insights </a:t>
            </a:r>
          </a:p>
          <a:p>
            <a:pPr lvl="0" eaLnBrk="0" fontAlgn="base" hangingPunct="0">
              <a:spcBef>
                <a:spcPct val="0"/>
              </a:spcBef>
              <a:spcAft>
                <a:spcPct val="0"/>
              </a:spcAft>
              <a:buFontTx/>
              <a:buChar char="•"/>
            </a:pPr>
            <a:r>
              <a:rPr lang="en-US" altLang="en-US" sz="1400" dirty="0"/>
              <a:t>Identified key customer trends</a:t>
            </a:r>
            <a:br>
              <a:rPr lang="en-US" altLang="en-US" sz="1400" dirty="0"/>
            </a:br>
            <a:r>
              <a:rPr lang="en-US" altLang="en-US" sz="1400" dirty="0"/>
              <a:t>and financial risks </a:t>
            </a:r>
          </a:p>
          <a:p>
            <a:pPr lvl="0" eaLnBrk="0" fontAlgn="base" hangingPunct="0">
              <a:spcBef>
                <a:spcPct val="0"/>
              </a:spcBef>
              <a:spcAft>
                <a:spcPct val="0"/>
              </a:spcAft>
              <a:buFontTx/>
              <a:buChar char="•"/>
            </a:pPr>
            <a:r>
              <a:rPr lang="en-US" altLang="en-US" sz="1400" dirty="0"/>
              <a:t>Achieved project objectives</a:t>
            </a:r>
            <a:br>
              <a:rPr lang="en-US" altLang="en-US" sz="1400" dirty="0"/>
            </a:br>
            <a:r>
              <a:rPr lang="en-US" altLang="en-US" sz="1400" dirty="0"/>
              <a:t>with effective data analysis </a:t>
            </a:r>
          </a:p>
          <a:p>
            <a:pPr lvl="0" eaLnBrk="0" fontAlgn="base" hangingPunct="0">
              <a:spcBef>
                <a:spcPct val="0"/>
              </a:spcBef>
              <a:spcAft>
                <a:spcPct val="0"/>
              </a:spcAft>
              <a:buFontTx/>
              <a:buChar char="•"/>
            </a:pPr>
            <a:r>
              <a:rPr lang="en-US" altLang="en-US" sz="1400" dirty="0"/>
              <a:t>Improves decision-making</a:t>
            </a:r>
            <a:br>
              <a:rPr lang="en-US" altLang="en-US" sz="1400" dirty="0"/>
            </a:br>
            <a:r>
              <a:rPr lang="en-US" altLang="en-US" sz="1400" dirty="0"/>
              <a:t>using data and AI tools </a:t>
            </a:r>
          </a:p>
          <a:p>
            <a:pPr marL="0" indent="0">
              <a:buNone/>
            </a:pPr>
            <a:endParaRPr lang="en-US" sz="1400" dirty="0">
              <a:latin typeface="Lato" panose="020F0502020204030203" pitchFamily="34" charset="0"/>
              <a:cs typeface="Arial" panose="020B0604020202020204" pitchFamily="34" charset="0"/>
            </a:endParaRP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4898406" y="971550"/>
            <a:ext cx="3597456" cy="3309355"/>
          </a:xfrm>
          <a:prstGeom prst="rect">
            <a:avLst/>
          </a:prstGeom>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7" y="1082104"/>
            <a:ext cx="4114800" cy="3474720"/>
          </a:xfrm>
          <a:prstGeom prst="rect">
            <a:avLst/>
          </a:prstGeom>
          <a:noFill/>
          <a:ln/>
        </p:spPr>
        <p:txBody>
          <a:bodyPr wrap="square" rtlCol="0" anchor="t"/>
          <a:lstStyle/>
          <a:p>
            <a:r>
              <a:rPr lang="en-US" sz="1200" dirty="0"/>
              <a:t>The future scope of this project includes integrating real-time banking data for live analysis and updates. Machine learning techniques can be applied to enhance predictive insights and risk analysis. The dashboard can be further improved with advanced Power BI features and automation. Additionally, the system can be expanded into a web-based or mobile platform to improve accessibility and user experience</a:t>
            </a:r>
            <a:endParaRPr lang="en-US" sz="1200" dirty="0">
              <a:latin typeface="Lato" panose="020F0502020204030203" pitchFamily="34" charset="0"/>
              <a:cs typeface="Arial" panose="020B0604020202020204" pitchFamily="34" charset="0"/>
            </a:endParaRPr>
          </a:p>
        </p:txBody>
      </p:sp>
      <p:pic>
        <p:nvPicPr>
          <p:cNvPr id="2" name="Picture 1">
            <a:extLst>
              <a:ext uri="{FF2B5EF4-FFF2-40B4-BE49-F238E27FC236}">
                <a16:creationId xmlns=""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1635" y="879613"/>
            <a:ext cx="4512365" cy="3384274"/>
          </a:xfrm>
          <a:prstGeom prst="rect">
            <a:avLst/>
          </a:prstGeom>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430</TotalTime>
  <Words>813</Words>
  <Application>Microsoft Office PowerPoint</Application>
  <PresentationFormat>On-screen Show (16:9)</PresentationFormat>
  <Paragraphs>108</Paragraphs>
  <Slides>11</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Aileron</vt:lpstr>
      <vt:lpstr>Aileron Bold</vt:lpstr>
      <vt:lpstr>Aileron Ultra-Bold</vt:lpstr>
      <vt:lpstr>Arial</vt:lpstr>
      <vt:lpstr>Calibri</vt:lpstr>
      <vt:lpstr>Lato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hp</cp:lastModifiedBy>
  <cp:revision>39</cp:revision>
  <dcterms:created xsi:type="dcterms:W3CDTF">2026-02-18T09:17:23Z</dcterms:created>
  <dcterms:modified xsi:type="dcterms:W3CDTF">2026-04-07T15:25:14Z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