
<file path=[Content_Types].xml><?xml version="1.0" encoding="utf-8"?>
<Types xmlns="http://schemas.openxmlformats.org/package/2006/content-types">
  <Default Extension="png" ContentType="image/png"/>
  <Default Extension="svg" ContentType="image/svg+xml"/>
  <Default Extension="m4a" ContentType="audio/mp4"/>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15.png"/><Relationship Id="rId2" Type="http://schemas.microsoft.com/office/2007/relationships/media" Target="../media/media1.m4a"/><Relationship Id="rId1" Type="http://schemas.openxmlformats.org/officeDocument/2006/relationships/tags" Target="../tags/tag12.xml"/><Relationship Id="rId6" Type="http://schemas.openxmlformats.org/officeDocument/2006/relationships/hyperlink" Target="audio1000804705.m4a" TargetMode="External"/><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 xmlns:a16="http://schemas.microsoft.com/office/drawing/2014/main" id="{071C7EC6-7D4C-F061-CDE0-6A50914ECB9E}"/>
              </a:ext>
            </a:extLst>
          </p:cNvPr>
          <p:cNvGrpSpPr/>
          <p:nvPr/>
        </p:nvGrpSpPr>
        <p:grpSpPr>
          <a:xfrm>
            <a:off x="48416" y="4890401"/>
            <a:ext cx="7571294" cy="126178"/>
            <a:chOff x="0" y="0"/>
            <a:chExt cx="3988171" cy="66464"/>
          </a:xfrm>
        </p:grpSpPr>
        <p:sp>
          <p:nvSpPr>
            <p:cNvPr id="6" name="Freeform 6">
              <a:extLst>
                <a:ext uri="{FF2B5EF4-FFF2-40B4-BE49-F238E27FC236}">
                  <a16:creationId xmlns=""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 xmlns:a16="http://schemas.microsoft.com/office/drawing/2014/main" id="{2E9FAC26-1E84-D690-0FD4-B1A364AF40DE}"/>
              </a:ext>
            </a:extLst>
          </p:cNvPr>
          <p:cNvSpPr txBox="1"/>
          <p:nvPr/>
        </p:nvSpPr>
        <p:spPr>
          <a:xfrm>
            <a:off x="2302779" y="4471625"/>
            <a:ext cx="1633432" cy="256480"/>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K.Bhavya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 xmlns:a16="http://schemas.microsoft.com/office/drawing/2014/main"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 xmlns:a16="http://schemas.microsoft.com/office/drawing/2014/main"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 xmlns:a16="http://schemas.microsoft.com/office/drawing/2014/main" id="{56CE2B4C-42F3-6C3D-A2AC-C0C414252A53}"/>
              </a:ext>
            </a:extLst>
          </p:cNvPr>
          <p:cNvSpPr txBox="1"/>
          <p:nvPr/>
        </p:nvSpPr>
        <p:spPr>
          <a:xfrm>
            <a:off x="364883" y="3708312"/>
            <a:ext cx="5421506" cy="338554"/>
          </a:xfrm>
          <a:prstGeom prst="rect">
            <a:avLst/>
          </a:prstGeom>
          <a:noFill/>
        </p:spPr>
        <p:txBody>
          <a:bodyPr wrap="square">
            <a:spAutoFit/>
          </a:bodyPr>
          <a:lstStyle/>
          <a:p>
            <a:pPr algn="ctr">
              <a:spcBef>
                <a:spcPts val="400"/>
              </a:spcBef>
              <a:spcAft>
                <a:spcPts val="400"/>
              </a:spcAft>
              <a:buNone/>
            </a:pPr>
            <a:r>
              <a:rPr lang="en-IN" sz="1600" b="1" dirty="0" smtClean="0">
                <a:solidFill>
                  <a:srgbClr val="0070C0"/>
                </a:solidFill>
                <a:effectLst/>
                <a:ea typeface="Arial" panose="020B0604020202020204" pitchFamily="34" charset="0"/>
              </a:rPr>
              <a:t>Client Financial Risk </a:t>
            </a:r>
            <a:r>
              <a:rPr lang="en-US" sz="1600" b="1" dirty="0" smtClean="0">
                <a:solidFill>
                  <a:srgbClr val="0070C0"/>
                </a:solidFill>
                <a:effectLst/>
                <a:ea typeface="Arial" panose="020B0604020202020204" pitchFamily="34" charset="0"/>
              </a:rPr>
              <a:t>Monitoring And Analysis System</a:t>
            </a:r>
            <a:endParaRPr lang="en-IN" sz="1600" b="1" dirty="0">
              <a:solidFill>
                <a:srgbClr val="0070C0"/>
              </a:solidFill>
              <a:effectLst/>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 xmlns:a16="http://schemas.microsoft.com/office/drawing/2014/main" id="{38849028-F25C-7DA0-DE56-0DC142EECABD}"/>
              </a:ext>
            </a:extLst>
          </p:cNvPr>
          <p:cNvSpPr txBox="1"/>
          <p:nvPr/>
        </p:nvSpPr>
        <p:spPr>
          <a:xfrm>
            <a:off x="77373" y="928468"/>
            <a:ext cx="5380892" cy="4001095"/>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Analyze banking customer data to understand </a:t>
            </a:r>
            <a:r>
              <a:rPr lang="en-US" sz="1600" dirty="0" smtClean="0">
                <a:latin typeface="Lato" panose="020F0502020204030203"/>
                <a:ea typeface="Cambria Math" panose="02040503050406030204" pitchFamily="18" charset="0"/>
                <a:cs typeface="Cascadia Mono ExtraLight" panose="020B0609020000020004" pitchFamily="49" charset="0"/>
              </a:rPr>
              <a:t>n </a:t>
            </a:r>
            <a:r>
              <a:rPr lang="en-US" sz="1600" dirty="0">
                <a:latin typeface="Lato" panose="020F0502020204030203"/>
                <a:ea typeface="Cambria Math" panose="02040503050406030204" pitchFamily="18" charset="0"/>
                <a:cs typeface="Cascadia Mono ExtraLight" panose="020B0609020000020004" pitchFamily="49" charset="0"/>
              </a:rPr>
              <a:t>insights through dashboards.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Key highlight: Combines AI with business intelligence tools for smarter </a:t>
            </a:r>
            <a:r>
              <a:rPr lang="en-US" sz="1600" dirty="0" smtClean="0">
                <a:latin typeface="Lato" panose="020F0502020204030203"/>
                <a:ea typeface="Cambria Math" panose="02040503050406030204" pitchFamily="18" charset="0"/>
                <a:cs typeface="Cascadia Mono ExtraLight" panose="020B0609020000020004" pitchFamily="49" charset="0"/>
              </a:rPr>
              <a:t>an financial </a:t>
            </a:r>
            <a:r>
              <a:rPr lang="en-US" sz="1600" dirty="0">
                <a:latin typeface="Lato" panose="020F0502020204030203"/>
                <a:ea typeface="Cambria Math" panose="02040503050406030204" pitchFamily="18" charset="0"/>
                <a:cs typeface="Cascadia Mono ExtraLight" panose="020B0609020000020004" pitchFamily="49" charset="0"/>
              </a:rPr>
              <a:t>behavior, spending patterns, and risk levels.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Objective is to convert raw data into meaningful insights for better decision-making.</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Microsoft Excel for data cleaning and preprocessing.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Power BI to create interactive dashboards and visualizations.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Integrates AI tools like Copilot for insights and report generation.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Identifies high-value customers and detects potential financial risks.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Provides clear, data-</a:t>
            </a:r>
            <a:r>
              <a:rPr lang="en-US" sz="1600" dirty="0" err="1">
                <a:latin typeface="Lato" panose="020F0502020204030203"/>
                <a:ea typeface="Cambria Math" panose="02040503050406030204" pitchFamily="18" charset="0"/>
                <a:cs typeface="Cascadia Mono ExtraLight" panose="020B0609020000020004" pitchFamily="49" charset="0"/>
              </a:rPr>
              <a:t>drived</a:t>
            </a:r>
            <a:r>
              <a:rPr lang="en-US" sz="1600" dirty="0">
                <a:latin typeface="Lato" panose="020F0502020204030203"/>
                <a:ea typeface="Cambria Math" panose="02040503050406030204" pitchFamily="18" charset="0"/>
                <a:cs typeface="Cascadia Mono ExtraLight" panose="020B0609020000020004" pitchFamily="49" charset="0"/>
              </a:rPr>
              <a:t> </a:t>
            </a:r>
            <a:r>
              <a:rPr lang="en-US" sz="1600" dirty="0">
                <a:latin typeface="Lato" panose="020F0502020204030203"/>
              </a:rPr>
              <a:t>more efficient analysis</a:t>
            </a:r>
            <a:r>
              <a:rPr lang="en-US" sz="1200" dirty="0">
                <a:latin typeface="Lato" panose="020F0502020204030203"/>
              </a:rPr>
              <a:t>.</a:t>
            </a:r>
          </a:p>
          <a:p>
            <a:pPr algn="just">
              <a:spcAft>
                <a:spcPts val="800"/>
              </a:spcAft>
              <a:tabLst>
                <a:tab pos="4229100" algn="ctr"/>
              </a:tabLst>
            </a:pPr>
            <a:endParaRPr lang="en-US" sz="1400" dirty="0">
              <a:latin typeface="Lato" panose="020F0502020204030203"/>
              <a:ea typeface="+mn-lt"/>
              <a:cs typeface="Arial" panose="020B0604020202020204" pitchFamily="34" charset="0"/>
            </a:endParaRPr>
          </a:p>
        </p:txBody>
      </p:sp>
      <p:sp>
        <p:nvSpPr>
          <p:cNvPr id="2" name="Freeform 28">
            <a:extLst>
              <a:ext uri="{FF2B5EF4-FFF2-40B4-BE49-F238E27FC236}">
                <a16:creationId xmlns=""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p:cNvSpPr/>
          <p:nvPr/>
        </p:nvSpPr>
        <p:spPr>
          <a:xfrm>
            <a:off x="120624" y="914924"/>
            <a:ext cx="4611694" cy="369332"/>
          </a:xfrm>
          <a:prstGeom prst="rect">
            <a:avLst/>
          </a:prstGeom>
        </p:spPr>
        <p:txBody>
          <a:bodyPr wrap="square">
            <a:spAutoFit/>
          </a:bodyPr>
          <a:lstStyle/>
          <a:p>
            <a:pPr algn="just"/>
            <a:endParaRPr lang="en-US" dirty="0" smtClean="0">
              <a:latin typeface="Lato" panose="020F0502020204030203"/>
            </a:endParaRPr>
          </a:p>
        </p:txBody>
      </p:sp>
      <p:sp>
        <p:nvSpPr>
          <p:cNvPr id="8" name="Rectangle 4"/>
          <p:cNvSpPr>
            <a:spLocks noChangeArrowheads="1"/>
          </p:cNvSpPr>
          <p:nvPr/>
        </p:nvSpPr>
        <p:spPr bwMode="auto">
          <a:xfrm>
            <a:off x="63281" y="3356744"/>
            <a:ext cx="4999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Lato" panose="020F0502020204030203"/>
              </a:rPr>
              <a:t> </a:t>
            </a:r>
          </a:p>
        </p:txBody>
      </p:sp>
      <p:sp>
        <p:nvSpPr>
          <p:cNvPr id="9" name="Rectangle 5"/>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smtClean="0">
                <a:ln>
                  <a:noFill/>
                </a:ln>
                <a:solidFill>
                  <a:schemeClr val="tx1"/>
                </a:solidFill>
                <a:effectLst/>
                <a:latin typeface="Arial" panose="020B0604020202020204" pitchFamily="34" charset="0"/>
              </a:rPr>
              <a:t>📄 Proposed Sol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4"/>
          <p:cNvSpPr/>
          <p:nvPr/>
        </p:nvSpPr>
        <p:spPr>
          <a:xfrm>
            <a:off x="120625" y="1116280"/>
            <a:ext cx="4558254" cy="3816429"/>
          </a:xfrm>
          <a:prstGeom prst="rect">
            <a:avLst/>
          </a:prstGeom>
        </p:spPr>
        <p:txBody>
          <a:bodyPr wrap="square">
            <a:spAutoFit/>
          </a:bodyPr>
          <a:lstStyle/>
          <a:p>
            <a:pPr marL="285750" indent="-285750" algn="just">
              <a:buFont typeface="Arial" panose="020B0604020202020204" pitchFamily="34" charset="0"/>
              <a:buChar char="•"/>
            </a:pPr>
            <a:r>
              <a:rPr lang="en-US" sz="1600" dirty="0" smtClean="0">
                <a:solidFill>
                  <a:srgbClr val="222222"/>
                </a:solidFill>
                <a:latin typeface="Lato" panose="020F0502020204030203"/>
              </a:rPr>
              <a:t>Banking </a:t>
            </a:r>
            <a:r>
              <a:rPr lang="en-US" sz="1600" dirty="0">
                <a:solidFill>
                  <a:srgbClr val="222222"/>
                </a:solidFill>
                <a:latin typeface="Lato" panose="020F0502020204030203"/>
              </a:rPr>
              <a:t>systems generate high-volume data, but lack of advanced analytics and integration prevents actionable insights.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real-time data processing and dashboards limits effective monitoring of key financial KPIs.</a:t>
            </a:r>
          </a:p>
          <a:p>
            <a:pPr marL="285750" indent="-285750" algn="just">
              <a:buFont typeface="Arial" panose="020B0604020202020204" pitchFamily="34" charset="0"/>
              <a:buChar char="•"/>
            </a:pPr>
            <a:r>
              <a:rPr lang="en-US" sz="1600" dirty="0" smtClean="0">
                <a:solidFill>
                  <a:srgbClr val="222222"/>
                </a:solidFill>
                <a:latin typeface="Lato" panose="020F0502020204030203"/>
              </a:rPr>
              <a:t>Lack </a:t>
            </a:r>
            <a:r>
              <a:rPr lang="en-US" sz="1600" dirty="0">
                <a:solidFill>
                  <a:srgbClr val="222222"/>
                </a:solidFill>
                <a:latin typeface="Lato" panose="020F0502020204030203"/>
              </a:rPr>
              <a:t>of predictive analytics and risk scoring models makes it difficult to identify high-risk customers.</a:t>
            </a:r>
          </a:p>
          <a:p>
            <a:pPr marL="285750" indent="-285750" algn="just">
              <a:buFont typeface="Arial" panose="020B0604020202020204" pitchFamily="34" charset="0"/>
              <a:buChar char="•"/>
            </a:pPr>
            <a:r>
              <a:rPr lang="en-US" sz="1600" dirty="0" smtClean="0">
                <a:solidFill>
                  <a:srgbClr val="222222"/>
                </a:solidFill>
                <a:latin typeface="Lato" panose="020F0502020204030203"/>
              </a:rPr>
              <a:t>Manual </a:t>
            </a:r>
            <a:r>
              <a:rPr lang="en-US" sz="1600" dirty="0">
                <a:solidFill>
                  <a:srgbClr val="222222"/>
                </a:solidFill>
                <a:latin typeface="Lato" panose="020F0502020204030203"/>
              </a:rPr>
              <a:t>data processing and static reporting lead to delays, inefficiencies, and increased error rates.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AI-powered (NLP-based) copilots limits intuitive data interpretation for non-technical users</a:t>
            </a:r>
            <a:r>
              <a:rPr lang="en-US" dirty="0">
                <a:solidFill>
                  <a:srgbClr val="222222"/>
                </a:solidFill>
                <a:latin typeface="Lato" panose="020F0502020204030203"/>
              </a:rPr>
              <a:t>.</a:t>
            </a:r>
            <a:endParaRPr lang="en-US" b="0" i="0" dirty="0">
              <a:solidFill>
                <a:srgbClr val="222222"/>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19438"/>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p:cNvSpPr>
            <a:spLocks noChangeArrowheads="1"/>
          </p:cNvSpPr>
          <p:nvPr/>
        </p:nvSpPr>
        <p:spPr bwMode="auto">
          <a:xfrm>
            <a:off x="125486" y="973392"/>
            <a:ext cx="453557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smtClean="0">
                <a:latin typeface="Lato" panose="020F0502020204030203"/>
              </a:rPr>
              <a:t>Implement advanced analytics and real-time data processing to transform banking data into actionable insights.</a:t>
            </a:r>
          </a:p>
          <a:p>
            <a:pPr marL="285750" indent="-285750" algn="just">
              <a:buFont typeface="Arial" panose="020B0604020202020204" pitchFamily="34" charset="0"/>
              <a:buChar char="•"/>
            </a:pPr>
            <a:r>
              <a:rPr lang="en-US" sz="1600" dirty="0" smtClean="0">
                <a:latin typeface="Lato" panose="020F0502020204030203"/>
              </a:rPr>
              <a:t>Develop interactive Power BI dashboards for effective monitoring of key financial KPIs.</a:t>
            </a:r>
          </a:p>
          <a:p>
            <a:pPr marL="285750" indent="-285750" algn="just">
              <a:buFont typeface="Arial" panose="020B0604020202020204" pitchFamily="34" charset="0"/>
              <a:buChar char="•"/>
            </a:pPr>
            <a:r>
              <a:rPr lang="en-US" sz="1600" dirty="0" smtClean="0">
                <a:latin typeface="Lato" panose="020F0502020204030203"/>
              </a:rPr>
              <a:t>Build </a:t>
            </a:r>
            <a:r>
              <a:rPr lang="en-US" sz="1600" dirty="0">
                <a:latin typeface="Lato" panose="020F0502020204030203"/>
              </a:rPr>
              <a:t>predictive analytics and risk scoring models to identify high-risk customers.</a:t>
            </a:r>
          </a:p>
          <a:p>
            <a:pPr marL="285750" indent="-285750" algn="just">
              <a:buFont typeface="Arial" panose="020B0604020202020204" pitchFamily="34" charset="0"/>
              <a:buChar char="•"/>
            </a:pPr>
            <a:r>
              <a:rPr lang="en-US" sz="1600" dirty="0">
                <a:latin typeface="Lato" panose="020F0502020204030203"/>
              </a:rPr>
              <a:t>Automate data cleaning and reporting to reduce manual effort, delays, and errors.</a:t>
            </a:r>
          </a:p>
          <a:p>
            <a:pPr marL="285750" indent="-285750" algn="just">
              <a:buFont typeface="Arial" panose="020B0604020202020204" pitchFamily="34" charset="0"/>
              <a:buChar char="•"/>
            </a:pPr>
            <a:r>
              <a:rPr lang="en-US" sz="1600" dirty="0">
                <a:latin typeface="Lato" panose="020F0502020204030203"/>
              </a:rPr>
              <a:t>Integrate an AI-powered (NLP-based) Copilot studio for easy and intuitive data </a:t>
            </a:r>
            <a:r>
              <a:rPr lang="en-US" sz="1600" dirty="0" smtClean="0">
                <a:latin typeface="Lato" panose="020F0502020204030203"/>
              </a:rPr>
              <a:t>interpretation.</a:t>
            </a:r>
          </a:p>
          <a:p>
            <a:pPr algn="just"/>
            <a:endParaRPr kumimoji="0" lang="en-US" altLang="en-US" sz="1600" b="0" i="0" u="none" strike="noStrike" cap="none" normalizeH="0" baseline="0" dirty="0" smtClean="0">
              <a:ln>
                <a:noFill/>
              </a:ln>
              <a:solidFill>
                <a:schemeClr val="tx1"/>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algn="just" eaLnBrk="0" fontAlgn="base" hangingPunct="0">
              <a:spcBef>
                <a:spcPct val="0"/>
              </a:spcBef>
              <a:spcAft>
                <a:spcPct val="0"/>
              </a:spcAft>
              <a:buFontTx/>
              <a:buChar char="•"/>
            </a:pPr>
            <a:r>
              <a:rPr lang="en-US" altLang="en-US" sz="900" dirty="0" smtClean="0"/>
              <a:t> </a:t>
            </a:r>
            <a:r>
              <a:rPr lang="en-US" altLang="en-US" sz="1200" dirty="0" smtClean="0">
                <a:latin typeface="Lato" panose="020F0502020204030203"/>
                <a:cs typeface="Arial" panose="020B0604020202020204" pitchFamily="34" charset="0"/>
              </a:rPr>
              <a:t>Real includes key details like demographics, account types, balances, income, and credit score. </a:t>
            </a:r>
          </a:p>
          <a:p>
            <a:pPr lvl="0" algn="just" eaLnBrk="0" fontAlgn="base" hangingPunct="0">
              <a:spcBef>
                <a:spcPct val="0"/>
              </a:spcBef>
              <a:spcAft>
                <a:spcPct val="0"/>
              </a:spcAft>
              <a:buFontTx/>
              <a:buChar char="•"/>
            </a:pPr>
            <a:r>
              <a:rPr lang="en-US" altLang="en-US" sz="1200" dirty="0" smtClean="0">
                <a:latin typeface="Lato" panose="020F0502020204030203"/>
                <a:cs typeface="Arial" panose="020B0604020202020204" pitchFamily="34" charset="0"/>
              </a:rPr>
              <a:t>Acts </a:t>
            </a:r>
            <a:r>
              <a:rPr lang="en-US" altLang="en-US" sz="1200" dirty="0">
                <a:latin typeface="Lato" panose="020F0502020204030203"/>
                <a:cs typeface="Arial" panose="020B0604020202020204" pitchFamily="34" charset="0"/>
              </a:rPr>
              <a:t>as the primary input for financial analysis and insights generation. </a:t>
            </a:r>
          </a:p>
          <a:p>
            <a:pPr lvl="0" algn="just" eaLnBrk="0" fontAlgn="base" hangingPunct="0">
              <a:spcBef>
                <a:spcPct val="0"/>
              </a:spcBef>
              <a:spcAft>
                <a:spcPct val="0"/>
              </a:spcAft>
              <a:buFontTx/>
              <a:buChar char="•"/>
            </a:pPr>
            <a:r>
              <a:rPr lang="en-US" altLang="en-US" sz="1200" dirty="0">
                <a:latin typeface="Lato" panose="020F0502020204030203"/>
                <a:cs typeface="Arial" panose="020B0604020202020204" pitchFamily="34" charset="0"/>
              </a:rPr>
              <a:t>Data is directly uploaded into Excel and Power BI for processing. </a:t>
            </a:r>
          </a:p>
          <a:p>
            <a:pPr lvl="0" algn="just" eaLnBrk="0" fontAlgn="base" hangingPunct="0">
              <a:spcBef>
                <a:spcPct val="0"/>
              </a:spcBef>
              <a:spcAft>
                <a:spcPct val="0"/>
              </a:spcAft>
            </a:pPr>
            <a:endParaRPr lang="en-US" sz="2800" dirty="0">
              <a:latin typeface="Lato" panose="020F0502020204030203"/>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Final output is an interactive Power BI dashboard. </a:t>
            </a:r>
          </a:p>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Displays charts, graphs, and KPI indicators for analysis. </a:t>
            </a:r>
          </a:p>
          <a:p>
            <a:pPr marL="285750" indent="-285750" algn="just">
              <a:buFont typeface="Arial" panose="020B0604020202020204" pitchFamily="34" charset="0"/>
              <a:buChar char="•"/>
            </a:pPr>
            <a:r>
              <a:rPr lang="en-US" sz="1200" dirty="0" smtClean="0">
                <a:latin typeface="Lato" panose="020F0502020204030203"/>
                <a:cs typeface="Arial" panose="020B0604020202020204" pitchFamily="34" charset="0"/>
              </a:rPr>
              <a:t>Provides </a:t>
            </a:r>
            <a:r>
              <a:rPr lang="en-US" sz="1200" dirty="0">
                <a:latin typeface="Lato" panose="020F0502020204030203"/>
                <a:cs typeface="Arial" panose="020B0604020202020204" pitchFamily="34" charset="0"/>
              </a:rPr>
              <a:t>clear insights into customer segments and risk levels. </a:t>
            </a:r>
            <a:endParaRPr lang="en-US" sz="1200" dirty="0" smtClean="0">
              <a:latin typeface="Lato" panose="020F0502020204030203"/>
              <a:cs typeface="Arial" panose="020B0604020202020204" pitchFamily="34" charset="0"/>
            </a:endParaRPr>
          </a:p>
          <a:p>
            <a:pPr marL="0" indent="0" algn="just">
              <a:buNone/>
            </a:pPr>
            <a:endParaRPr lang="en-US" sz="2800" dirty="0">
              <a:latin typeface="Lato" panose="020F0502020204030203"/>
              <a:cs typeface="Arial" panose="020B0604020202020204" pitchFamily="34" charset="0"/>
            </a:endParaRPr>
          </a:p>
        </p:txBody>
      </p:sp>
      <p:sp>
        <p:nvSpPr>
          <p:cNvPr id="2" name="Rectangle 1"/>
          <p:cNvSpPr/>
          <p:nvPr/>
        </p:nvSpPr>
        <p:spPr>
          <a:xfrm>
            <a:off x="4643253" y="1627248"/>
            <a:ext cx="4331189" cy="1200329"/>
          </a:xfrm>
          <a:prstGeom prst="rect">
            <a:avLst/>
          </a:prstGeom>
        </p:spPr>
        <p:txBody>
          <a:bodyPr wrap="square">
            <a:spAutoFit/>
          </a:bodyPr>
          <a:lstStyle/>
          <a:p>
            <a:pPr algn="just">
              <a:buFont typeface="Arial" panose="020B0604020202020204" pitchFamily="34" charset="0"/>
              <a:buChar char="•"/>
            </a:pPr>
            <a:r>
              <a:rPr lang="en-US" sz="1200" dirty="0" smtClean="0">
                <a:latin typeface="Lato" panose="020F0502020204030203"/>
                <a:cs typeface="Arial" panose="020B0604020202020204" pitchFamily="34" charset="0"/>
              </a:rPr>
              <a:t>Raw data is refined in Excel by removing duplicates and fixing missing values. </a:t>
            </a:r>
          </a:p>
          <a:p>
            <a:pPr algn="just">
              <a:buFont typeface="Arial" panose="020B0604020202020204" pitchFamily="34" charset="0"/>
              <a:buChar char="•"/>
            </a:pPr>
            <a:r>
              <a:rPr lang="en-US" sz="1200" dirty="0" smtClean="0">
                <a:latin typeface="Lato" panose="020F0502020204030203"/>
                <a:cs typeface="Arial" panose="020B0604020202020204" pitchFamily="34" charset="0"/>
              </a:rPr>
              <a:t>Data </a:t>
            </a:r>
            <a:r>
              <a:rPr lang="en-US" sz="1200" dirty="0">
                <a:latin typeface="Lato" panose="020F0502020204030203"/>
                <a:cs typeface="Arial" panose="020B0604020202020204" pitchFamily="34" charset="0"/>
              </a:rPr>
              <a:t>is standardized and structured to ensure accuracy and consistency.</a:t>
            </a:r>
          </a:p>
          <a:p>
            <a:pPr algn="just">
              <a:buFont typeface="Arial" panose="020B0604020202020204" pitchFamily="34" charset="0"/>
              <a:buChar char="•"/>
            </a:pPr>
            <a:r>
              <a:rPr lang="en-US" sz="1200" dirty="0">
                <a:latin typeface="Lato" panose="020F0502020204030203"/>
                <a:cs typeface="Arial" panose="020B0604020202020204" pitchFamily="34" charset="0"/>
              </a:rPr>
              <a:t>Data is organized using sorting, filtering, and conditional formatting techniques. </a:t>
            </a:r>
          </a:p>
        </p:txBody>
      </p:sp>
      <p:sp>
        <p:nvSpPr>
          <p:cNvPr id="3" name="Rectangle 2"/>
          <p:cNvSpPr/>
          <p:nvPr/>
        </p:nvSpPr>
        <p:spPr>
          <a:xfrm>
            <a:off x="469074" y="3353904"/>
            <a:ext cx="4064013" cy="1200329"/>
          </a:xfrm>
          <a:prstGeom prst="rect">
            <a:avLst/>
          </a:prstGeom>
        </p:spPr>
        <p:txBody>
          <a:bodyPr wrap="square">
            <a:spAutoFit/>
          </a:bodyPr>
          <a:lstStyle/>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Excel is used for data cleaning, preprocessing, and basic analysis.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Power BI is connected to Excel data to build interactive dashboards and visualizations.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AI tools like </a:t>
            </a:r>
            <a:r>
              <a:rPr lang="en-US" sz="1200" dirty="0" smtClean="0">
                <a:latin typeface="Lato" panose="020F0502020204030203"/>
                <a:cs typeface="Arial" panose="020B0604020202020204" pitchFamily="34" charset="0"/>
              </a:rPr>
              <a:t>Copilot </a:t>
            </a:r>
            <a:r>
              <a:rPr lang="en-US" sz="1200" dirty="0">
                <a:latin typeface="Lato" panose="020F0502020204030203"/>
                <a:cs typeface="Arial" panose="020B0604020202020204" pitchFamily="34" charset="0"/>
              </a:rPr>
              <a:t>are used to generate insights and summaries</a:t>
            </a:r>
            <a:r>
              <a:rPr lang="en-US" sz="1200" dirty="0" smtClean="0">
                <a:latin typeface="Lato" panose="020F0502020204030203"/>
                <a:cs typeface="Arial" panose="020B0604020202020204" pitchFamily="34" charset="0"/>
              </a:rPr>
              <a:t>.</a:t>
            </a:r>
            <a:endParaRPr lang="en-US" sz="1200" dirty="0">
              <a:latin typeface="Lato" panose="020F0502020204030203"/>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244435"/>
            <a:ext cx="2788920" cy="2604201"/>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US" b="1" dirty="0" smtClean="0">
              <a:latin typeface="Lato" panose="020F0502020204030203" pitchFamily="34" charset="0"/>
              <a:ea typeface="Calibri" pitchFamily="34" charset="-122"/>
              <a:cs typeface="Arial" panose="020B0604020202020204" pitchFamily="34" charset="0"/>
            </a:endParaRPr>
          </a:p>
          <a:p>
            <a:pPr algn="ctr"/>
            <a:r>
              <a:rPr lang="en-US" sz="1600" b="1" dirty="0" smtClean="0">
                <a:latin typeface="Lato" panose="020F0502020204030203" pitchFamily="34" charset="0"/>
                <a:ea typeface="Calibri" pitchFamily="34" charset="-122"/>
                <a:cs typeface="Arial" panose="020B0604020202020204" pitchFamily="34" charset="0"/>
              </a:rPr>
              <a:t>Demo 1</a:t>
            </a:r>
          </a:p>
          <a:p>
            <a:pPr algn="ctr"/>
            <a:r>
              <a:rPr lang="en-US" sz="1600" b="1" dirty="0" smtClean="0">
                <a:latin typeface="Lato" panose="020F0502020204030203" pitchFamily="34" charset="0"/>
                <a:ea typeface="Calibri" pitchFamily="34" charset="-122"/>
                <a:cs typeface="Arial" panose="020B0604020202020204" pitchFamily="34" charset="0"/>
              </a:rPr>
              <a:t>Customer overview</a:t>
            </a:r>
            <a:endParaRPr lang="en-US" sz="1600" dirty="0">
              <a:latin typeface="Lato" panose="020F0502020204030203" pitchFamily="34" charset="0"/>
              <a:cs typeface="Arial" panose="020B0604020202020204" pitchFamily="34" charset="0"/>
            </a:endParaRPr>
          </a:p>
        </p:txBody>
      </p:sp>
      <p:sp>
        <p:nvSpPr>
          <p:cNvPr id="10" name="Text 8"/>
          <p:cNvSpPr/>
          <p:nvPr/>
        </p:nvSpPr>
        <p:spPr>
          <a:xfrm>
            <a:off x="274320" y="2505694"/>
            <a:ext cx="2788920" cy="319588"/>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r>
              <a:rPr lang="en-US" sz="1600" b="1" dirty="0" smtClean="0">
                <a:latin typeface="Lato" panose="020F0502020204030203"/>
              </a:rPr>
              <a:t>Risk </a:t>
            </a:r>
            <a:r>
              <a:rPr lang="en-US" sz="1600" b="1" dirty="0">
                <a:latin typeface="Lato" panose="020F0502020204030203"/>
              </a:rPr>
              <a:t>&amp; Loan Analysis</a:t>
            </a:r>
          </a:p>
          <a:p>
            <a:endParaRPr lang="en-US" sz="1600" dirty="0">
              <a:latin typeface="Lato" panose="020F0502020204030203"/>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smtClean="0">
                <a:latin typeface="Lato" panose="020F0502020204030203" pitchFamily="34" charset="0"/>
                <a:ea typeface="Calibri" pitchFamily="34" charset="-122"/>
                <a:cs typeface="Arial" panose="020B0604020202020204" pitchFamily="34" charset="0"/>
              </a:rPr>
              <a:t>Demo </a:t>
            </a:r>
            <a:r>
              <a:rPr lang="en-US" sz="1600" b="1" dirty="0">
                <a:latin typeface="Lato" panose="020F0502020204030203" pitchFamily="34" charset="0"/>
                <a:ea typeface="Calibri" pitchFamily="34" charset="-122"/>
                <a:cs typeface="Arial" panose="020B0604020202020204" pitchFamily="34" charset="0"/>
              </a:rPr>
              <a:t>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latin typeface="Lato" panose="020F0502020204030203"/>
              </a:rPr>
              <a:t> </a:t>
            </a:r>
            <a:r>
              <a:rPr lang="en-US" b="1" dirty="0" smtClean="0">
                <a:latin typeface="Lato" panose="020F0502020204030203"/>
              </a:rPr>
              <a:t>          </a:t>
            </a:r>
            <a:r>
              <a:rPr lang="en-US" sz="1600" b="1" dirty="0">
                <a:latin typeface="Lato" panose="020F0502020204030203"/>
              </a:rPr>
              <a:t>Financial </a:t>
            </a:r>
            <a:r>
              <a:rPr lang="en-US" sz="1600" b="1" dirty="0" smtClean="0">
                <a:latin typeface="Lato" panose="020F0502020204030203"/>
              </a:rPr>
              <a:t>Insights </a:t>
            </a:r>
            <a:endParaRPr lang="en-US" sz="1600" b="1" dirty="0">
              <a:latin typeface="Lato" panose="020F0502020204030203"/>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009" y="3242195"/>
            <a:ext cx="2547821" cy="1454381"/>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5848" y="3236762"/>
            <a:ext cx="2514600" cy="1459814"/>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0216" y="3233160"/>
            <a:ext cx="2514600" cy="1463416"/>
          </a:xfrm>
          <a:prstGeom prst="rect">
            <a:avLst/>
          </a:prstGeom>
        </p:spPr>
      </p:pic>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hlinkClick r:id="rId6" action="ppaction://hlinkfile"/>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Audio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8504238" y="4503738"/>
            <a:ext cx="487362" cy="48736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32"/>
    </mc:Choice>
    <mc:Fallback xmlns="">
      <p:transition spd="slow" advTm="11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72192" y="1175657"/>
            <a:ext cx="5070764" cy="3004457"/>
          </a:xfrm>
          <a:prstGeom prst="rect">
            <a:avLst/>
          </a:prstGeom>
          <a:noFill/>
          <a:ln/>
        </p:spPr>
        <p:txBody>
          <a:bodyPr wrap="square" rtlCol="0" anchor="t"/>
          <a:lstStyle/>
          <a:p>
            <a:pPr marL="285750" lvl="0" indent="-285750" eaLnBrk="0" fontAlgn="base" hangingPunct="0">
              <a:spcBef>
                <a:spcPct val="0"/>
              </a:spcBef>
              <a:spcAft>
                <a:spcPct val="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5148" y="819397"/>
            <a:ext cx="3591353" cy="3230089"/>
          </a:xfrm>
          <a:prstGeom prst="rect">
            <a:avLst/>
          </a:prstGeom>
        </p:spPr>
      </p:pic>
      <p:sp>
        <p:nvSpPr>
          <p:cNvPr id="3" name="Rectangle 2"/>
          <p:cNvSpPr>
            <a:spLocks noChangeArrowheads="1"/>
          </p:cNvSpPr>
          <p:nvPr/>
        </p:nvSpPr>
        <p:spPr bwMode="auto">
          <a:xfrm>
            <a:off x="267195" y="808197"/>
            <a:ext cx="48807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Developed a banking dashboard to analyze customer behavior and assess risk levels.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Utilized Excel and Power BI to generate meaningful and actionable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Identified key customer trends and potential financial risks. </a:t>
            </a:r>
          </a:p>
          <a:p>
            <a:pPr lvl="0" algn="just" eaLnBrk="0" fontAlgn="base" hangingPunct="0">
              <a:spcBef>
                <a:spcPct val="0"/>
              </a:spcBef>
              <a:spcAft>
                <a:spcPct val="0"/>
              </a:spcAft>
              <a:buFontTx/>
              <a:buChar char="•"/>
            </a:pPr>
            <a:r>
              <a:rPr lang="en-US" dirty="0"/>
              <a:t>Implemented interactive dashboards with real-time filtering for better user experience and deeper data </a:t>
            </a:r>
            <a:r>
              <a:rPr lang="en-US" dirty="0" smtClean="0"/>
              <a:t>exploration</a:t>
            </a:r>
            <a:r>
              <a:rPr lang="en-US" dirty="0"/>
              <a:t>.</a:t>
            </a:r>
            <a:endParaRPr kumimoji="0" lang="en-US" altLang="en-US" i="0" u="none" strike="noStrike" cap="none" normalizeH="0" baseline="0" dirty="0" smtClean="0">
              <a:ln>
                <a:noFill/>
              </a:ln>
              <a:solidFill>
                <a:schemeClr val="tx1"/>
              </a:solidFill>
              <a:effectLst/>
              <a:latin typeface="Lato" panose="020F0502020204030203"/>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Enhanced decision-making capabilities using data-driven and AI-powered tools. </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400" dirty="0">
                <a:latin typeface="Lato" panose="020F0502020204030203"/>
                <a:cs typeface="Arial" panose="020B0604020202020204" pitchFamily="34" charset="0"/>
              </a:rPr>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p>
        </p:txBody>
      </p:sp>
      <p:pic>
        <p:nvPicPr>
          <p:cNvPr id="2" name="Picture 1">
            <a:extLst>
              <a:ext uri="{FF2B5EF4-FFF2-40B4-BE49-F238E27FC236}">
                <a16:creationId xmlns=""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2397</TotalTime>
  <Words>674</Words>
  <Application>Microsoft Office PowerPoint</Application>
  <PresentationFormat>On-screen Show (16:9)</PresentationFormat>
  <Paragraphs>101</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Cambria Math</vt:lpstr>
      <vt:lpstr>Cascadia Mono ExtraLight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satvika</cp:lastModifiedBy>
  <cp:revision>71</cp:revision>
  <dcterms:created xsi:type="dcterms:W3CDTF">2026-02-18T09:17:23Z</dcterms:created>
  <dcterms:modified xsi:type="dcterms:W3CDTF">2026-04-21T15:34:38Z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