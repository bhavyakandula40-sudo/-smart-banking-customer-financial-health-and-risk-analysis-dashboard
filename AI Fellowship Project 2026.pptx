
<file path=[Content_Types].xml><?xml version="1.0" encoding="utf-8"?>
<Types xmlns="http://schemas.openxmlformats.org/package/2006/content-types">
  <Default Extension="png" ContentType="image/png"/>
  <Default Extension="svg" ContentType="image/svg+xml"/>
  <Default Extension="m4a" ContentType="audio/mp4"/>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notesSlides/notesSlide3.xml" ContentType="application/vnd.openxmlformats-officedocument.presentationml.notesSlide+xml"/>
  <Override PartName="/ppt/tags/tag8.xml" ContentType="application/vnd.openxmlformats-officedocument.presentationml.tags+xml"/>
  <Override PartName="/ppt/notesSlides/notesSlide4.xml" ContentType="application/vnd.openxmlformats-officedocument.presentationml.notesSlide+xml"/>
  <Override PartName="/ppt/tags/tag9.xml" ContentType="application/vnd.openxmlformats-officedocument.presentationml.tags+xml"/>
  <Override PartName="/ppt/notesSlides/notesSlide5.xml" ContentType="application/vnd.openxmlformats-officedocument.presentationml.notesSlide+xml"/>
  <Override PartName="/ppt/tags/tag10.xml" ContentType="application/vnd.openxmlformats-officedocument.presentationml.tags+xml"/>
  <Override PartName="/ppt/notesSlides/notesSlide6.xml" ContentType="application/vnd.openxmlformats-officedocument.presentationml.notesSlide+xml"/>
  <Override PartName="/ppt/tags/tag11.xml" ContentType="application/vnd.openxmlformats-officedocument.presentationml.tags+xml"/>
  <Override PartName="/ppt/notesSlides/notesSlide7.xml" ContentType="application/vnd.openxmlformats-officedocument.presentationml.notesSlide+xml"/>
  <Override PartName="/ppt/tags/tag12.xml" ContentType="application/vnd.openxmlformats-officedocument.presentationml.tags+xml"/>
  <Override PartName="/ppt/notesSlides/notesSlide8.xml" ContentType="application/vnd.openxmlformats-officedocument.presentationml.notesSlide+xml"/>
  <Override PartName="/ppt/tags/tag13.xml" ContentType="application/vnd.openxmlformats-officedocument.presentationml.tags+xml"/>
  <Override PartName="/ppt/notesSlides/notesSlide9.xml" ContentType="application/vnd.openxmlformats-officedocument.presentationml.notesSlide+xml"/>
  <Override PartName="/ppt/tags/tag14.xml" ContentType="application/vnd.openxmlformats-officedocument.presentationml.tags+xml"/>
  <Override PartName="/ppt/notesSlides/notesSlide10.xml" ContentType="application/vnd.openxmlformats-officedocument.presentationml.notesSlide+xml"/>
  <Override PartName="/ppt/tags/tag15.xml" ContentType="application/vnd.openxmlformats-officedocument.presentationml.tags+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68"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custDataLst>
    <p:tags r:id="rId14"/>
  </p:custData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12" userDrawn="1">
          <p15:clr>
            <a:srgbClr val="A4A3A4"/>
          </p15:clr>
        </p15:guide>
        <p15:guide id="2" orient="horz" pos="852" userDrawn="1">
          <p15:clr>
            <a:srgbClr val="A4A3A4"/>
          </p15:clr>
        </p15:guide>
        <p15:guide id="3" pos="1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565C0"/>
    <a:srgbClr val="FDF3ED"/>
    <a:srgbClr val="CEE3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CBDC38-0F0C-EF0A-5169-FC033B4B9FA1}" v="4" dt="2026-02-19T06:35:51.132"/>
    <p1510:client id="{DDC0B4EE-2D5D-447B-AE11-6BA75CAE74F0}" v="57" dt="2026-02-19T11:04:26.3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9" d="100"/>
          <a:sy n="129" d="100"/>
        </p:scale>
        <p:origin x="130" y="96"/>
      </p:cViewPr>
      <p:guideLst>
        <p:guide orient="horz" pos="612"/>
        <p:guide orient="horz" pos="852"/>
        <p:guide pos="1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0654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6B537A-B4DE-D1CE-3512-BCBDE4AC70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3B8C2033-F357-E6BE-5BF1-877BC1AD1B3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xmlns="" id="{9A567B0F-4F1D-ECFE-050E-B551ABF85EA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6398896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ustDataLst>
      <p:tags r:id="rId1"/>
    </p:custData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265203801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2" name="Group 8">
            <a:extLst>
              <a:ext uri="{FF2B5EF4-FFF2-40B4-BE49-F238E27FC236}">
                <a16:creationId xmlns:a16="http://schemas.microsoft.com/office/drawing/2014/main" xmlns="" id="{A68FA2BF-9B6A-948D-43A3-04C207F5B33C}"/>
              </a:ext>
            </a:extLst>
          </p:cNvPr>
          <p:cNvGrpSpPr/>
          <p:nvPr userDrawn="1"/>
        </p:nvGrpSpPr>
        <p:grpSpPr>
          <a:xfrm flipH="1">
            <a:off x="0" y="5036127"/>
            <a:ext cx="9144000" cy="107373"/>
            <a:chOff x="0" y="0"/>
            <a:chExt cx="4402382" cy="66464"/>
          </a:xfrm>
        </p:grpSpPr>
        <p:sp>
          <p:nvSpPr>
            <p:cNvPr id="3" name="Freeform 9">
              <a:extLst>
                <a:ext uri="{FF2B5EF4-FFF2-40B4-BE49-F238E27FC236}">
                  <a16:creationId xmlns:a16="http://schemas.microsoft.com/office/drawing/2014/main" xmlns="" id="{8B83B97F-BA22-827B-E1BD-8DD9E1D3E0F6}"/>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4" name="TextBox 10">
              <a:extLst>
                <a:ext uri="{FF2B5EF4-FFF2-40B4-BE49-F238E27FC236}">
                  <a16:creationId xmlns:a16="http://schemas.microsoft.com/office/drawing/2014/main" xmlns="" id="{FC94FAC8-E161-FF7D-84BF-C498EADA502D}"/>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grpSp>
        <p:nvGrpSpPr>
          <p:cNvPr id="5" name="Group 8">
            <a:extLst>
              <a:ext uri="{FF2B5EF4-FFF2-40B4-BE49-F238E27FC236}">
                <a16:creationId xmlns:a16="http://schemas.microsoft.com/office/drawing/2014/main" xmlns="" id="{1988876B-43B4-642F-AB10-8B137A34386D}"/>
              </a:ext>
            </a:extLst>
          </p:cNvPr>
          <p:cNvGrpSpPr/>
          <p:nvPr userDrawn="1"/>
        </p:nvGrpSpPr>
        <p:grpSpPr>
          <a:xfrm>
            <a:off x="0" y="0"/>
            <a:ext cx="9144000" cy="424206"/>
            <a:chOff x="0" y="0"/>
            <a:chExt cx="4402382" cy="66464"/>
          </a:xfrm>
        </p:grpSpPr>
        <p:sp>
          <p:nvSpPr>
            <p:cNvPr id="6" name="Freeform 9">
              <a:extLst>
                <a:ext uri="{FF2B5EF4-FFF2-40B4-BE49-F238E27FC236}">
                  <a16:creationId xmlns:a16="http://schemas.microsoft.com/office/drawing/2014/main" xmlns="" id="{613EFC18-F90F-C121-3F09-53AB8141D658}"/>
                </a:ext>
              </a:extLst>
            </p:cNvPr>
            <p:cNvSpPr/>
            <p:nvPr/>
          </p:nvSpPr>
          <p:spPr>
            <a:xfrm>
              <a:off x="0" y="0"/>
              <a:ext cx="4402382" cy="66464"/>
            </a:xfrm>
            <a:custGeom>
              <a:avLst/>
              <a:gdLst/>
              <a:ahLst/>
              <a:cxnLst/>
              <a:rect l="l" t="t" r="r" b="b"/>
              <a:pathLst>
                <a:path w="4402382" h="66464">
                  <a:moveTo>
                    <a:pt x="0" y="0"/>
                  </a:moveTo>
                  <a:lnTo>
                    <a:pt x="4402382" y="0"/>
                  </a:lnTo>
                  <a:lnTo>
                    <a:pt x="44023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a:p>
          </p:txBody>
        </p:sp>
        <p:sp>
          <p:nvSpPr>
            <p:cNvPr id="7" name="TextBox 10">
              <a:extLst>
                <a:ext uri="{FF2B5EF4-FFF2-40B4-BE49-F238E27FC236}">
                  <a16:creationId xmlns:a16="http://schemas.microsoft.com/office/drawing/2014/main" xmlns="" id="{D81422F7-8BE4-EC53-5307-9812E24315C1}"/>
                </a:ext>
              </a:extLst>
            </p:cNvPr>
            <p:cNvSpPr txBox="1"/>
            <p:nvPr/>
          </p:nvSpPr>
          <p:spPr>
            <a:xfrm>
              <a:off x="0" y="-38100"/>
              <a:ext cx="4402382" cy="104564"/>
            </a:xfrm>
            <a:prstGeom prst="rect">
              <a:avLst/>
            </a:prstGeom>
          </p:spPr>
          <p:txBody>
            <a:bodyPr lIns="50800" tIns="50800" rIns="50800" bIns="50800" rtlCol="0" anchor="ctr"/>
            <a:lstStyle/>
            <a:p>
              <a:pPr algn="ctr">
                <a:lnSpc>
                  <a:spcPts val="2659"/>
                </a:lnSpc>
              </a:pPr>
              <a:endParaRPr/>
            </a:p>
          </p:txBody>
        </p:sp>
      </p:grpSp>
      <p:pic>
        <p:nvPicPr>
          <p:cNvPr id="8" name="Picture 7" descr="A black and white logo&#10;&#10;AI-generated content may be incorrect.">
            <a:extLst>
              <a:ext uri="{FF2B5EF4-FFF2-40B4-BE49-F238E27FC236}">
                <a16:creationId xmlns:a16="http://schemas.microsoft.com/office/drawing/2014/main" xmlns="" id="{31AC86FC-94F1-13A5-98FD-3215960D2A05}"/>
              </a:ext>
            </a:extLst>
          </p:cNvPr>
          <p:cNvPicPr>
            <a:picLocks noChangeAspect="1"/>
          </p:cNvPicPr>
          <p:nvPr userDrawn="1"/>
        </p:nvPicPr>
        <p:blipFill>
          <a:blip r:embed="rId5"/>
          <a:stretch>
            <a:fillRect/>
          </a:stretch>
        </p:blipFill>
        <p:spPr>
          <a:xfrm>
            <a:off x="7820696" y="55166"/>
            <a:ext cx="965086" cy="313873"/>
          </a:xfrm>
          <a:prstGeom prst="rect">
            <a:avLst/>
          </a:prstGeom>
        </p:spPr>
      </p:pic>
    </p:spTree>
    <p:custDataLst>
      <p:tags r:id="rId4"/>
    </p:custData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notesSlide" Target="../notesSlides/notesSlide1.xml"/><Relationship Id="rId7"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ags" Target="../tags/tag5.xml"/><Relationship Id="rId6" Type="http://schemas.openxmlformats.org/officeDocument/2006/relationships/image" Target="../media/image3.png"/><Relationship Id="rId5" Type="http://schemas.openxmlformats.org/officeDocument/2006/relationships/image" Target="../media/image3.svg"/><Relationship Id="rId10" Type="http://schemas.openxmlformats.org/officeDocument/2006/relationships/image" Target="../media/image7.png"/><Relationship Id="rId4" Type="http://schemas.openxmlformats.org/officeDocument/2006/relationships/image" Target="../media/image2.pn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7.xml"/><Relationship Id="rId5" Type="http://schemas.openxmlformats.org/officeDocument/2006/relationships/image" Target="../media/image11.sv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0.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1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audio" Target="../media/media1.m4a"/><Relationship Id="rId7" Type="http://schemas.openxmlformats.org/officeDocument/2006/relationships/image" Target="../media/image15.png"/><Relationship Id="rId2" Type="http://schemas.microsoft.com/office/2007/relationships/media" Target="../media/media1.m4a"/><Relationship Id="rId1" Type="http://schemas.openxmlformats.org/officeDocument/2006/relationships/tags" Target="../tags/tag12.xml"/><Relationship Id="rId6" Type="http://schemas.openxmlformats.org/officeDocument/2006/relationships/hyperlink" Target="audio1000804705.m4a" TargetMode="External"/><Relationship Id="rId5" Type="http://schemas.openxmlformats.org/officeDocument/2006/relationships/notesSlide" Target="../notesSlides/notesSlide8.xml"/><Relationship Id="rId4"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E219A4-F5CF-3B84-A831-006143830DFC}"/>
            </a:ext>
          </a:extLst>
        </p:cNvPr>
        <p:cNvGrpSpPr/>
        <p:nvPr/>
      </p:nvGrpSpPr>
      <p:grpSpPr>
        <a:xfrm>
          <a:off x="0" y="0"/>
          <a:ext cx="0" cy="0"/>
          <a:chOff x="0" y="0"/>
          <a:chExt cx="0" cy="0"/>
        </a:xfrm>
      </p:grpSpPr>
      <p:sp>
        <p:nvSpPr>
          <p:cNvPr id="75" name="Rectangle: Rounded Corners 74">
            <a:extLst>
              <a:ext uri="{FF2B5EF4-FFF2-40B4-BE49-F238E27FC236}">
                <a16:creationId xmlns:a16="http://schemas.microsoft.com/office/drawing/2014/main" xmlns="" id="{5BBAA9FE-14A6-3635-BDE0-21E75B60255D}"/>
              </a:ext>
            </a:extLst>
          </p:cNvPr>
          <p:cNvSpPr/>
          <p:nvPr/>
        </p:nvSpPr>
        <p:spPr>
          <a:xfrm>
            <a:off x="364882" y="652908"/>
            <a:ext cx="3603333" cy="485021"/>
          </a:xfrm>
          <a:prstGeom prst="roundRect">
            <a:avLst/>
          </a:prstGeom>
          <a:solidFill>
            <a:schemeClr val="bg1"/>
          </a:solidFill>
          <a:ln>
            <a:solidFill>
              <a:srgbClr val="1D63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 name="Group 2">
            <a:extLst>
              <a:ext uri="{FF2B5EF4-FFF2-40B4-BE49-F238E27FC236}">
                <a16:creationId xmlns:a16="http://schemas.microsoft.com/office/drawing/2014/main" xmlns="" id="{DC713F69-E6DD-B345-33D3-499B008F7A17}"/>
              </a:ext>
            </a:extLst>
          </p:cNvPr>
          <p:cNvGrpSpPr/>
          <p:nvPr/>
        </p:nvGrpSpPr>
        <p:grpSpPr>
          <a:xfrm>
            <a:off x="0" y="0"/>
            <a:ext cx="4153368" cy="126178"/>
            <a:chOff x="0" y="0"/>
            <a:chExt cx="2187782" cy="66464"/>
          </a:xfrm>
        </p:grpSpPr>
        <p:sp>
          <p:nvSpPr>
            <p:cNvPr id="3" name="Freeform 3">
              <a:extLst>
                <a:ext uri="{FF2B5EF4-FFF2-40B4-BE49-F238E27FC236}">
                  <a16:creationId xmlns:a16="http://schemas.microsoft.com/office/drawing/2014/main" xmlns="" id="{16F12EA0-AE27-85D3-96E6-BED52A471BC9}"/>
                </a:ext>
              </a:extLst>
            </p:cNvPr>
            <p:cNvSpPr/>
            <p:nvPr/>
          </p:nvSpPr>
          <p:spPr>
            <a:xfrm>
              <a:off x="0" y="0"/>
              <a:ext cx="2187782" cy="66464"/>
            </a:xfrm>
            <a:custGeom>
              <a:avLst/>
              <a:gdLst/>
              <a:ahLst/>
              <a:cxnLst/>
              <a:rect l="l" t="t" r="r" b="b"/>
              <a:pathLst>
                <a:path w="2187782" h="66464">
                  <a:moveTo>
                    <a:pt x="0" y="0"/>
                  </a:moveTo>
                  <a:lnTo>
                    <a:pt x="2187782" y="0"/>
                  </a:lnTo>
                  <a:lnTo>
                    <a:pt x="2187782"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4" name="TextBox 4">
              <a:extLst>
                <a:ext uri="{FF2B5EF4-FFF2-40B4-BE49-F238E27FC236}">
                  <a16:creationId xmlns:a16="http://schemas.microsoft.com/office/drawing/2014/main" xmlns="" id="{EEDED881-7208-D373-6128-A08573FEEA11}"/>
                </a:ext>
              </a:extLst>
            </p:cNvPr>
            <p:cNvSpPr txBox="1"/>
            <p:nvPr/>
          </p:nvSpPr>
          <p:spPr>
            <a:xfrm>
              <a:off x="0" y="-38100"/>
              <a:ext cx="2187782" cy="104564"/>
            </a:xfrm>
            <a:prstGeom prst="rect">
              <a:avLst/>
            </a:prstGeom>
          </p:spPr>
          <p:txBody>
            <a:bodyPr lIns="25400" tIns="25400" rIns="25400" bIns="25400" rtlCol="0" anchor="ctr"/>
            <a:lstStyle/>
            <a:p>
              <a:pPr algn="ctr">
                <a:lnSpc>
                  <a:spcPts val="1330"/>
                </a:lnSpc>
              </a:pPr>
              <a:endParaRPr sz="700"/>
            </a:p>
          </p:txBody>
        </p:sp>
      </p:grpSp>
      <p:grpSp>
        <p:nvGrpSpPr>
          <p:cNvPr id="5" name="Group 5">
            <a:extLst>
              <a:ext uri="{FF2B5EF4-FFF2-40B4-BE49-F238E27FC236}">
                <a16:creationId xmlns:a16="http://schemas.microsoft.com/office/drawing/2014/main" xmlns="" id="{071C7EC6-7D4C-F061-CDE0-6A50914ECB9E}"/>
              </a:ext>
            </a:extLst>
          </p:cNvPr>
          <p:cNvGrpSpPr/>
          <p:nvPr/>
        </p:nvGrpSpPr>
        <p:grpSpPr>
          <a:xfrm>
            <a:off x="48416" y="4890401"/>
            <a:ext cx="7571294" cy="126178"/>
            <a:chOff x="0" y="0"/>
            <a:chExt cx="3988171" cy="66464"/>
          </a:xfrm>
        </p:grpSpPr>
        <p:sp>
          <p:nvSpPr>
            <p:cNvPr id="6" name="Freeform 6">
              <a:extLst>
                <a:ext uri="{FF2B5EF4-FFF2-40B4-BE49-F238E27FC236}">
                  <a16:creationId xmlns:a16="http://schemas.microsoft.com/office/drawing/2014/main" xmlns="" id="{B4AD79D7-46FD-6B0C-7DE4-FF78018F4A88}"/>
                </a:ext>
              </a:extLst>
            </p:cNvPr>
            <p:cNvSpPr/>
            <p:nvPr/>
          </p:nvSpPr>
          <p:spPr>
            <a:xfrm>
              <a:off x="0" y="0"/>
              <a:ext cx="3988171" cy="66464"/>
            </a:xfrm>
            <a:custGeom>
              <a:avLst/>
              <a:gdLst/>
              <a:ahLst/>
              <a:cxnLst/>
              <a:rect l="l" t="t" r="r" b="b"/>
              <a:pathLst>
                <a:path w="3988171" h="66464">
                  <a:moveTo>
                    <a:pt x="0" y="0"/>
                  </a:moveTo>
                  <a:lnTo>
                    <a:pt x="3988171" y="0"/>
                  </a:lnTo>
                  <a:lnTo>
                    <a:pt x="3988171" y="66464"/>
                  </a:lnTo>
                  <a:lnTo>
                    <a:pt x="0" y="66464"/>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7" name="TextBox 7">
              <a:extLst>
                <a:ext uri="{FF2B5EF4-FFF2-40B4-BE49-F238E27FC236}">
                  <a16:creationId xmlns:a16="http://schemas.microsoft.com/office/drawing/2014/main" xmlns="" id="{C396E051-FCE8-96D0-093A-9DAA0B6CA32C}"/>
                </a:ext>
              </a:extLst>
            </p:cNvPr>
            <p:cNvSpPr txBox="1"/>
            <p:nvPr/>
          </p:nvSpPr>
          <p:spPr>
            <a:xfrm>
              <a:off x="0" y="-38100"/>
              <a:ext cx="3988171" cy="104564"/>
            </a:xfrm>
            <a:prstGeom prst="rect">
              <a:avLst/>
            </a:prstGeom>
          </p:spPr>
          <p:txBody>
            <a:bodyPr lIns="25400" tIns="25400" rIns="25400" bIns="25400" rtlCol="0" anchor="ctr"/>
            <a:lstStyle/>
            <a:p>
              <a:pPr algn="ctr">
                <a:lnSpc>
                  <a:spcPts val="1330"/>
                </a:lnSpc>
              </a:pPr>
              <a:endParaRPr sz="700"/>
            </a:p>
          </p:txBody>
        </p:sp>
      </p:grpSp>
      <p:grpSp>
        <p:nvGrpSpPr>
          <p:cNvPr id="8" name="Group 8">
            <a:extLst>
              <a:ext uri="{FF2B5EF4-FFF2-40B4-BE49-F238E27FC236}">
                <a16:creationId xmlns:a16="http://schemas.microsoft.com/office/drawing/2014/main" xmlns="" id="{614E0FB1-7343-AA0B-7107-6EF9941BD391}"/>
              </a:ext>
            </a:extLst>
          </p:cNvPr>
          <p:cNvGrpSpPr/>
          <p:nvPr/>
        </p:nvGrpSpPr>
        <p:grpSpPr>
          <a:xfrm rot="2700000">
            <a:off x="3661769" y="-528997"/>
            <a:ext cx="4602320" cy="2123257"/>
            <a:chOff x="0" y="0"/>
            <a:chExt cx="2424267" cy="1118423"/>
          </a:xfrm>
        </p:grpSpPr>
        <p:sp>
          <p:nvSpPr>
            <p:cNvPr id="9" name="Freeform 9">
              <a:extLst>
                <a:ext uri="{FF2B5EF4-FFF2-40B4-BE49-F238E27FC236}">
                  <a16:creationId xmlns:a16="http://schemas.microsoft.com/office/drawing/2014/main" xmlns="" id="{8AFFC971-D518-DC63-82CA-066EEEE8BD9D}"/>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0" name="TextBox 10">
              <a:extLst>
                <a:ext uri="{FF2B5EF4-FFF2-40B4-BE49-F238E27FC236}">
                  <a16:creationId xmlns:a16="http://schemas.microsoft.com/office/drawing/2014/main" xmlns="" id="{EF1F892B-32CB-D20F-CD5E-29D9DD282E0B}"/>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11" name="Group 11">
            <a:extLst>
              <a:ext uri="{FF2B5EF4-FFF2-40B4-BE49-F238E27FC236}">
                <a16:creationId xmlns:a16="http://schemas.microsoft.com/office/drawing/2014/main" xmlns="" id="{0903312A-41E4-0C98-DB5C-2FD31C761F00}"/>
              </a:ext>
            </a:extLst>
          </p:cNvPr>
          <p:cNvGrpSpPr/>
          <p:nvPr/>
        </p:nvGrpSpPr>
        <p:grpSpPr>
          <a:xfrm rot="2700000">
            <a:off x="5632358" y="303921"/>
            <a:ext cx="3724082" cy="1064394"/>
            <a:chOff x="0" y="0"/>
            <a:chExt cx="1961656" cy="560668"/>
          </a:xfrm>
        </p:grpSpPr>
        <p:sp>
          <p:nvSpPr>
            <p:cNvPr id="12" name="Freeform 12">
              <a:extLst>
                <a:ext uri="{FF2B5EF4-FFF2-40B4-BE49-F238E27FC236}">
                  <a16:creationId xmlns:a16="http://schemas.microsoft.com/office/drawing/2014/main" xmlns="" id="{A8440D19-D63B-AF33-3EAE-F2B37D5CF256}"/>
                </a:ext>
              </a:extLst>
            </p:cNvPr>
            <p:cNvSpPr/>
            <p:nvPr/>
          </p:nvSpPr>
          <p:spPr>
            <a:xfrm>
              <a:off x="0" y="0"/>
              <a:ext cx="1961656" cy="560668"/>
            </a:xfrm>
            <a:custGeom>
              <a:avLst/>
              <a:gdLst/>
              <a:ahLst/>
              <a:cxnLst/>
              <a:rect l="l" t="t" r="r" b="b"/>
              <a:pathLst>
                <a:path w="1961656" h="560668">
                  <a:moveTo>
                    <a:pt x="0" y="0"/>
                  </a:moveTo>
                  <a:lnTo>
                    <a:pt x="1961656" y="0"/>
                  </a:lnTo>
                  <a:lnTo>
                    <a:pt x="1961656" y="560668"/>
                  </a:lnTo>
                  <a:lnTo>
                    <a:pt x="0" y="560668"/>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3" name="TextBox 13">
              <a:extLst>
                <a:ext uri="{FF2B5EF4-FFF2-40B4-BE49-F238E27FC236}">
                  <a16:creationId xmlns:a16="http://schemas.microsoft.com/office/drawing/2014/main" xmlns="" id="{70297523-D0C9-81EB-FA45-802E3E7D096A}"/>
                </a:ext>
              </a:extLst>
            </p:cNvPr>
            <p:cNvSpPr txBox="1"/>
            <p:nvPr/>
          </p:nvSpPr>
          <p:spPr>
            <a:xfrm>
              <a:off x="0" y="-38100"/>
              <a:ext cx="1961656" cy="598768"/>
            </a:xfrm>
            <a:prstGeom prst="rect">
              <a:avLst/>
            </a:prstGeom>
          </p:spPr>
          <p:txBody>
            <a:bodyPr lIns="25400" tIns="25400" rIns="25400" bIns="25400" rtlCol="0" anchor="ctr"/>
            <a:lstStyle/>
            <a:p>
              <a:pPr algn="ctr">
                <a:lnSpc>
                  <a:spcPts val="1330"/>
                </a:lnSpc>
              </a:pPr>
              <a:endParaRPr sz="700"/>
            </a:p>
          </p:txBody>
        </p:sp>
      </p:grpSp>
      <p:grpSp>
        <p:nvGrpSpPr>
          <p:cNvPr id="14" name="Group 14">
            <a:extLst>
              <a:ext uri="{FF2B5EF4-FFF2-40B4-BE49-F238E27FC236}">
                <a16:creationId xmlns:a16="http://schemas.microsoft.com/office/drawing/2014/main" xmlns="" id="{3AF039C7-166F-DC3C-FD40-F2CACE3926F2}"/>
              </a:ext>
            </a:extLst>
          </p:cNvPr>
          <p:cNvGrpSpPr/>
          <p:nvPr/>
        </p:nvGrpSpPr>
        <p:grpSpPr>
          <a:xfrm rot="2700000">
            <a:off x="7528217" y="-892816"/>
            <a:ext cx="2873959" cy="1967021"/>
            <a:chOff x="0" y="0"/>
            <a:chExt cx="1513855" cy="1036126"/>
          </a:xfrm>
        </p:grpSpPr>
        <p:sp>
          <p:nvSpPr>
            <p:cNvPr id="15" name="Freeform 15">
              <a:extLst>
                <a:ext uri="{FF2B5EF4-FFF2-40B4-BE49-F238E27FC236}">
                  <a16:creationId xmlns:a16="http://schemas.microsoft.com/office/drawing/2014/main" xmlns="" id="{166C2FB9-D184-461A-308A-1F6AFD5F7BBF}"/>
                </a:ext>
              </a:extLst>
            </p:cNvPr>
            <p:cNvSpPr/>
            <p:nvPr/>
          </p:nvSpPr>
          <p:spPr>
            <a:xfrm>
              <a:off x="0" y="0"/>
              <a:ext cx="1513855" cy="1036126"/>
            </a:xfrm>
            <a:custGeom>
              <a:avLst/>
              <a:gdLst/>
              <a:ahLst/>
              <a:cxnLst/>
              <a:rect l="l" t="t" r="r" b="b"/>
              <a:pathLst>
                <a:path w="1513855" h="1036126">
                  <a:moveTo>
                    <a:pt x="0" y="0"/>
                  </a:moveTo>
                  <a:lnTo>
                    <a:pt x="1513855" y="0"/>
                  </a:lnTo>
                  <a:lnTo>
                    <a:pt x="1513855" y="1036126"/>
                  </a:lnTo>
                  <a:lnTo>
                    <a:pt x="0" y="1036126"/>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6" name="TextBox 16">
              <a:extLst>
                <a:ext uri="{FF2B5EF4-FFF2-40B4-BE49-F238E27FC236}">
                  <a16:creationId xmlns:a16="http://schemas.microsoft.com/office/drawing/2014/main" xmlns="" id="{D78B5C6B-C409-CCBB-2B06-FBD31CAC99E4}"/>
                </a:ext>
              </a:extLst>
            </p:cNvPr>
            <p:cNvSpPr txBox="1"/>
            <p:nvPr/>
          </p:nvSpPr>
          <p:spPr>
            <a:xfrm>
              <a:off x="0" y="-38100"/>
              <a:ext cx="1513855" cy="1074226"/>
            </a:xfrm>
            <a:prstGeom prst="rect">
              <a:avLst/>
            </a:prstGeom>
          </p:spPr>
          <p:txBody>
            <a:bodyPr lIns="25400" tIns="25400" rIns="25400" bIns="25400" rtlCol="0" anchor="ctr"/>
            <a:lstStyle/>
            <a:p>
              <a:pPr algn="ctr">
                <a:lnSpc>
                  <a:spcPts val="1330"/>
                </a:lnSpc>
              </a:pPr>
              <a:endParaRPr sz="700"/>
            </a:p>
          </p:txBody>
        </p:sp>
      </p:grpSp>
      <p:grpSp>
        <p:nvGrpSpPr>
          <p:cNvPr id="17" name="Group 17">
            <a:extLst>
              <a:ext uri="{FF2B5EF4-FFF2-40B4-BE49-F238E27FC236}">
                <a16:creationId xmlns:a16="http://schemas.microsoft.com/office/drawing/2014/main" xmlns="" id="{BB6CD3B7-9C29-31B7-074F-1C8E56CB1626}"/>
              </a:ext>
            </a:extLst>
          </p:cNvPr>
          <p:cNvGrpSpPr/>
          <p:nvPr/>
        </p:nvGrpSpPr>
        <p:grpSpPr>
          <a:xfrm rot="2700000">
            <a:off x="6756840" y="4003698"/>
            <a:ext cx="4602320" cy="2123257"/>
            <a:chOff x="0" y="0"/>
            <a:chExt cx="2424267" cy="1118423"/>
          </a:xfrm>
        </p:grpSpPr>
        <p:sp>
          <p:nvSpPr>
            <p:cNvPr id="18" name="Freeform 18">
              <a:extLst>
                <a:ext uri="{FF2B5EF4-FFF2-40B4-BE49-F238E27FC236}">
                  <a16:creationId xmlns:a16="http://schemas.microsoft.com/office/drawing/2014/main" xmlns="" id="{059C69CD-FBFA-E4B4-AA86-445D5367D190}"/>
                </a:ext>
              </a:extLst>
            </p:cNvPr>
            <p:cNvSpPr/>
            <p:nvPr/>
          </p:nvSpPr>
          <p:spPr>
            <a:xfrm>
              <a:off x="0" y="0"/>
              <a:ext cx="2424267" cy="1118423"/>
            </a:xfrm>
            <a:custGeom>
              <a:avLst/>
              <a:gdLst/>
              <a:ahLst/>
              <a:cxnLst/>
              <a:rect l="l" t="t" r="r" b="b"/>
              <a:pathLst>
                <a:path w="2424267" h="1118423">
                  <a:moveTo>
                    <a:pt x="0" y="0"/>
                  </a:moveTo>
                  <a:lnTo>
                    <a:pt x="2424267" y="0"/>
                  </a:lnTo>
                  <a:lnTo>
                    <a:pt x="2424267" y="1118423"/>
                  </a:lnTo>
                  <a:lnTo>
                    <a:pt x="0" y="1118423"/>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19" name="TextBox 19">
              <a:extLst>
                <a:ext uri="{FF2B5EF4-FFF2-40B4-BE49-F238E27FC236}">
                  <a16:creationId xmlns:a16="http://schemas.microsoft.com/office/drawing/2014/main" xmlns="" id="{3FFFD043-6DDC-803C-1EE7-E745D2CD7192}"/>
                </a:ext>
              </a:extLst>
            </p:cNvPr>
            <p:cNvSpPr txBox="1"/>
            <p:nvPr/>
          </p:nvSpPr>
          <p:spPr>
            <a:xfrm>
              <a:off x="0" y="-38100"/>
              <a:ext cx="2424267" cy="1156523"/>
            </a:xfrm>
            <a:prstGeom prst="rect">
              <a:avLst/>
            </a:prstGeom>
          </p:spPr>
          <p:txBody>
            <a:bodyPr lIns="25400" tIns="25400" rIns="25400" bIns="25400" rtlCol="0" anchor="ctr"/>
            <a:lstStyle/>
            <a:p>
              <a:pPr algn="ctr">
                <a:lnSpc>
                  <a:spcPts val="1330"/>
                </a:lnSpc>
              </a:pPr>
              <a:endParaRPr sz="700"/>
            </a:p>
          </p:txBody>
        </p:sp>
      </p:grpSp>
      <p:grpSp>
        <p:nvGrpSpPr>
          <p:cNvPr id="20" name="Group 20">
            <a:extLst>
              <a:ext uri="{FF2B5EF4-FFF2-40B4-BE49-F238E27FC236}">
                <a16:creationId xmlns:a16="http://schemas.microsoft.com/office/drawing/2014/main" xmlns="" id="{40B8BCE7-F5DB-C74D-120E-15FE119805F6}"/>
              </a:ext>
            </a:extLst>
          </p:cNvPr>
          <p:cNvGrpSpPr/>
          <p:nvPr/>
        </p:nvGrpSpPr>
        <p:grpSpPr>
          <a:xfrm rot="2700000">
            <a:off x="7842195" y="3672519"/>
            <a:ext cx="2166949" cy="1126189"/>
            <a:chOff x="0" y="0"/>
            <a:chExt cx="1141438" cy="593219"/>
          </a:xfrm>
        </p:grpSpPr>
        <p:sp>
          <p:nvSpPr>
            <p:cNvPr id="21" name="Freeform 21">
              <a:extLst>
                <a:ext uri="{FF2B5EF4-FFF2-40B4-BE49-F238E27FC236}">
                  <a16:creationId xmlns:a16="http://schemas.microsoft.com/office/drawing/2014/main" xmlns="" id="{7CCA289A-B33A-364F-D970-B4B0741374DB}"/>
                </a:ext>
              </a:extLst>
            </p:cNvPr>
            <p:cNvSpPr/>
            <p:nvPr/>
          </p:nvSpPr>
          <p:spPr>
            <a:xfrm>
              <a:off x="0" y="0"/>
              <a:ext cx="1141438" cy="593219"/>
            </a:xfrm>
            <a:custGeom>
              <a:avLst/>
              <a:gdLst/>
              <a:ahLst/>
              <a:cxnLst/>
              <a:rect l="l" t="t" r="r" b="b"/>
              <a:pathLst>
                <a:path w="1141438" h="593219">
                  <a:moveTo>
                    <a:pt x="0" y="0"/>
                  </a:moveTo>
                  <a:lnTo>
                    <a:pt x="1141438" y="0"/>
                  </a:lnTo>
                  <a:lnTo>
                    <a:pt x="1141438" y="593219"/>
                  </a:lnTo>
                  <a:lnTo>
                    <a:pt x="0" y="593219"/>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22" name="TextBox 22">
              <a:extLst>
                <a:ext uri="{FF2B5EF4-FFF2-40B4-BE49-F238E27FC236}">
                  <a16:creationId xmlns:a16="http://schemas.microsoft.com/office/drawing/2014/main" xmlns="" id="{6D1B43F8-87A5-2EDD-F149-BE82A2984EB5}"/>
                </a:ext>
              </a:extLst>
            </p:cNvPr>
            <p:cNvSpPr txBox="1"/>
            <p:nvPr/>
          </p:nvSpPr>
          <p:spPr>
            <a:xfrm>
              <a:off x="0" y="-38100"/>
              <a:ext cx="1141438" cy="631319"/>
            </a:xfrm>
            <a:prstGeom prst="rect">
              <a:avLst/>
            </a:prstGeom>
          </p:spPr>
          <p:txBody>
            <a:bodyPr lIns="25400" tIns="25400" rIns="25400" bIns="25400" rtlCol="0" anchor="ctr"/>
            <a:lstStyle/>
            <a:p>
              <a:pPr algn="ctr">
                <a:lnSpc>
                  <a:spcPts val="1330"/>
                </a:lnSpc>
              </a:pPr>
              <a:endParaRPr sz="700"/>
            </a:p>
          </p:txBody>
        </p:sp>
      </p:grpSp>
      <p:grpSp>
        <p:nvGrpSpPr>
          <p:cNvPr id="23" name="Group 23">
            <a:extLst>
              <a:ext uri="{FF2B5EF4-FFF2-40B4-BE49-F238E27FC236}">
                <a16:creationId xmlns:a16="http://schemas.microsoft.com/office/drawing/2014/main" xmlns="" id="{2ABF0622-9241-CD75-6B4F-4578A248FF9B}"/>
              </a:ext>
            </a:extLst>
          </p:cNvPr>
          <p:cNvGrpSpPr/>
          <p:nvPr/>
        </p:nvGrpSpPr>
        <p:grpSpPr>
          <a:xfrm>
            <a:off x="5720497" y="768985"/>
            <a:ext cx="3475712" cy="3475712"/>
            <a:chOff x="0" y="0"/>
            <a:chExt cx="812800" cy="812800"/>
          </a:xfrm>
        </p:grpSpPr>
        <p:sp>
          <p:nvSpPr>
            <p:cNvPr id="24" name="Freeform 24">
              <a:extLst>
                <a:ext uri="{FF2B5EF4-FFF2-40B4-BE49-F238E27FC236}">
                  <a16:creationId xmlns:a16="http://schemas.microsoft.com/office/drawing/2014/main" xmlns="" id="{0A81DF20-399E-AF89-89B0-FC2CA2FD0162}"/>
                </a:ext>
              </a:extLst>
            </p:cNvPr>
            <p:cNvSpPr/>
            <p:nvPr/>
          </p:nvSpPr>
          <p:spPr>
            <a:xfrm>
              <a:off x="0" y="0"/>
              <a:ext cx="812800" cy="812800"/>
            </a:xfrm>
            <a:custGeom>
              <a:avLst/>
              <a:gdLst/>
              <a:ahLst/>
              <a:cxnLst/>
              <a:rect l="l" t="t" r="r" b="b"/>
              <a:pathLst>
                <a:path w="812800" h="812800">
                  <a:moveTo>
                    <a:pt x="574675" y="0"/>
                  </a:moveTo>
                  <a:lnTo>
                    <a:pt x="812800" y="238125"/>
                  </a:lnTo>
                  <a:lnTo>
                    <a:pt x="812800" y="574675"/>
                  </a:lnTo>
                  <a:lnTo>
                    <a:pt x="574675" y="812800"/>
                  </a:lnTo>
                  <a:lnTo>
                    <a:pt x="238125" y="812800"/>
                  </a:lnTo>
                  <a:lnTo>
                    <a:pt x="0" y="574675"/>
                  </a:lnTo>
                  <a:lnTo>
                    <a:pt x="0" y="238125"/>
                  </a:lnTo>
                  <a:lnTo>
                    <a:pt x="238125" y="0"/>
                  </a:lnTo>
                  <a:lnTo>
                    <a:pt x="574675" y="0"/>
                  </a:lnTo>
                  <a:close/>
                </a:path>
              </a:pathLst>
            </a:custGeom>
            <a:gradFill rotWithShape="1">
              <a:gsLst>
                <a:gs pos="0">
                  <a:srgbClr val="042882">
                    <a:alpha val="100000"/>
                  </a:srgbClr>
                </a:gs>
                <a:gs pos="100000">
                  <a:srgbClr val="2A83D0">
                    <a:alpha val="100000"/>
                  </a:srgbClr>
                </a:gs>
              </a:gsLst>
              <a:lin ang="0"/>
            </a:gradFill>
            <a:ln cap="sq">
              <a:noFill/>
              <a:prstDash val="solid"/>
              <a:miter/>
            </a:ln>
          </p:spPr>
          <p:txBody>
            <a:bodyPr/>
            <a:lstStyle/>
            <a:p>
              <a:endParaRPr lang="en-IN" sz="700"/>
            </a:p>
          </p:txBody>
        </p:sp>
        <p:sp>
          <p:nvSpPr>
            <p:cNvPr id="25" name="TextBox 25">
              <a:extLst>
                <a:ext uri="{FF2B5EF4-FFF2-40B4-BE49-F238E27FC236}">
                  <a16:creationId xmlns:a16="http://schemas.microsoft.com/office/drawing/2014/main" xmlns="" id="{40C2189F-9BF3-791F-6AA1-3475C52DFABC}"/>
                </a:ext>
              </a:extLst>
            </p:cNvPr>
            <p:cNvSpPr txBox="1"/>
            <p:nvPr/>
          </p:nvSpPr>
          <p:spPr>
            <a:xfrm>
              <a:off x="63500" y="25400"/>
              <a:ext cx="685800" cy="723900"/>
            </a:xfrm>
            <a:prstGeom prst="rect">
              <a:avLst/>
            </a:prstGeom>
          </p:spPr>
          <p:txBody>
            <a:bodyPr lIns="29445" tIns="29445" rIns="29445" bIns="29445" rtlCol="0" anchor="ctr"/>
            <a:lstStyle/>
            <a:p>
              <a:pPr algn="ctr">
                <a:lnSpc>
                  <a:spcPts val="1330"/>
                </a:lnSpc>
                <a:spcBef>
                  <a:spcPct val="0"/>
                </a:spcBef>
              </a:pPr>
              <a:endParaRPr sz="700"/>
            </a:p>
          </p:txBody>
        </p:sp>
      </p:grpSp>
      <p:sp>
        <p:nvSpPr>
          <p:cNvPr id="34" name="Freeform 34">
            <a:extLst>
              <a:ext uri="{FF2B5EF4-FFF2-40B4-BE49-F238E27FC236}">
                <a16:creationId xmlns:a16="http://schemas.microsoft.com/office/drawing/2014/main" xmlns="" id="{79637531-A44E-C462-F403-761C10B95F61}"/>
              </a:ext>
            </a:extLst>
          </p:cNvPr>
          <p:cNvSpPr/>
          <p:nvPr/>
        </p:nvSpPr>
        <p:spPr>
          <a:xfrm>
            <a:off x="4814816" y="492813"/>
            <a:ext cx="857064" cy="159628"/>
          </a:xfrm>
          <a:custGeom>
            <a:avLst/>
            <a:gdLst/>
            <a:ahLst/>
            <a:cxnLst/>
            <a:rect l="l" t="t" r="r" b="b"/>
            <a:pathLst>
              <a:path w="1714127" h="319256">
                <a:moveTo>
                  <a:pt x="0" y="0"/>
                </a:moveTo>
                <a:lnTo>
                  <a:pt x="1714127" y="0"/>
                </a:lnTo>
                <a:lnTo>
                  <a:pt x="1714127" y="319257"/>
                </a:lnTo>
                <a:lnTo>
                  <a:pt x="0" y="319257"/>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IN" sz="700"/>
          </a:p>
        </p:txBody>
      </p:sp>
      <p:sp>
        <p:nvSpPr>
          <p:cNvPr id="35" name="Freeform 35">
            <a:extLst>
              <a:ext uri="{FF2B5EF4-FFF2-40B4-BE49-F238E27FC236}">
                <a16:creationId xmlns:a16="http://schemas.microsoft.com/office/drawing/2014/main" xmlns="" id="{DCD7CC8C-164D-C41A-6252-42C99A05871B}"/>
              </a:ext>
            </a:extLst>
          </p:cNvPr>
          <p:cNvSpPr/>
          <p:nvPr/>
        </p:nvSpPr>
        <p:spPr>
          <a:xfrm>
            <a:off x="8435937" y="4382878"/>
            <a:ext cx="857064" cy="159628"/>
          </a:xfrm>
          <a:custGeom>
            <a:avLst/>
            <a:gdLst/>
            <a:ahLst/>
            <a:cxnLst/>
            <a:rect l="l" t="t" r="r" b="b"/>
            <a:pathLst>
              <a:path w="1714127" h="319256">
                <a:moveTo>
                  <a:pt x="0" y="0"/>
                </a:moveTo>
                <a:lnTo>
                  <a:pt x="1714127" y="0"/>
                </a:lnTo>
                <a:lnTo>
                  <a:pt x="1714127" y="319256"/>
                </a:lnTo>
                <a:lnTo>
                  <a:pt x="0" y="319256"/>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IN" sz="700"/>
          </a:p>
        </p:txBody>
      </p:sp>
      <p:sp>
        <p:nvSpPr>
          <p:cNvPr id="36" name="Freeform 36">
            <a:extLst>
              <a:ext uri="{FF2B5EF4-FFF2-40B4-BE49-F238E27FC236}">
                <a16:creationId xmlns:a16="http://schemas.microsoft.com/office/drawing/2014/main" xmlns="" id="{8672D197-9BF9-8CFA-6DF7-2937B68FFD86}"/>
              </a:ext>
            </a:extLst>
          </p:cNvPr>
          <p:cNvSpPr/>
          <p:nvPr/>
        </p:nvSpPr>
        <p:spPr>
          <a:xfrm>
            <a:off x="8726258" y="4572000"/>
            <a:ext cx="857064" cy="159628"/>
          </a:xfrm>
          <a:custGeom>
            <a:avLst/>
            <a:gdLst/>
            <a:ahLst/>
            <a:cxnLst/>
            <a:rect l="l" t="t" r="r" b="b"/>
            <a:pathLst>
              <a:path w="1714127" h="319256">
                <a:moveTo>
                  <a:pt x="0" y="0"/>
                </a:moveTo>
                <a:lnTo>
                  <a:pt x="1714128" y="0"/>
                </a:lnTo>
                <a:lnTo>
                  <a:pt x="1714128" y="319256"/>
                </a:lnTo>
                <a:lnTo>
                  <a:pt x="0" y="319256"/>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IN" sz="700"/>
          </a:p>
        </p:txBody>
      </p:sp>
      <p:grpSp>
        <p:nvGrpSpPr>
          <p:cNvPr id="47" name="Group 46">
            <a:extLst>
              <a:ext uri="{FF2B5EF4-FFF2-40B4-BE49-F238E27FC236}">
                <a16:creationId xmlns:a16="http://schemas.microsoft.com/office/drawing/2014/main" xmlns="" id="{1E9CDC51-FF0E-F171-6762-BB19A05B4D8E}"/>
              </a:ext>
            </a:extLst>
          </p:cNvPr>
          <p:cNvGrpSpPr/>
          <p:nvPr/>
        </p:nvGrpSpPr>
        <p:grpSpPr>
          <a:xfrm>
            <a:off x="-19007" y="2928677"/>
            <a:ext cx="4276134" cy="431080"/>
            <a:chOff x="0" y="2985846"/>
            <a:chExt cx="4276134" cy="431080"/>
          </a:xfrm>
        </p:grpSpPr>
        <p:grpSp>
          <p:nvGrpSpPr>
            <p:cNvPr id="28" name="Group 28">
              <a:extLst>
                <a:ext uri="{FF2B5EF4-FFF2-40B4-BE49-F238E27FC236}">
                  <a16:creationId xmlns:a16="http://schemas.microsoft.com/office/drawing/2014/main" xmlns="" id="{20253B4E-5254-3A4A-D2B3-FDC541381304}"/>
                </a:ext>
              </a:extLst>
            </p:cNvPr>
            <p:cNvGrpSpPr/>
            <p:nvPr/>
          </p:nvGrpSpPr>
          <p:grpSpPr>
            <a:xfrm>
              <a:off x="0" y="2985846"/>
              <a:ext cx="4224335" cy="431080"/>
              <a:chOff x="0" y="-38100"/>
              <a:chExt cx="4355842" cy="444500"/>
            </a:xfrm>
          </p:grpSpPr>
          <p:sp>
            <p:nvSpPr>
              <p:cNvPr id="29" name="Freeform 29">
                <a:extLst>
                  <a:ext uri="{FF2B5EF4-FFF2-40B4-BE49-F238E27FC236}">
                    <a16:creationId xmlns:a16="http://schemas.microsoft.com/office/drawing/2014/main" xmlns="" id="{98AC3028-4A73-A10C-B23F-D62CE7C18AED}"/>
                  </a:ext>
                </a:extLst>
              </p:cNvPr>
              <p:cNvSpPr/>
              <p:nvPr/>
            </p:nvSpPr>
            <p:spPr>
              <a:xfrm>
                <a:off x="0" y="0"/>
                <a:ext cx="4355842" cy="406400"/>
              </a:xfrm>
              <a:custGeom>
                <a:avLst/>
                <a:gdLst/>
                <a:ahLst/>
                <a:cxnLst/>
                <a:rect l="l" t="t" r="r" b="b"/>
                <a:pathLst>
                  <a:path w="4355842" h="406400">
                    <a:moveTo>
                      <a:pt x="4152642" y="0"/>
                    </a:moveTo>
                    <a:lnTo>
                      <a:pt x="0" y="0"/>
                    </a:lnTo>
                    <a:lnTo>
                      <a:pt x="0" y="406400"/>
                    </a:lnTo>
                    <a:lnTo>
                      <a:pt x="4152642" y="406400"/>
                    </a:lnTo>
                    <a:lnTo>
                      <a:pt x="4355842" y="203200"/>
                    </a:lnTo>
                    <a:lnTo>
                      <a:pt x="4152642" y="0"/>
                    </a:lnTo>
                    <a:close/>
                  </a:path>
                </a:pathLst>
              </a:custGeom>
              <a:gradFill rotWithShape="1">
                <a:gsLst>
                  <a:gs pos="0">
                    <a:srgbClr val="042882">
                      <a:alpha val="100000"/>
                    </a:srgbClr>
                  </a:gs>
                  <a:gs pos="100000">
                    <a:srgbClr val="2A83D0">
                      <a:alpha val="100000"/>
                    </a:srgbClr>
                  </a:gs>
                </a:gsLst>
                <a:lin ang="0"/>
              </a:gradFill>
            </p:spPr>
            <p:txBody>
              <a:bodyPr/>
              <a:lstStyle/>
              <a:p>
                <a:endParaRPr lang="en-IN" sz="700"/>
              </a:p>
            </p:txBody>
          </p:sp>
          <p:sp>
            <p:nvSpPr>
              <p:cNvPr id="30" name="TextBox 30">
                <a:extLst>
                  <a:ext uri="{FF2B5EF4-FFF2-40B4-BE49-F238E27FC236}">
                    <a16:creationId xmlns:a16="http://schemas.microsoft.com/office/drawing/2014/main" xmlns="" id="{199C1F1F-4C5C-E8C0-1593-D5C9F6952716}"/>
                  </a:ext>
                </a:extLst>
              </p:cNvPr>
              <p:cNvSpPr txBox="1"/>
              <p:nvPr/>
            </p:nvSpPr>
            <p:spPr>
              <a:xfrm>
                <a:off x="0" y="-38100"/>
                <a:ext cx="4241542" cy="444500"/>
              </a:xfrm>
              <a:prstGeom prst="rect">
                <a:avLst/>
              </a:prstGeom>
            </p:spPr>
            <p:txBody>
              <a:bodyPr lIns="25400" tIns="25400" rIns="25400" bIns="25400" rtlCol="0" anchor="ctr"/>
              <a:lstStyle/>
              <a:p>
                <a:pPr algn="ctr">
                  <a:lnSpc>
                    <a:spcPts val="1330"/>
                  </a:lnSpc>
                </a:pPr>
                <a:endParaRPr sz="700"/>
              </a:p>
            </p:txBody>
          </p:sp>
        </p:grpSp>
        <p:sp>
          <p:nvSpPr>
            <p:cNvPr id="44" name="TextBox 44">
              <a:extLst>
                <a:ext uri="{FF2B5EF4-FFF2-40B4-BE49-F238E27FC236}">
                  <a16:creationId xmlns:a16="http://schemas.microsoft.com/office/drawing/2014/main" xmlns="" id="{3578161E-D839-4793-89CB-83A287A2849E}"/>
                </a:ext>
              </a:extLst>
            </p:cNvPr>
            <p:cNvSpPr txBox="1"/>
            <p:nvPr/>
          </p:nvSpPr>
          <p:spPr>
            <a:xfrm>
              <a:off x="466725" y="3100839"/>
              <a:ext cx="3809409" cy="223587"/>
            </a:xfrm>
            <a:prstGeom prst="rect">
              <a:avLst/>
            </a:prstGeom>
          </p:spPr>
          <p:txBody>
            <a:bodyPr lIns="0" tIns="0" rIns="0" bIns="0" rtlCol="0" anchor="t">
              <a:spAutoFit/>
            </a:bodyPr>
            <a:lstStyle/>
            <a:p>
              <a:pPr>
                <a:lnSpc>
                  <a:spcPts val="1943"/>
                </a:lnSpc>
              </a:pPr>
              <a:r>
                <a:rPr lang="en-US" sz="1400" b="1" spc="583" dirty="0">
                  <a:solidFill>
                    <a:srgbClr val="FFFFFF"/>
                  </a:solidFill>
                  <a:latin typeface="Arial" panose="020B0604020202020204" pitchFamily="34" charset="0"/>
                  <a:ea typeface="Aileron Bold"/>
                  <a:cs typeface="Arial" panose="020B0604020202020204" pitchFamily="34" charset="0"/>
                  <a:sym typeface="Aileron Bold"/>
                </a:rPr>
                <a:t>PRESENTATION 2026</a:t>
              </a:r>
            </a:p>
          </p:txBody>
        </p:sp>
      </p:grpSp>
      <p:sp>
        <p:nvSpPr>
          <p:cNvPr id="40" name="TextBox 40">
            <a:extLst>
              <a:ext uri="{FF2B5EF4-FFF2-40B4-BE49-F238E27FC236}">
                <a16:creationId xmlns:a16="http://schemas.microsoft.com/office/drawing/2014/main" xmlns="" id="{EEE29F0A-1253-B8CE-E742-41B8B6EB922D}"/>
              </a:ext>
            </a:extLst>
          </p:cNvPr>
          <p:cNvSpPr txBox="1"/>
          <p:nvPr/>
        </p:nvSpPr>
        <p:spPr>
          <a:xfrm>
            <a:off x="2302781" y="4344678"/>
            <a:ext cx="1633432"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Name</a:t>
            </a:r>
          </a:p>
        </p:txBody>
      </p:sp>
      <p:sp>
        <p:nvSpPr>
          <p:cNvPr id="42" name="TextBox 42">
            <a:extLst>
              <a:ext uri="{FF2B5EF4-FFF2-40B4-BE49-F238E27FC236}">
                <a16:creationId xmlns:a16="http://schemas.microsoft.com/office/drawing/2014/main" xmlns="" id="{2E9FAC26-1E84-D690-0FD4-B1A364AF40DE}"/>
              </a:ext>
            </a:extLst>
          </p:cNvPr>
          <p:cNvSpPr txBox="1"/>
          <p:nvPr/>
        </p:nvSpPr>
        <p:spPr>
          <a:xfrm>
            <a:off x="2302779" y="4471625"/>
            <a:ext cx="1633432" cy="256480"/>
          </a:xfrm>
          <a:prstGeom prst="rect">
            <a:avLst/>
          </a:prstGeom>
        </p:spPr>
        <p:txBody>
          <a:bodyPr lIns="0" tIns="0" rIns="0" bIns="0" rtlCol="0" anchor="t">
            <a:spAutoFit/>
          </a:bodyPr>
          <a:lstStyle/>
          <a:p>
            <a:pPr>
              <a:lnSpc>
                <a:spcPts val="2038"/>
              </a:lnSpc>
            </a:pPr>
            <a:r>
              <a:rPr lang="en-US" sz="1200" b="1" dirty="0" err="1" smtClean="0">
                <a:solidFill>
                  <a:srgbClr val="0D358D"/>
                </a:solidFill>
                <a:latin typeface="Arial" panose="020B0604020202020204" pitchFamily="34" charset="0"/>
                <a:ea typeface="Aileron Bold"/>
                <a:cs typeface="Arial" panose="020B0604020202020204" pitchFamily="34" charset="0"/>
                <a:sym typeface="Aileron Bold"/>
              </a:rPr>
              <a:t>K.Bhavya</a:t>
            </a: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0" name="Picture 49" descr="A blue circle with a person and a envelope in it&#10;&#10;AI-generated content may be incorrect.">
            <a:extLst>
              <a:ext uri="{FF2B5EF4-FFF2-40B4-BE49-F238E27FC236}">
                <a16:creationId xmlns:a16="http://schemas.microsoft.com/office/drawing/2014/main" xmlns="" id="{C926F708-70B7-B0DB-A148-0FA2830D925D}"/>
              </a:ext>
            </a:extLst>
          </p:cNvPr>
          <p:cNvPicPr>
            <a:picLocks noChangeAspect="1"/>
          </p:cNvPicPr>
          <p:nvPr/>
        </p:nvPicPr>
        <p:blipFill>
          <a:blip r:embed="rId6"/>
          <a:srcRect l="26757" t="2453" r="27842" b="53701"/>
          <a:stretch>
            <a:fillRect/>
          </a:stretch>
        </p:blipFill>
        <p:spPr>
          <a:xfrm>
            <a:off x="1879018" y="4336133"/>
            <a:ext cx="395331" cy="381795"/>
          </a:xfrm>
          <a:prstGeom prst="rect">
            <a:avLst/>
          </a:prstGeom>
        </p:spPr>
      </p:pic>
      <p:sp>
        <p:nvSpPr>
          <p:cNvPr id="41" name="TextBox 41">
            <a:extLst>
              <a:ext uri="{FF2B5EF4-FFF2-40B4-BE49-F238E27FC236}">
                <a16:creationId xmlns:a16="http://schemas.microsoft.com/office/drawing/2014/main" xmlns="" id="{3403BDBE-05E2-50C5-0F55-4F0483352E2C}"/>
              </a:ext>
            </a:extLst>
          </p:cNvPr>
          <p:cNvSpPr txBox="1"/>
          <p:nvPr/>
        </p:nvSpPr>
        <p:spPr>
          <a:xfrm>
            <a:off x="3924234" y="4279537"/>
            <a:ext cx="1809978" cy="154209"/>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Student Email</a:t>
            </a:r>
          </a:p>
        </p:txBody>
      </p:sp>
      <p:sp>
        <p:nvSpPr>
          <p:cNvPr id="43" name="TextBox 43">
            <a:extLst>
              <a:ext uri="{FF2B5EF4-FFF2-40B4-BE49-F238E27FC236}">
                <a16:creationId xmlns:a16="http://schemas.microsoft.com/office/drawing/2014/main" xmlns="" id="{B84F91E2-C42E-10B3-A03A-88AA58AF1258}"/>
              </a:ext>
            </a:extLst>
          </p:cNvPr>
          <p:cNvSpPr txBox="1"/>
          <p:nvPr/>
        </p:nvSpPr>
        <p:spPr>
          <a:xfrm>
            <a:off x="3945013" y="4413410"/>
            <a:ext cx="2272871" cy="227435"/>
          </a:xfrm>
          <a:prstGeom prst="rect">
            <a:avLst/>
          </a:prstGeom>
        </p:spPr>
        <p:txBody>
          <a:bodyPr lIns="0" tIns="0" rIns="0" bIns="0" rtlCol="0" anchor="t">
            <a:spAutoFit/>
          </a:bodyPr>
          <a:lstStyle/>
          <a:p>
            <a:pPr>
              <a:lnSpc>
                <a:spcPts val="2038"/>
              </a:lnSpc>
            </a:pPr>
            <a:r>
              <a:rPr lang="en-US" sz="1200" b="1" dirty="0" smtClean="0">
                <a:solidFill>
                  <a:srgbClr val="0D358D"/>
                </a:solidFill>
                <a:latin typeface="Arial" panose="020B0604020202020204" pitchFamily="34" charset="0"/>
                <a:ea typeface="Aileron Bold"/>
                <a:cs typeface="Arial" panose="020B0604020202020204" pitchFamily="34" charset="0"/>
                <a:sym typeface="Aileron Bold"/>
              </a:rPr>
              <a:t>bhavyakandula40@gmail.com</a:t>
            </a:r>
            <a:endParaRPr lang="en-US" sz="1200" b="1" dirty="0">
              <a:solidFill>
                <a:srgbClr val="0D358D"/>
              </a:solidFill>
              <a:latin typeface="Arial" panose="020B0604020202020204" pitchFamily="34" charset="0"/>
              <a:ea typeface="Aileron Bold"/>
              <a:cs typeface="Arial" panose="020B0604020202020204" pitchFamily="34" charset="0"/>
              <a:sym typeface="Aileron Bold"/>
            </a:endParaRPr>
          </a:p>
        </p:txBody>
      </p:sp>
      <p:pic>
        <p:nvPicPr>
          <p:cNvPr id="51" name="Picture 50" descr="A blue circle with a person and a envelope in it&#10;&#10;AI-generated content may be incorrect.">
            <a:extLst>
              <a:ext uri="{FF2B5EF4-FFF2-40B4-BE49-F238E27FC236}">
                <a16:creationId xmlns:a16="http://schemas.microsoft.com/office/drawing/2014/main" xmlns="" id="{EC8FEF14-C75E-1155-0600-B4343B3F57F8}"/>
              </a:ext>
            </a:extLst>
          </p:cNvPr>
          <p:cNvPicPr>
            <a:picLocks noChangeAspect="1"/>
          </p:cNvPicPr>
          <p:nvPr/>
        </p:nvPicPr>
        <p:blipFill>
          <a:blip r:embed="rId6"/>
          <a:srcRect l="26859" t="52379" r="26874" b="2349"/>
          <a:stretch>
            <a:fillRect/>
          </a:stretch>
        </p:blipFill>
        <p:spPr>
          <a:xfrm>
            <a:off x="3523298" y="4318413"/>
            <a:ext cx="398279" cy="389719"/>
          </a:xfrm>
          <a:prstGeom prst="rect">
            <a:avLst/>
          </a:prstGeom>
        </p:spPr>
      </p:pic>
      <p:grpSp>
        <p:nvGrpSpPr>
          <p:cNvPr id="66" name="Group 65">
            <a:extLst>
              <a:ext uri="{FF2B5EF4-FFF2-40B4-BE49-F238E27FC236}">
                <a16:creationId xmlns:a16="http://schemas.microsoft.com/office/drawing/2014/main" xmlns="" id="{658A7A12-122B-4A3C-11D3-C4D8BF732077}"/>
              </a:ext>
            </a:extLst>
          </p:cNvPr>
          <p:cNvGrpSpPr/>
          <p:nvPr/>
        </p:nvGrpSpPr>
        <p:grpSpPr>
          <a:xfrm>
            <a:off x="832333" y="4337076"/>
            <a:ext cx="1838104" cy="353150"/>
            <a:chOff x="3111573" y="4295282"/>
            <a:chExt cx="1838104" cy="353150"/>
          </a:xfrm>
        </p:grpSpPr>
        <p:sp>
          <p:nvSpPr>
            <p:cNvPr id="67" name="TextBox 41">
              <a:extLst>
                <a:ext uri="{FF2B5EF4-FFF2-40B4-BE49-F238E27FC236}">
                  <a16:creationId xmlns:a16="http://schemas.microsoft.com/office/drawing/2014/main" xmlns="" id="{5FE6F280-D970-382B-5260-25E219F86722}"/>
                </a:ext>
              </a:extLst>
            </p:cNvPr>
            <p:cNvSpPr txBox="1"/>
            <p:nvPr/>
          </p:nvSpPr>
          <p:spPr>
            <a:xfrm>
              <a:off x="3139699" y="4295282"/>
              <a:ext cx="1809978" cy="158890"/>
            </a:xfrm>
            <a:prstGeom prst="rect">
              <a:avLst/>
            </a:prstGeom>
          </p:spPr>
          <p:txBody>
            <a:bodyPr lIns="0" tIns="0" rIns="0" bIns="0" rtlCol="0" anchor="t">
              <a:spAutoFit/>
            </a:bodyPr>
            <a:lstStyle/>
            <a:p>
              <a:pPr>
                <a:lnSpc>
                  <a:spcPts val="1296"/>
                </a:lnSpc>
              </a:pPr>
              <a:r>
                <a:rPr lang="en-US" sz="1000" dirty="0">
                  <a:latin typeface="Arial" panose="020B0604020202020204" pitchFamily="34" charset="0"/>
                  <a:ea typeface="Aileron"/>
                  <a:cs typeface="Arial" panose="020B0604020202020204" pitchFamily="34" charset="0"/>
                  <a:sym typeface="Aileron"/>
                </a:rPr>
                <a:t>Mentor Name</a:t>
              </a:r>
            </a:p>
          </p:txBody>
        </p:sp>
        <p:sp>
          <p:nvSpPr>
            <p:cNvPr id="68" name="TextBox 43">
              <a:extLst>
                <a:ext uri="{FF2B5EF4-FFF2-40B4-BE49-F238E27FC236}">
                  <a16:creationId xmlns:a16="http://schemas.microsoft.com/office/drawing/2014/main" xmlns="" id="{A541DFB6-306C-CD3E-24BD-6D7131F87B73}"/>
                </a:ext>
              </a:extLst>
            </p:cNvPr>
            <p:cNvSpPr txBox="1"/>
            <p:nvPr/>
          </p:nvSpPr>
          <p:spPr>
            <a:xfrm>
              <a:off x="3111573" y="4391952"/>
              <a:ext cx="1072420" cy="256480"/>
            </a:xfrm>
            <a:prstGeom prst="rect">
              <a:avLst/>
            </a:prstGeom>
          </p:spPr>
          <p:txBody>
            <a:bodyPr wrap="square" lIns="0" tIns="0" rIns="0" bIns="0" rtlCol="0" anchor="t">
              <a:spAutoFit/>
            </a:bodyPr>
            <a:lstStyle/>
            <a:p>
              <a:pPr>
                <a:lnSpc>
                  <a:spcPts val="2038"/>
                </a:lnSpc>
              </a:pPr>
              <a:r>
                <a:rPr lang="en-US" sz="1000" b="1" dirty="0" smtClean="0">
                  <a:solidFill>
                    <a:srgbClr val="0D358D"/>
                  </a:solidFill>
                  <a:ea typeface="Aileron Bold"/>
                  <a:cs typeface="Arial" panose="020B0604020202020204" pitchFamily="34" charset="0"/>
                  <a:sym typeface="Aileron Bold"/>
                </a:rPr>
                <a:t>  </a:t>
              </a:r>
              <a:r>
                <a:rPr lang="en-US" sz="900" b="1" dirty="0" smtClean="0">
                  <a:solidFill>
                    <a:srgbClr val="0D358D"/>
                  </a:solidFill>
                  <a:latin typeface="Arial" panose="020B0604020202020204" pitchFamily="34" charset="0"/>
                  <a:ea typeface="Aileron Bold"/>
                  <a:cs typeface="Arial" panose="020B0604020202020204" pitchFamily="34" charset="0"/>
                  <a:sym typeface="Aileron Bold"/>
                </a:rPr>
                <a:t>Uma </a:t>
              </a:r>
              <a:r>
                <a:rPr lang="en-US" sz="900" b="1" dirty="0" err="1" smtClean="0">
                  <a:solidFill>
                    <a:srgbClr val="0D358D"/>
                  </a:solidFill>
                  <a:latin typeface="Arial" panose="020B0604020202020204" pitchFamily="34" charset="0"/>
                  <a:ea typeface="Aileron Bold"/>
                  <a:cs typeface="Arial" panose="020B0604020202020204" pitchFamily="34" charset="0"/>
                  <a:sym typeface="Aileron Bold"/>
                </a:rPr>
                <a:t>maheshwari</a:t>
              </a:r>
              <a:r>
                <a:rPr lang="en-US" sz="900" b="1" dirty="0" smtClean="0">
                  <a:solidFill>
                    <a:srgbClr val="0D358D"/>
                  </a:solidFill>
                  <a:latin typeface="Arial" panose="020B0604020202020204" pitchFamily="34" charset="0"/>
                  <a:ea typeface="Aileron Bold"/>
                  <a:cs typeface="Arial" panose="020B0604020202020204" pitchFamily="34" charset="0"/>
                  <a:sym typeface="Aileron Bold"/>
                </a:rPr>
                <a:t> </a:t>
              </a:r>
              <a:endParaRPr lang="en-US" sz="900" b="1" dirty="0">
                <a:solidFill>
                  <a:srgbClr val="0D358D"/>
                </a:solidFill>
                <a:latin typeface="Arial" panose="020B0604020202020204" pitchFamily="34" charset="0"/>
                <a:ea typeface="Aileron Bold"/>
                <a:cs typeface="Arial" panose="020B0604020202020204" pitchFamily="34" charset="0"/>
                <a:sym typeface="Aileron Bold"/>
              </a:endParaRPr>
            </a:p>
          </p:txBody>
        </p:sp>
      </p:grpSp>
      <p:pic>
        <p:nvPicPr>
          <p:cNvPr id="71" name="Picture 70">
            <a:extLst>
              <a:ext uri="{FF2B5EF4-FFF2-40B4-BE49-F238E27FC236}">
                <a16:creationId xmlns:a16="http://schemas.microsoft.com/office/drawing/2014/main" xmlns="" id="{4094A52A-31D4-B030-C8BD-9B0ACB0083EC}"/>
              </a:ext>
            </a:extLst>
          </p:cNvPr>
          <p:cNvPicPr>
            <a:picLocks noChangeAspect="1"/>
          </p:cNvPicPr>
          <p:nvPr/>
        </p:nvPicPr>
        <p:blipFill>
          <a:blip r:embed="rId7"/>
          <a:srcRect l="28109" t="6546" r="28551" b="49509"/>
          <a:stretch>
            <a:fillRect/>
          </a:stretch>
        </p:blipFill>
        <p:spPr>
          <a:xfrm>
            <a:off x="447718" y="4346948"/>
            <a:ext cx="375815" cy="381063"/>
          </a:xfrm>
          <a:prstGeom prst="rect">
            <a:avLst/>
          </a:prstGeom>
        </p:spPr>
      </p:pic>
      <p:grpSp>
        <p:nvGrpSpPr>
          <p:cNvPr id="49" name="Group 48">
            <a:extLst>
              <a:ext uri="{FF2B5EF4-FFF2-40B4-BE49-F238E27FC236}">
                <a16:creationId xmlns:a16="http://schemas.microsoft.com/office/drawing/2014/main" xmlns="" id="{18150B14-0B49-9E22-C961-786A40F27A84}"/>
              </a:ext>
            </a:extLst>
          </p:cNvPr>
          <p:cNvGrpSpPr/>
          <p:nvPr/>
        </p:nvGrpSpPr>
        <p:grpSpPr>
          <a:xfrm>
            <a:off x="640733" y="769747"/>
            <a:ext cx="3051630" cy="258616"/>
            <a:chOff x="1068621" y="826472"/>
            <a:chExt cx="2166264" cy="183584"/>
          </a:xfrm>
        </p:grpSpPr>
        <p:pic>
          <p:nvPicPr>
            <p:cNvPr id="55" name="Picture 54" descr="A blue and black logo&#10;&#10;AI-generated content may be incorrect.">
              <a:extLst>
                <a:ext uri="{FF2B5EF4-FFF2-40B4-BE49-F238E27FC236}">
                  <a16:creationId xmlns:a16="http://schemas.microsoft.com/office/drawing/2014/main" xmlns="" id="{9016EA03-A173-06E1-C2CA-FF7DC65A3637}"/>
                </a:ext>
              </a:extLst>
            </p:cNvPr>
            <p:cNvPicPr>
              <a:picLocks noChangeAspect="1"/>
            </p:cNvPicPr>
            <p:nvPr/>
          </p:nvPicPr>
          <p:blipFill>
            <a:blip r:embed="rId8"/>
            <a:stretch>
              <a:fillRect/>
            </a:stretch>
          </p:blipFill>
          <p:spPr>
            <a:xfrm>
              <a:off x="1068621" y="826472"/>
              <a:ext cx="632879" cy="158848"/>
            </a:xfrm>
            <a:prstGeom prst="rect">
              <a:avLst/>
            </a:prstGeom>
          </p:spPr>
        </p:pic>
        <p:pic>
          <p:nvPicPr>
            <p:cNvPr id="57" name="Picture 56" descr="A close up of a logo&#10;&#10;AI-generated content may be incorrect.">
              <a:extLst>
                <a:ext uri="{FF2B5EF4-FFF2-40B4-BE49-F238E27FC236}">
                  <a16:creationId xmlns:a16="http://schemas.microsoft.com/office/drawing/2014/main" xmlns="" id="{B084208C-F6C2-47AC-3616-A62F69B53173}"/>
                </a:ext>
              </a:extLst>
            </p:cNvPr>
            <p:cNvPicPr>
              <a:picLocks noChangeAspect="1"/>
            </p:cNvPicPr>
            <p:nvPr/>
          </p:nvPicPr>
          <p:blipFill>
            <a:blip r:embed="rId9"/>
            <a:stretch>
              <a:fillRect/>
            </a:stretch>
          </p:blipFill>
          <p:spPr>
            <a:xfrm>
              <a:off x="2670437" y="826472"/>
              <a:ext cx="564448" cy="183584"/>
            </a:xfrm>
            <a:prstGeom prst="rect">
              <a:avLst/>
            </a:prstGeom>
          </p:spPr>
        </p:pic>
      </p:grpSp>
      <p:sp>
        <p:nvSpPr>
          <p:cNvPr id="31" name="Shape 7">
            <a:extLst>
              <a:ext uri="{FF2B5EF4-FFF2-40B4-BE49-F238E27FC236}">
                <a16:creationId xmlns:a16="http://schemas.microsoft.com/office/drawing/2014/main" xmlns="" id="{4DEADC42-07CF-F7CC-6F54-42498EAA37B3}"/>
              </a:ext>
            </a:extLst>
          </p:cNvPr>
          <p:cNvSpPr/>
          <p:nvPr/>
        </p:nvSpPr>
        <p:spPr>
          <a:xfrm rot="18195971">
            <a:off x="5802826" y="2309413"/>
            <a:ext cx="2834640" cy="109728"/>
          </a:xfrm>
          <a:prstGeom prst="rect">
            <a:avLst/>
          </a:prstGeom>
          <a:solidFill>
            <a:srgbClr val="4FC3F7"/>
          </a:solidFill>
          <a:ln/>
        </p:spPr>
        <p:txBody>
          <a:bodyPr/>
          <a:lstStyle/>
          <a:p>
            <a:endParaRPr lang="en-IN"/>
          </a:p>
        </p:txBody>
      </p:sp>
      <p:sp>
        <p:nvSpPr>
          <p:cNvPr id="32" name="Shape 8">
            <a:extLst>
              <a:ext uri="{FF2B5EF4-FFF2-40B4-BE49-F238E27FC236}">
                <a16:creationId xmlns:a16="http://schemas.microsoft.com/office/drawing/2014/main" xmlns="" id="{51B3A474-02DA-6A59-3FFF-434FDDC06A2B}"/>
              </a:ext>
            </a:extLst>
          </p:cNvPr>
          <p:cNvSpPr/>
          <p:nvPr/>
        </p:nvSpPr>
        <p:spPr>
          <a:xfrm rot="18195971">
            <a:off x="6146363" y="2413708"/>
            <a:ext cx="2468880" cy="109728"/>
          </a:xfrm>
          <a:prstGeom prst="rect">
            <a:avLst/>
          </a:prstGeom>
          <a:solidFill>
            <a:srgbClr val="4FC3F7"/>
          </a:solidFill>
          <a:ln/>
        </p:spPr>
        <p:txBody>
          <a:bodyPr/>
          <a:lstStyle/>
          <a:p>
            <a:endParaRPr lang="en-IN"/>
          </a:p>
        </p:txBody>
      </p:sp>
      <p:sp>
        <p:nvSpPr>
          <p:cNvPr id="33" name="Shape 9">
            <a:extLst>
              <a:ext uri="{FF2B5EF4-FFF2-40B4-BE49-F238E27FC236}">
                <a16:creationId xmlns:a16="http://schemas.microsoft.com/office/drawing/2014/main" xmlns="" id="{075C146A-525E-EAB1-2438-92AF6E344C2C}"/>
              </a:ext>
            </a:extLst>
          </p:cNvPr>
          <p:cNvSpPr/>
          <p:nvPr/>
        </p:nvSpPr>
        <p:spPr>
          <a:xfrm rot="18195971">
            <a:off x="6482126" y="2528680"/>
            <a:ext cx="2103120" cy="109728"/>
          </a:xfrm>
          <a:prstGeom prst="rect">
            <a:avLst/>
          </a:prstGeom>
          <a:solidFill>
            <a:srgbClr val="4FC3F7"/>
          </a:solidFill>
          <a:ln/>
        </p:spPr>
        <p:txBody>
          <a:bodyPr/>
          <a:lstStyle/>
          <a:p>
            <a:endParaRPr lang="en-IN"/>
          </a:p>
        </p:txBody>
      </p:sp>
      <p:sp>
        <p:nvSpPr>
          <p:cNvPr id="39" name="Shape 9">
            <a:extLst>
              <a:ext uri="{FF2B5EF4-FFF2-40B4-BE49-F238E27FC236}">
                <a16:creationId xmlns:a16="http://schemas.microsoft.com/office/drawing/2014/main" xmlns="" id="{ED47441A-C600-ACAC-5391-EF118874C98C}"/>
              </a:ext>
            </a:extLst>
          </p:cNvPr>
          <p:cNvSpPr/>
          <p:nvPr/>
        </p:nvSpPr>
        <p:spPr>
          <a:xfrm rot="18195971">
            <a:off x="6735713" y="2647223"/>
            <a:ext cx="1872046" cy="116269"/>
          </a:xfrm>
          <a:prstGeom prst="rect">
            <a:avLst/>
          </a:prstGeom>
          <a:solidFill>
            <a:srgbClr val="4FC3F7"/>
          </a:solidFill>
          <a:ln/>
        </p:spPr>
        <p:txBody>
          <a:bodyPr/>
          <a:lstStyle/>
          <a:p>
            <a:endParaRPr lang="en-IN"/>
          </a:p>
        </p:txBody>
      </p:sp>
      <p:pic>
        <p:nvPicPr>
          <p:cNvPr id="46" name="Picture 45">
            <a:extLst>
              <a:ext uri="{FF2B5EF4-FFF2-40B4-BE49-F238E27FC236}">
                <a16:creationId xmlns:a16="http://schemas.microsoft.com/office/drawing/2014/main" xmlns="" id="{21A2EF52-784B-5BFA-EB88-FB9E7588BFF8}"/>
              </a:ext>
            </a:extLst>
          </p:cNvPr>
          <p:cNvPicPr>
            <a:picLocks noChangeAspect="1"/>
          </p:cNvPicPr>
          <p:nvPr/>
        </p:nvPicPr>
        <p:blipFill>
          <a:blip r:embed="rId10"/>
          <a:srcRect b="19729"/>
          <a:stretch>
            <a:fillRect/>
          </a:stretch>
        </p:blipFill>
        <p:spPr>
          <a:xfrm>
            <a:off x="173754" y="1046557"/>
            <a:ext cx="3854253" cy="1849530"/>
          </a:xfrm>
          <a:prstGeom prst="rect">
            <a:avLst/>
          </a:prstGeom>
        </p:spPr>
      </p:pic>
      <p:sp>
        <p:nvSpPr>
          <p:cNvPr id="27" name="TextBox 26">
            <a:extLst>
              <a:ext uri="{FF2B5EF4-FFF2-40B4-BE49-F238E27FC236}">
                <a16:creationId xmlns:a16="http://schemas.microsoft.com/office/drawing/2014/main" xmlns="" id="{56CE2B4C-42F3-6C3D-A2AC-C0C414252A53}"/>
              </a:ext>
            </a:extLst>
          </p:cNvPr>
          <p:cNvSpPr txBox="1"/>
          <p:nvPr/>
        </p:nvSpPr>
        <p:spPr>
          <a:xfrm>
            <a:off x="68461" y="3462539"/>
            <a:ext cx="5447162" cy="523220"/>
          </a:xfrm>
          <a:prstGeom prst="rect">
            <a:avLst/>
          </a:prstGeom>
          <a:noFill/>
        </p:spPr>
        <p:txBody>
          <a:bodyPr wrap="square">
            <a:spAutoFit/>
          </a:bodyPr>
          <a:lstStyle/>
          <a:p>
            <a:pPr algn="ctr">
              <a:spcBef>
                <a:spcPts val="400"/>
              </a:spcBef>
              <a:spcAft>
                <a:spcPts val="400"/>
              </a:spcAft>
              <a:buNone/>
            </a:pPr>
            <a:r>
              <a:rPr lang="en-US" sz="1400" b="1" dirty="0" smtClean="0">
                <a:solidFill>
                  <a:srgbClr val="0070C0"/>
                </a:solidFill>
              </a:rPr>
              <a:t>     Smart </a:t>
            </a:r>
            <a:r>
              <a:rPr lang="en-US" sz="1400" b="1" dirty="0">
                <a:solidFill>
                  <a:srgbClr val="0070C0"/>
                </a:solidFill>
              </a:rPr>
              <a:t>banking customer financial health and risk analysis Dashboard</a:t>
            </a:r>
            <a:endParaRPr lang="en-IN" sz="1400" dirty="0">
              <a:solidFill>
                <a:srgbClr val="0070C0"/>
              </a:solidFill>
              <a:effectLst/>
              <a:latin typeface="Arial" panose="020B0604020202020204" pitchFamily="34" charset="0"/>
              <a:ea typeface="Arial" panose="020B0604020202020204" pitchFamily="34" charset="0"/>
            </a:endParaRPr>
          </a:p>
        </p:txBody>
      </p:sp>
    </p:spTree>
    <p:custDataLst>
      <p:tags r:id="rId1"/>
    </p:custDataLst>
    <p:extLst>
      <p:ext uri="{BB962C8B-B14F-4D97-AF65-F5344CB8AC3E}">
        <p14:creationId xmlns:p14="http://schemas.microsoft.com/office/powerpoint/2010/main" val="1212236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10217"/>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Outline</a:t>
            </a:r>
            <a:endParaRPr lang="en-US" sz="2000" dirty="0">
              <a:latin typeface="Lato" panose="020F0502020204030203" pitchFamily="34" charset="0"/>
              <a:cs typeface="Arial" panose="020B0604020202020204" pitchFamily="34" charset="0"/>
            </a:endParaRPr>
          </a:p>
        </p:txBody>
      </p:sp>
      <p:sp>
        <p:nvSpPr>
          <p:cNvPr id="24" name="TextBox 23">
            <a:extLst>
              <a:ext uri="{FF2B5EF4-FFF2-40B4-BE49-F238E27FC236}">
                <a16:creationId xmlns:a16="http://schemas.microsoft.com/office/drawing/2014/main" xmlns="" id="{90865657-EE51-429D-40B6-B64C80E4AB47}"/>
              </a:ext>
            </a:extLst>
          </p:cNvPr>
          <p:cNvSpPr txBox="1"/>
          <p:nvPr/>
        </p:nvSpPr>
        <p:spPr>
          <a:xfrm>
            <a:off x="125239" y="1080603"/>
            <a:ext cx="4446761" cy="3026470"/>
          </a:xfrm>
          <a:prstGeom prst="rect">
            <a:avLst/>
          </a:prstGeom>
          <a:noFill/>
        </p:spPr>
        <p:txBody>
          <a:bodyPr wrap="square">
            <a:spAutoFit/>
          </a:bodyPr>
          <a:lstStyle/>
          <a:p>
            <a:pPr marL="228600" indent="-228600">
              <a:spcAft>
                <a:spcPts val="800"/>
              </a:spcAft>
              <a:buFont typeface="Arial" panose="020B0604020202020204" pitchFamily="34" charset="0"/>
              <a:buChar char="•"/>
              <a:tabLst>
                <a:tab pos="4229100" algn="ctr"/>
              </a:tabLst>
            </a:pPr>
            <a:r>
              <a:rPr lang="en-US" sz="1800" dirty="0">
                <a:solidFill>
                  <a:schemeClr val="tx1"/>
                </a:solidFill>
                <a:effectLst/>
                <a:latin typeface="Lato" panose="020F0502020204030203" pitchFamily="34" charset="0"/>
                <a:ea typeface="Times New Roman" panose="02020603050405020304" pitchFamily="18" charset="0"/>
                <a:cs typeface="Arial" panose="020B0604020202020204" pitchFamily="34" charset="0"/>
              </a:rPr>
              <a:t>Abstract of the Project</a:t>
            </a:r>
            <a:endParaRPr lang="en-IN" sz="1800" dirty="0">
              <a:solidFill>
                <a:schemeClr val="tx1"/>
              </a:solidFill>
              <a:latin typeface="Lato" panose="020F0502020204030203" pitchFamily="34" charset="0"/>
              <a:ea typeface="Times New Roman" panose="02020603050405020304" pitchFamily="18" charset="0"/>
              <a:cs typeface="Arial" panose="020B0604020202020204" pitchFamily="34" charset="0"/>
            </a:endParaRP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Problem Statement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Proposed Solution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System Architecture</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Live Demo of the Project</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Embedded Video of Project</a:t>
            </a:r>
          </a:p>
          <a:p>
            <a:pPr marL="228600" indent="-228600">
              <a:spcAft>
                <a:spcPts val="800"/>
              </a:spcAft>
              <a:buFont typeface="Arial" panose="020B0604020202020204" pitchFamily="34" charset="0"/>
              <a:buChar char="•"/>
              <a:tabLst>
                <a:tab pos="4229100" algn="ctr"/>
              </a:tabLst>
            </a:pPr>
            <a:r>
              <a:rPr lang="en-IN" sz="1800" dirty="0">
                <a:latin typeface="Lato" panose="020F0502020204030203" pitchFamily="34" charset="0"/>
                <a:ea typeface="+mn-lt"/>
                <a:cs typeface="Arial" panose="020B0604020202020204" pitchFamily="34" charset="0"/>
              </a:rPr>
              <a:t>Conclusion</a:t>
            </a:r>
          </a:p>
          <a:p>
            <a:pPr marL="228600" indent="-228600">
              <a:spcAft>
                <a:spcPts val="800"/>
              </a:spcAft>
              <a:buFont typeface="Arial" panose="020B0604020202020204" pitchFamily="34" charset="0"/>
              <a:buChar char="•"/>
              <a:tabLst>
                <a:tab pos="4229100" algn="ctr"/>
              </a:tabLst>
            </a:pPr>
            <a:r>
              <a:rPr lang="en-US" sz="1800" dirty="0">
                <a:latin typeface="Lato" panose="020F0502020204030203" pitchFamily="34" charset="0"/>
                <a:ea typeface="+mn-lt"/>
                <a:cs typeface="Arial" panose="020B0604020202020204" pitchFamily="34" charset="0"/>
              </a:rPr>
              <a:t>Future Scope</a:t>
            </a:r>
          </a:p>
        </p:txBody>
      </p:sp>
      <p:pic>
        <p:nvPicPr>
          <p:cNvPr id="25" name="Picture 24" descr="A screen shot of a computer&#10;&#10;AI-generated content may be incorrect.">
            <a:extLst>
              <a:ext uri="{FF2B5EF4-FFF2-40B4-BE49-F238E27FC236}">
                <a16:creationId xmlns:a16="http://schemas.microsoft.com/office/drawing/2014/main" xmlns="" id="{C3A7F110-9D19-8523-45D3-77B1951C8835}"/>
              </a:ext>
            </a:extLst>
          </p:cNvPr>
          <p:cNvPicPr>
            <a:picLocks noChangeAspect="1"/>
          </p:cNvPicPr>
          <p:nvPr/>
        </p:nvPicPr>
        <p:blipFill>
          <a:blip r:embed="rId4">
            <a:duotone>
              <a:schemeClr val="accent1">
                <a:shade val="45000"/>
                <a:satMod val="135000"/>
              </a:schemeClr>
              <a:prstClr val="white"/>
            </a:duotone>
          </a:blip>
          <a:srcRect l="25250" t="7320" r="18976" b="28715"/>
          <a:stretch>
            <a:fillRect/>
          </a:stretch>
        </p:blipFill>
        <p:spPr>
          <a:xfrm>
            <a:off x="5378824" y="1034325"/>
            <a:ext cx="2868706" cy="3290047"/>
          </a:xfrm>
          <a:prstGeom prst="rect">
            <a:avLst/>
          </a:prstGeom>
        </p:spPr>
      </p:pic>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40079" y="6075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Abstract</a:t>
            </a:r>
            <a:endParaRPr lang="en-US" sz="2000" dirty="0">
              <a:latin typeface="Lato" panose="020F0502020204030203" pitchFamily="34" charset="0"/>
              <a:cs typeface="Arial" panose="020B0604020202020204" pitchFamily="34" charset="0"/>
            </a:endParaRPr>
          </a:p>
        </p:txBody>
      </p:sp>
      <p:sp>
        <p:nvSpPr>
          <p:cNvPr id="7" name="TextBox 6">
            <a:extLst>
              <a:ext uri="{FF2B5EF4-FFF2-40B4-BE49-F238E27FC236}">
                <a16:creationId xmlns:a16="http://schemas.microsoft.com/office/drawing/2014/main" xmlns="" id="{38849028-F25C-7DA0-DE56-0DC142EECABD}"/>
              </a:ext>
            </a:extLst>
          </p:cNvPr>
          <p:cNvSpPr txBox="1"/>
          <p:nvPr/>
        </p:nvSpPr>
        <p:spPr>
          <a:xfrm>
            <a:off x="77373" y="928468"/>
            <a:ext cx="5380892" cy="4001095"/>
          </a:xfrm>
          <a:prstGeom prst="rect">
            <a:avLst/>
          </a:prstGeom>
          <a:noFill/>
        </p:spPr>
        <p:txBody>
          <a:bodyPr wrap="square">
            <a:spAutoFit/>
          </a:bodyPr>
          <a:lstStyle/>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Analyze banking customer data to understand </a:t>
            </a:r>
            <a:r>
              <a:rPr lang="en-US" sz="1600" dirty="0" smtClean="0">
                <a:latin typeface="Lato" panose="020F0502020204030203"/>
                <a:ea typeface="Cambria Math" panose="02040503050406030204" pitchFamily="18" charset="0"/>
                <a:cs typeface="Cascadia Mono ExtraLight" panose="020B0609020000020004" pitchFamily="49" charset="0"/>
              </a:rPr>
              <a:t>n </a:t>
            </a:r>
            <a:r>
              <a:rPr lang="en-US" sz="1600" dirty="0">
                <a:latin typeface="Lato" panose="020F0502020204030203"/>
                <a:ea typeface="Cambria Math" panose="02040503050406030204" pitchFamily="18" charset="0"/>
                <a:cs typeface="Cascadia Mono ExtraLight" panose="020B0609020000020004" pitchFamily="49" charset="0"/>
              </a:rPr>
              <a:t>insights through dashboards. </a:t>
            </a:r>
          </a:p>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Key highlight: Combines AI with business intelligence tools for smarter </a:t>
            </a:r>
            <a:r>
              <a:rPr lang="en-US" sz="1600" dirty="0" smtClean="0">
                <a:latin typeface="Lato" panose="020F0502020204030203"/>
                <a:ea typeface="Cambria Math" panose="02040503050406030204" pitchFamily="18" charset="0"/>
                <a:cs typeface="Cascadia Mono ExtraLight" panose="020B0609020000020004" pitchFamily="49" charset="0"/>
              </a:rPr>
              <a:t>an financial </a:t>
            </a:r>
            <a:r>
              <a:rPr lang="en-US" sz="1600" dirty="0">
                <a:latin typeface="Lato" panose="020F0502020204030203"/>
                <a:ea typeface="Cambria Math" panose="02040503050406030204" pitchFamily="18" charset="0"/>
                <a:cs typeface="Cascadia Mono ExtraLight" panose="020B0609020000020004" pitchFamily="49" charset="0"/>
              </a:rPr>
              <a:t>behavior, spending patterns, and risk levels. </a:t>
            </a:r>
          </a:p>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Objective is to convert raw data into meaningful insights for better decision-making.</a:t>
            </a:r>
          </a:p>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Uses Microsoft Excel for data cleaning and preprocessing. </a:t>
            </a:r>
          </a:p>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Uses Power BI to create interactive dashboards and visualizations. </a:t>
            </a:r>
          </a:p>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Integrates AI tools like Copilot for insights and report generation. </a:t>
            </a:r>
          </a:p>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Identifies high-value customers and detects potential financial risks. </a:t>
            </a:r>
          </a:p>
          <a:p>
            <a:pPr marL="285750" indent="-285750" algn="just">
              <a:buFont typeface="Arial" panose="020B0604020202020204" pitchFamily="34" charset="0"/>
              <a:buChar char="•"/>
            </a:pPr>
            <a:r>
              <a:rPr lang="en-US" sz="1600" dirty="0">
                <a:latin typeface="Lato" panose="020F0502020204030203"/>
                <a:ea typeface="Cambria Math" panose="02040503050406030204" pitchFamily="18" charset="0"/>
                <a:cs typeface="Cascadia Mono ExtraLight" panose="020B0609020000020004" pitchFamily="49" charset="0"/>
              </a:rPr>
              <a:t>Provides clear, data-</a:t>
            </a:r>
            <a:r>
              <a:rPr lang="en-US" sz="1600" dirty="0" err="1">
                <a:latin typeface="Lato" panose="020F0502020204030203"/>
                <a:ea typeface="Cambria Math" panose="02040503050406030204" pitchFamily="18" charset="0"/>
                <a:cs typeface="Cascadia Mono ExtraLight" panose="020B0609020000020004" pitchFamily="49" charset="0"/>
              </a:rPr>
              <a:t>drived</a:t>
            </a:r>
            <a:r>
              <a:rPr lang="en-US" sz="1600" dirty="0">
                <a:latin typeface="Lato" panose="020F0502020204030203"/>
                <a:ea typeface="Cambria Math" panose="02040503050406030204" pitchFamily="18" charset="0"/>
                <a:cs typeface="Cascadia Mono ExtraLight" panose="020B0609020000020004" pitchFamily="49" charset="0"/>
              </a:rPr>
              <a:t> </a:t>
            </a:r>
            <a:r>
              <a:rPr lang="en-US" sz="1600" dirty="0">
                <a:latin typeface="Lato" panose="020F0502020204030203"/>
              </a:rPr>
              <a:t>more efficient analysis</a:t>
            </a:r>
            <a:r>
              <a:rPr lang="en-US" sz="1200" dirty="0">
                <a:latin typeface="Lato" panose="020F0502020204030203"/>
              </a:rPr>
              <a:t>.</a:t>
            </a:r>
          </a:p>
          <a:p>
            <a:pPr algn="just">
              <a:spcAft>
                <a:spcPts val="800"/>
              </a:spcAft>
              <a:tabLst>
                <a:tab pos="4229100" algn="ctr"/>
              </a:tabLst>
            </a:pPr>
            <a:endParaRPr lang="en-US" sz="1400" dirty="0">
              <a:latin typeface="Lato" panose="020F0502020204030203"/>
              <a:ea typeface="+mn-lt"/>
              <a:cs typeface="Arial" panose="020B0604020202020204" pitchFamily="34" charset="0"/>
            </a:endParaRPr>
          </a:p>
        </p:txBody>
      </p:sp>
      <p:sp>
        <p:nvSpPr>
          <p:cNvPr id="2" name="Freeform 28">
            <a:extLst>
              <a:ext uri="{FF2B5EF4-FFF2-40B4-BE49-F238E27FC236}">
                <a16:creationId xmlns:a16="http://schemas.microsoft.com/office/drawing/2014/main" xmlns="" id="{AA7F05EE-340D-A58A-BAD0-FB0660B2D339}"/>
              </a:ext>
            </a:extLst>
          </p:cNvPr>
          <p:cNvSpPr/>
          <p:nvPr/>
        </p:nvSpPr>
        <p:spPr>
          <a:xfrm>
            <a:off x="5814470" y="1082801"/>
            <a:ext cx="3070450" cy="2997875"/>
          </a:xfrm>
          <a:custGeom>
            <a:avLst/>
            <a:gdLst/>
            <a:ahLst/>
            <a:cxnLst/>
            <a:rect l="l" t="t" r="r" b="b"/>
            <a:pathLst>
              <a:path w="4114800" h="4017541">
                <a:moveTo>
                  <a:pt x="0" y="0"/>
                </a:moveTo>
                <a:lnTo>
                  <a:pt x="4114800" y="0"/>
                </a:lnTo>
                <a:lnTo>
                  <a:pt x="4114800" y="4017541"/>
                </a:lnTo>
                <a:lnTo>
                  <a:pt x="0" y="401754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txBody>
          <a:bodyPr/>
          <a:lstStyle/>
          <a:p>
            <a:endParaRPr lang="en-US"/>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xmlns="" id="{327B2E24-A610-1C01-FCDD-9B6B67A72E49}"/>
              </a:ext>
            </a:extLst>
          </p:cNvPr>
          <p:cNvPicPr>
            <a:picLocks noChangeAspect="1"/>
          </p:cNvPicPr>
          <p:nvPr/>
        </p:nvPicPr>
        <p:blipFill>
          <a:blip r:embed="rId4"/>
          <a:stretch>
            <a:fillRect/>
          </a:stretch>
        </p:blipFill>
        <p:spPr>
          <a:xfrm>
            <a:off x="4888151" y="873760"/>
            <a:ext cx="3947240" cy="3947240"/>
          </a:xfrm>
          <a:prstGeom prst="rect">
            <a:avLst/>
          </a:prstGeom>
        </p:spPr>
      </p:pic>
      <p:sp>
        <p:nvSpPr>
          <p:cNvPr id="4" name="Text 2"/>
          <p:cNvSpPr/>
          <p:nvPr/>
        </p:nvSpPr>
        <p:spPr>
          <a:xfrm>
            <a:off x="120623" y="611286"/>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Problem Statement</a:t>
            </a:r>
            <a:endParaRPr lang="en-US" sz="2000" dirty="0">
              <a:latin typeface="Lato" panose="020F0502020204030203" pitchFamily="34" charset="0"/>
              <a:cs typeface="Arial" panose="020B0604020202020204" pitchFamily="34" charset="0"/>
            </a:endParaRPr>
          </a:p>
        </p:txBody>
      </p:sp>
      <p:sp>
        <p:nvSpPr>
          <p:cNvPr id="2" name="Rectangle 1"/>
          <p:cNvSpPr/>
          <p:nvPr/>
        </p:nvSpPr>
        <p:spPr>
          <a:xfrm>
            <a:off x="146408" y="1050198"/>
            <a:ext cx="5002367" cy="2585323"/>
          </a:xfrm>
          <a:prstGeom prst="rect">
            <a:avLst/>
          </a:prstGeom>
        </p:spPr>
        <p:txBody>
          <a:bodyPr wrap="square">
            <a:spAutoFit/>
          </a:bodyPr>
          <a:lstStyle/>
          <a:p>
            <a:pPr algn="just">
              <a:buFont typeface="Arial" panose="020B0604020202020204" pitchFamily="34" charset="0"/>
              <a:buChar char="•"/>
            </a:pPr>
            <a:r>
              <a:rPr lang="en-US" dirty="0" smtClean="0">
                <a:latin typeface="Lato" panose="020F0502020204030203"/>
              </a:rPr>
              <a:t>Large volumes of banking data are not effectively utilized.</a:t>
            </a:r>
          </a:p>
          <a:p>
            <a:pPr algn="just">
              <a:buFont typeface="Arial" panose="020B0604020202020204" pitchFamily="34" charset="0"/>
              <a:buChar char="•"/>
            </a:pPr>
            <a:r>
              <a:rPr lang="en-US" dirty="0" smtClean="0">
                <a:latin typeface="Lato" panose="020F0502020204030203"/>
              </a:rPr>
              <a:t>Lack of proper analysis and visualization tools. </a:t>
            </a:r>
          </a:p>
          <a:p>
            <a:pPr algn="just">
              <a:buFont typeface="Arial" panose="020B0604020202020204" pitchFamily="34" charset="0"/>
              <a:buChar char="•"/>
            </a:pPr>
            <a:r>
              <a:rPr lang="en-US" dirty="0" smtClean="0">
                <a:latin typeface="Lato" panose="020F0502020204030203"/>
              </a:rPr>
              <a:t>Difficulty in identifying high-risk customers. </a:t>
            </a:r>
          </a:p>
          <a:p>
            <a:pPr algn="just">
              <a:buFont typeface="Arial" panose="020B0604020202020204" pitchFamily="34" charset="0"/>
              <a:buChar char="•"/>
            </a:pPr>
            <a:r>
              <a:rPr lang="en-US" dirty="0" smtClean="0">
                <a:latin typeface="Lato" panose="020F0502020204030203"/>
              </a:rPr>
              <a:t>Limited skills in using AI tools for data analysis. </a:t>
            </a:r>
          </a:p>
          <a:p>
            <a:pPr algn="just">
              <a:buFont typeface="Arial" panose="020B0604020202020204" pitchFamily="34" charset="0"/>
              <a:buChar char="•"/>
            </a:pPr>
            <a:r>
              <a:rPr lang="en-US" dirty="0" smtClean="0">
                <a:latin typeface="Lato" panose="020F0502020204030203"/>
              </a:rPr>
              <a:t>No real-time monitoring of financial activities. </a:t>
            </a:r>
          </a:p>
          <a:p>
            <a:pPr algn="just">
              <a:buFont typeface="Arial" panose="020B0604020202020204" pitchFamily="34" charset="0"/>
              <a:buChar char="•"/>
            </a:pPr>
            <a:r>
              <a:rPr lang="en-US" dirty="0" smtClean="0">
                <a:latin typeface="Lato" panose="020F0502020204030203"/>
              </a:rPr>
              <a:t>Challenges in detecting early financial instability. </a:t>
            </a:r>
          </a:p>
          <a:p>
            <a:pPr algn="just">
              <a:buFont typeface="Arial" panose="020B0604020202020204" pitchFamily="34" charset="0"/>
              <a:buChar char="•"/>
            </a:pPr>
            <a:r>
              <a:rPr lang="en-US" dirty="0" smtClean="0">
                <a:latin typeface="Lato" panose="020F0502020204030203"/>
              </a:rPr>
              <a:t>Lack of integrated systems for better decision-making. </a:t>
            </a:r>
            <a:endParaRPr lang="en-US" dirty="0">
              <a:latin typeface="Lato" panose="020F0502020204030203"/>
            </a:endParaRP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xmlns="" id="{F1F49F94-4102-44CC-056B-FA1BB4DA8DA6}"/>
              </a:ext>
            </a:extLst>
          </p:cNvPr>
          <p:cNvPicPr>
            <a:picLocks noChangeAspect="1"/>
          </p:cNvPicPr>
          <p:nvPr/>
        </p:nvPicPr>
        <p:blipFill>
          <a:blip r:embed="rId4"/>
          <a:stretch>
            <a:fillRect/>
          </a:stretch>
        </p:blipFill>
        <p:spPr>
          <a:xfrm>
            <a:off x="4240286" y="725532"/>
            <a:ext cx="4903714" cy="4203183"/>
          </a:xfrm>
          <a:prstGeom prst="rect">
            <a:avLst/>
          </a:prstGeom>
        </p:spPr>
      </p:pic>
      <p:sp>
        <p:nvSpPr>
          <p:cNvPr id="4" name="Text 2"/>
          <p:cNvSpPr/>
          <p:nvPr/>
        </p:nvSpPr>
        <p:spPr>
          <a:xfrm>
            <a:off x="125486" y="61693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Proposed Solution</a:t>
            </a:r>
            <a:endParaRPr lang="en-US" sz="2000" dirty="0">
              <a:latin typeface="Lato" panose="020F0502020204030203" pitchFamily="34" charset="0"/>
              <a:cs typeface="Arial" panose="020B0604020202020204" pitchFamily="34" charset="0"/>
            </a:endParaRPr>
          </a:p>
        </p:txBody>
      </p:sp>
      <p:sp>
        <p:nvSpPr>
          <p:cNvPr id="16" name="Text 14"/>
          <p:cNvSpPr/>
          <p:nvPr/>
        </p:nvSpPr>
        <p:spPr>
          <a:xfrm>
            <a:off x="4846320" y="1280160"/>
            <a:ext cx="3931920" cy="1828800"/>
          </a:xfrm>
          <a:prstGeom prst="rect">
            <a:avLst/>
          </a:prstGeom>
          <a:noFill/>
          <a:ln/>
        </p:spPr>
        <p:txBody>
          <a:bodyPr wrap="square" rtlCol="0" anchor="ctr"/>
          <a:lstStyle/>
          <a:p>
            <a:pPr marL="0" indent="0" algn="ctr">
              <a:buNone/>
            </a:pPr>
            <a:endParaRPr lang="en-US" sz="8000" dirty="0"/>
          </a:p>
        </p:txBody>
      </p:sp>
      <p:sp>
        <p:nvSpPr>
          <p:cNvPr id="5" name="Text 12"/>
          <p:cNvSpPr/>
          <p:nvPr/>
        </p:nvSpPr>
        <p:spPr>
          <a:xfrm>
            <a:off x="125486" y="1046013"/>
            <a:ext cx="4720834" cy="3419438"/>
          </a:xfrm>
          <a:prstGeom prst="rect">
            <a:avLst/>
          </a:prstGeom>
          <a:noFill/>
          <a:ln/>
        </p:spPr>
        <p:txBody>
          <a:bodyPr wrap="square" rtlCol="0" anchor="t"/>
          <a:lstStyle/>
          <a:p>
            <a:pPr marL="0" indent="0">
              <a:buNone/>
            </a:pPr>
            <a:endParaRPr lang="en-US" dirty="0">
              <a:latin typeface="Lato" panose="020F0502020204030203" pitchFamily="34" charset="0"/>
              <a:cs typeface="Arial" panose="020B0604020202020204" pitchFamily="34" charset="0"/>
            </a:endParaRPr>
          </a:p>
        </p:txBody>
      </p:sp>
      <p:sp>
        <p:nvSpPr>
          <p:cNvPr id="3" name="Rectangle 2"/>
          <p:cNvSpPr>
            <a:spLocks noChangeArrowheads="1"/>
          </p:cNvSpPr>
          <p:nvPr/>
        </p:nvSpPr>
        <p:spPr bwMode="auto">
          <a:xfrm>
            <a:off x="125487" y="671626"/>
            <a:ext cx="4720834"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smtClean="0">
                <a:ln>
                  <a:noFill/>
                </a:ln>
                <a:solidFill>
                  <a:schemeClr val="tx1"/>
                </a:solidFill>
                <a:effectLst/>
                <a:latin typeface="Lato" panose="020F0502020204030203"/>
              </a:rPr>
              <a:t>Transform raw banking data into </a:t>
            </a:r>
            <a:r>
              <a:rPr kumimoji="0" lang="en-US" altLang="en-US" sz="1600" b="1" i="0" u="none" strike="noStrike" cap="none" normalizeH="0" baseline="0" dirty="0" smtClean="0">
                <a:ln>
                  <a:noFill/>
                </a:ln>
                <a:solidFill>
                  <a:schemeClr val="tx1"/>
                </a:solidFill>
                <a:effectLst/>
                <a:latin typeface="Lato" panose="020F0502020204030203"/>
              </a:rPr>
              <a:t>actionable insights</a:t>
            </a:r>
            <a:r>
              <a:rPr kumimoji="0" lang="en-US" altLang="en-US" sz="1600" b="0" i="0" u="none" strike="noStrike" cap="none" normalizeH="0" baseline="0" dirty="0" smtClean="0">
                <a:ln>
                  <a:noFill/>
                </a:ln>
                <a:solidFill>
                  <a:schemeClr val="tx1"/>
                </a:solidFill>
                <a:effectLst/>
                <a:latin typeface="Lato" panose="020F0502020204030203"/>
              </a:rPr>
              <a:t> </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smtClean="0">
                <a:ln>
                  <a:noFill/>
                </a:ln>
                <a:solidFill>
                  <a:schemeClr val="tx1"/>
                </a:solidFill>
                <a:effectLst/>
                <a:latin typeface="Lato" panose="020F0502020204030203"/>
              </a:rPr>
              <a:t>Perform data </a:t>
            </a:r>
            <a:r>
              <a:rPr kumimoji="0" lang="en-US" altLang="en-US" sz="1600" b="1" i="0" u="none" strike="noStrike" cap="none" normalizeH="0" baseline="0" dirty="0" smtClean="0">
                <a:ln>
                  <a:noFill/>
                </a:ln>
                <a:solidFill>
                  <a:schemeClr val="tx1"/>
                </a:solidFill>
                <a:effectLst/>
                <a:latin typeface="Lato" panose="020F0502020204030203"/>
              </a:rPr>
              <a:t>cleaning and preprocessing</a:t>
            </a:r>
            <a:r>
              <a:rPr kumimoji="0" lang="en-US" altLang="en-US" sz="1600" b="0" i="0" u="none" strike="noStrike" cap="none" normalizeH="0" baseline="0" dirty="0" smtClean="0">
                <a:ln>
                  <a:noFill/>
                </a:ln>
                <a:solidFill>
                  <a:schemeClr val="tx1"/>
                </a:solidFill>
                <a:effectLst/>
                <a:latin typeface="Lato" panose="020F0502020204030203"/>
              </a:rPr>
              <a:t> using Excel </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smtClean="0">
                <a:ln>
                  <a:noFill/>
                </a:ln>
                <a:solidFill>
                  <a:schemeClr val="tx1"/>
                </a:solidFill>
                <a:effectLst/>
                <a:latin typeface="Lato" panose="020F0502020204030203"/>
              </a:rPr>
              <a:t>Design </a:t>
            </a:r>
            <a:r>
              <a:rPr kumimoji="0" lang="en-US" altLang="en-US" sz="1600" b="1" i="0" u="none" strike="noStrike" cap="none" normalizeH="0" baseline="0" dirty="0" smtClean="0">
                <a:ln>
                  <a:noFill/>
                </a:ln>
                <a:solidFill>
                  <a:schemeClr val="tx1"/>
                </a:solidFill>
                <a:effectLst/>
                <a:latin typeface="Lato" panose="020F0502020204030203"/>
              </a:rPr>
              <a:t>interactive and dynamic dashboards</a:t>
            </a:r>
            <a:r>
              <a:rPr kumimoji="0" lang="en-US" altLang="en-US" sz="1600" b="0" i="0" u="none" strike="noStrike" cap="none" normalizeH="0" baseline="0" dirty="0" smtClean="0">
                <a:ln>
                  <a:noFill/>
                </a:ln>
                <a:solidFill>
                  <a:schemeClr val="tx1"/>
                </a:solidFill>
                <a:effectLst/>
                <a:latin typeface="Lato" panose="020F0502020204030203"/>
              </a:rPr>
              <a:t> in Power BI </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smtClean="0">
                <a:ln>
                  <a:noFill/>
                </a:ln>
                <a:solidFill>
                  <a:schemeClr val="tx1"/>
                </a:solidFill>
                <a:effectLst/>
                <a:latin typeface="Lato" panose="020F0502020204030203"/>
              </a:rPr>
              <a:t>Follow a </a:t>
            </a:r>
            <a:r>
              <a:rPr kumimoji="0" lang="en-US" altLang="en-US" sz="1600" b="1" i="0" u="none" strike="noStrike" cap="none" normalizeH="0" baseline="0" dirty="0" smtClean="0">
                <a:ln>
                  <a:noFill/>
                </a:ln>
                <a:solidFill>
                  <a:schemeClr val="tx1"/>
                </a:solidFill>
                <a:effectLst/>
                <a:latin typeface="Lato" panose="020F0502020204030203"/>
              </a:rPr>
              <a:t>systematic workflow</a:t>
            </a:r>
            <a:r>
              <a:rPr kumimoji="0" lang="en-US" altLang="en-US" sz="1600" b="0" i="0" u="none" strike="noStrike" cap="none" normalizeH="0" baseline="0" dirty="0" smtClean="0">
                <a:ln>
                  <a:noFill/>
                </a:ln>
                <a:solidFill>
                  <a:schemeClr val="tx1"/>
                </a:solidFill>
                <a:effectLst/>
                <a:latin typeface="Lato" panose="020F0502020204030203"/>
              </a:rPr>
              <a:t>: Data Collection → Processing → Analysis → Visualization </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smtClean="0">
                <a:ln>
                  <a:noFill/>
                </a:ln>
                <a:solidFill>
                  <a:schemeClr val="tx1"/>
                </a:solidFill>
                <a:effectLst/>
                <a:latin typeface="Lato" panose="020F0502020204030203"/>
              </a:rPr>
              <a:t>Enable </a:t>
            </a:r>
            <a:r>
              <a:rPr kumimoji="0" lang="en-US" altLang="en-US" sz="1600" b="1" i="0" u="none" strike="noStrike" cap="none" normalizeH="0" baseline="0" dirty="0" smtClean="0">
                <a:ln>
                  <a:noFill/>
                </a:ln>
                <a:solidFill>
                  <a:schemeClr val="tx1"/>
                </a:solidFill>
                <a:effectLst/>
                <a:latin typeface="Lato" panose="020F0502020204030203"/>
              </a:rPr>
              <a:t>efficient customer segmentation</a:t>
            </a:r>
            <a:r>
              <a:rPr kumimoji="0" lang="en-US" altLang="en-US" sz="1600" b="0" i="0" u="none" strike="noStrike" cap="none" normalizeH="0" baseline="0" dirty="0" smtClean="0">
                <a:ln>
                  <a:noFill/>
                </a:ln>
                <a:solidFill>
                  <a:schemeClr val="tx1"/>
                </a:solidFill>
                <a:effectLst/>
                <a:latin typeface="Lato" panose="020F0502020204030203"/>
              </a:rPr>
              <a:t> and risk assessment </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smtClean="0">
                <a:ln>
                  <a:noFill/>
                </a:ln>
                <a:solidFill>
                  <a:schemeClr val="tx1"/>
                </a:solidFill>
                <a:effectLst/>
                <a:latin typeface="Lato" panose="020F0502020204030203"/>
              </a:rPr>
              <a:t>Support </a:t>
            </a:r>
            <a:r>
              <a:rPr kumimoji="0" lang="en-US" altLang="en-US" sz="1600" b="1" i="0" u="none" strike="noStrike" cap="none" normalizeH="0" baseline="0" dirty="0" smtClean="0">
                <a:ln>
                  <a:noFill/>
                </a:ln>
                <a:solidFill>
                  <a:schemeClr val="tx1"/>
                </a:solidFill>
                <a:effectLst/>
                <a:latin typeface="Lato" panose="020F0502020204030203"/>
              </a:rPr>
              <a:t>data-driven and informed decision-making</a:t>
            </a:r>
            <a:r>
              <a:rPr kumimoji="0" lang="en-US" altLang="en-US" sz="1600" b="0" i="0" u="none" strike="noStrike" cap="none" normalizeH="0" baseline="0" dirty="0" smtClean="0">
                <a:ln>
                  <a:noFill/>
                </a:ln>
                <a:solidFill>
                  <a:schemeClr val="tx1"/>
                </a:solidFill>
                <a:effectLst/>
                <a:latin typeface="Lato" panose="020F0502020204030203"/>
              </a:rPr>
              <a:t> </a:t>
            </a:r>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0" y="602920"/>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System Architecture</a:t>
            </a:r>
            <a:endParaRPr lang="en-US" sz="2000" dirty="0">
              <a:latin typeface="Lato" panose="020F0502020204030203" pitchFamily="34" charset="0"/>
              <a:cs typeface="Arial" panose="020B0604020202020204" pitchFamily="34" charset="0"/>
            </a:endParaRPr>
          </a:p>
        </p:txBody>
      </p:sp>
      <p:sp>
        <p:nvSpPr>
          <p:cNvPr id="6" name="Shape 4"/>
          <p:cNvSpPr/>
          <p:nvPr/>
        </p:nvSpPr>
        <p:spPr>
          <a:xfrm>
            <a:off x="235408" y="1243200"/>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7" name="Shape 5"/>
          <p:cNvSpPr/>
          <p:nvPr/>
        </p:nvSpPr>
        <p:spPr>
          <a:xfrm>
            <a:off x="416732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8" name="Text 6"/>
          <p:cNvSpPr/>
          <p:nvPr/>
        </p:nvSpPr>
        <p:spPr>
          <a:xfrm>
            <a:off x="32684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Data Input / Source</a:t>
            </a:r>
            <a:endParaRPr lang="en-US" sz="1600" dirty="0">
              <a:latin typeface="Lato" panose="020F0502020204030203" pitchFamily="34" charset="0"/>
              <a:cs typeface="Arial" panose="020B0604020202020204" pitchFamily="34" charset="0"/>
            </a:endParaRPr>
          </a:p>
        </p:txBody>
      </p:sp>
      <p:sp>
        <p:nvSpPr>
          <p:cNvPr id="9" name="Text 7"/>
          <p:cNvSpPr/>
          <p:nvPr/>
        </p:nvSpPr>
        <p:spPr>
          <a:xfrm>
            <a:off x="528453" y="1508166"/>
            <a:ext cx="3501716" cy="973777"/>
          </a:xfrm>
          <a:prstGeom prst="rect">
            <a:avLst/>
          </a:prstGeom>
          <a:noFill/>
          <a:ln/>
        </p:spPr>
        <p:txBody>
          <a:bodyPr wrap="square" rtlCol="0" anchor="t"/>
          <a:lstStyle/>
          <a:p>
            <a:pPr lvl="0" eaLnBrk="0" fontAlgn="base" hangingPunct="0">
              <a:spcBef>
                <a:spcPct val="0"/>
              </a:spcBef>
              <a:spcAft>
                <a:spcPct val="0"/>
              </a:spcAft>
              <a:buFontTx/>
              <a:buChar char="•"/>
            </a:pPr>
            <a:endParaRPr lang="en-US" altLang="en-US" sz="900" dirty="0" smtClean="0"/>
          </a:p>
          <a:p>
            <a:pPr lvl="0" algn="just" eaLnBrk="0" fontAlgn="base" hangingPunct="0">
              <a:spcBef>
                <a:spcPct val="0"/>
              </a:spcBef>
              <a:spcAft>
                <a:spcPct val="0"/>
              </a:spcAft>
              <a:buFontTx/>
              <a:buChar char="•"/>
            </a:pPr>
            <a:r>
              <a:rPr lang="en-US" altLang="en-US" sz="900" dirty="0" smtClean="0"/>
              <a:t> </a:t>
            </a:r>
            <a:r>
              <a:rPr lang="en-US" altLang="en-US" sz="1200" dirty="0" smtClean="0">
                <a:latin typeface="Lato" panose="020F0502020204030203"/>
                <a:cs typeface="Arial" panose="020B0604020202020204" pitchFamily="34" charset="0"/>
              </a:rPr>
              <a:t>Real includes key details like demographics, account types, balances, income, and credit score. </a:t>
            </a:r>
          </a:p>
          <a:p>
            <a:pPr lvl="0" algn="just" eaLnBrk="0" fontAlgn="base" hangingPunct="0">
              <a:spcBef>
                <a:spcPct val="0"/>
              </a:spcBef>
              <a:spcAft>
                <a:spcPct val="0"/>
              </a:spcAft>
              <a:buFontTx/>
              <a:buChar char="•"/>
            </a:pPr>
            <a:r>
              <a:rPr lang="en-US" altLang="en-US" sz="1200" dirty="0" smtClean="0">
                <a:latin typeface="Lato" panose="020F0502020204030203"/>
                <a:cs typeface="Arial" panose="020B0604020202020204" pitchFamily="34" charset="0"/>
              </a:rPr>
              <a:t>Acts </a:t>
            </a:r>
            <a:r>
              <a:rPr lang="en-US" altLang="en-US" sz="1200" dirty="0">
                <a:latin typeface="Lato" panose="020F0502020204030203"/>
                <a:cs typeface="Arial" panose="020B0604020202020204" pitchFamily="34" charset="0"/>
              </a:rPr>
              <a:t>as the primary input for financial analysis and insights generation. </a:t>
            </a:r>
          </a:p>
          <a:p>
            <a:pPr lvl="0" algn="just" eaLnBrk="0" fontAlgn="base" hangingPunct="0">
              <a:spcBef>
                <a:spcPct val="0"/>
              </a:spcBef>
              <a:spcAft>
                <a:spcPct val="0"/>
              </a:spcAft>
              <a:buFontTx/>
              <a:buChar char="•"/>
            </a:pPr>
            <a:r>
              <a:rPr lang="en-US" altLang="en-US" sz="1200" dirty="0">
                <a:latin typeface="Lato" panose="020F0502020204030203"/>
                <a:cs typeface="Arial" panose="020B0604020202020204" pitchFamily="34" charset="0"/>
              </a:rPr>
              <a:t>Data is directly uploaded into Excel and Power BI for processing. </a:t>
            </a:r>
          </a:p>
          <a:p>
            <a:pPr lvl="0" algn="just" eaLnBrk="0" fontAlgn="base" hangingPunct="0">
              <a:spcBef>
                <a:spcPct val="0"/>
              </a:spcBef>
              <a:spcAft>
                <a:spcPct val="0"/>
              </a:spcAft>
            </a:pPr>
            <a:endParaRPr lang="en-US" sz="2800" dirty="0">
              <a:latin typeface="Lato" panose="020F0502020204030203"/>
              <a:cs typeface="Arial" panose="020B0604020202020204" pitchFamily="34" charset="0"/>
            </a:endParaRPr>
          </a:p>
        </p:txBody>
      </p:sp>
      <p:sp>
        <p:nvSpPr>
          <p:cNvPr id="10" name="Shape 8"/>
          <p:cNvSpPr/>
          <p:nvPr/>
        </p:nvSpPr>
        <p:spPr>
          <a:xfrm>
            <a:off x="4670248" y="1243200"/>
            <a:ext cx="4114800" cy="384048"/>
          </a:xfrm>
          <a:prstGeom prst="rect">
            <a:avLst/>
          </a:prstGeom>
          <a:solidFill>
            <a:schemeClr val="accent1">
              <a:lumMod val="20000"/>
              <a:lumOff val="80000"/>
            </a:schemeClr>
          </a:solidFill>
          <a:ln/>
        </p:spPr>
        <p:txBody>
          <a:bodyPr/>
          <a:lstStyle/>
          <a:p>
            <a:endParaRPr lang="en-IN" sz="1600">
              <a:latin typeface="Lato" panose="020F0502020204030203" pitchFamily="34" charset="0"/>
              <a:cs typeface="Arial" panose="020B0604020202020204" pitchFamily="34" charset="0"/>
            </a:endParaRPr>
          </a:p>
        </p:txBody>
      </p:sp>
      <p:sp>
        <p:nvSpPr>
          <p:cNvPr id="11" name="Shape 9"/>
          <p:cNvSpPr/>
          <p:nvPr/>
        </p:nvSpPr>
        <p:spPr>
          <a:xfrm>
            <a:off x="8602168" y="1243200"/>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2" name="Text 10"/>
          <p:cNvSpPr/>
          <p:nvPr/>
        </p:nvSpPr>
        <p:spPr>
          <a:xfrm>
            <a:off x="4761688" y="1279776"/>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Processing / Analysis</a:t>
            </a:r>
            <a:endParaRPr lang="en-US" sz="1600" dirty="0">
              <a:latin typeface="Lato" panose="020F0502020204030203" pitchFamily="34" charset="0"/>
              <a:cs typeface="Arial" panose="020B0604020202020204" pitchFamily="34" charset="0"/>
            </a:endParaRPr>
          </a:p>
        </p:txBody>
      </p:sp>
      <p:sp>
        <p:nvSpPr>
          <p:cNvPr id="13" name="Text 11"/>
          <p:cNvSpPr/>
          <p:nvPr/>
        </p:nvSpPr>
        <p:spPr>
          <a:xfrm>
            <a:off x="4761688" y="1700400"/>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sp>
        <p:nvSpPr>
          <p:cNvPr id="14" name="Shape 12"/>
          <p:cNvSpPr/>
          <p:nvPr/>
        </p:nvSpPr>
        <p:spPr>
          <a:xfrm>
            <a:off x="23540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5" name="Shape 13"/>
          <p:cNvSpPr/>
          <p:nvPr/>
        </p:nvSpPr>
        <p:spPr>
          <a:xfrm>
            <a:off x="416732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16" name="Text 14"/>
          <p:cNvSpPr/>
          <p:nvPr/>
        </p:nvSpPr>
        <p:spPr>
          <a:xfrm>
            <a:off x="32684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AI / Tool Integration</a:t>
            </a:r>
            <a:endParaRPr lang="en-US" sz="1600" dirty="0">
              <a:latin typeface="Lato" panose="020F0502020204030203" pitchFamily="34" charset="0"/>
              <a:cs typeface="Arial" panose="020B0604020202020204" pitchFamily="34" charset="0"/>
            </a:endParaRPr>
          </a:p>
        </p:txBody>
      </p:sp>
      <p:sp>
        <p:nvSpPr>
          <p:cNvPr id="17" name="Text 15"/>
          <p:cNvSpPr/>
          <p:nvPr/>
        </p:nvSpPr>
        <p:spPr>
          <a:xfrm>
            <a:off x="326848" y="3427056"/>
            <a:ext cx="4023360" cy="1188720"/>
          </a:xfrm>
          <a:prstGeom prst="rect">
            <a:avLst/>
          </a:prstGeom>
          <a:noFill/>
          <a:ln/>
        </p:spPr>
        <p:txBody>
          <a:bodyPr wrap="square" rtlCol="0" anchor="t"/>
          <a:lstStyle/>
          <a:p>
            <a:pPr marL="0" indent="0">
              <a:buNone/>
            </a:pPr>
            <a:endParaRPr lang="en-US" sz="1600" dirty="0">
              <a:latin typeface="Lato" panose="020F0502020204030203" pitchFamily="34" charset="0"/>
              <a:cs typeface="Arial" panose="020B0604020202020204" pitchFamily="34" charset="0"/>
            </a:endParaRPr>
          </a:p>
        </p:txBody>
      </p:sp>
      <p:sp>
        <p:nvSpPr>
          <p:cNvPr id="18" name="Shape 16"/>
          <p:cNvSpPr/>
          <p:nvPr/>
        </p:nvSpPr>
        <p:spPr>
          <a:xfrm>
            <a:off x="4670248" y="2969856"/>
            <a:ext cx="4114800" cy="384048"/>
          </a:xfrm>
          <a:prstGeom prst="rect">
            <a:avLst/>
          </a:prstGeom>
          <a:solidFill>
            <a:schemeClr val="accent1">
              <a:lumMod val="20000"/>
              <a:lumOff val="80000"/>
            </a:schemeClr>
          </a:solidFill>
          <a:ln/>
        </p:spPr>
        <p:txBody>
          <a:bodyPr/>
          <a:lstStyle/>
          <a:p>
            <a:endParaRPr lang="en-IN">
              <a:latin typeface="Lato" panose="020F0502020204030203" pitchFamily="34" charset="0"/>
            </a:endParaRPr>
          </a:p>
        </p:txBody>
      </p:sp>
      <p:sp>
        <p:nvSpPr>
          <p:cNvPr id="19" name="Shape 17"/>
          <p:cNvSpPr/>
          <p:nvPr/>
        </p:nvSpPr>
        <p:spPr>
          <a:xfrm>
            <a:off x="8602168" y="2969856"/>
            <a:ext cx="320040" cy="384048"/>
          </a:xfrm>
          <a:prstGeom prst="rect">
            <a:avLst/>
          </a:prstGeom>
          <a:solidFill>
            <a:srgbClr val="1B3A8A"/>
          </a:solidFill>
          <a:ln/>
        </p:spPr>
        <p:txBody>
          <a:bodyPr/>
          <a:lstStyle/>
          <a:p>
            <a:endParaRPr lang="en-IN">
              <a:latin typeface="Lato" panose="020F0502020204030203" pitchFamily="34" charset="0"/>
            </a:endParaRPr>
          </a:p>
        </p:txBody>
      </p:sp>
      <p:sp>
        <p:nvSpPr>
          <p:cNvPr id="20" name="Text 18"/>
          <p:cNvSpPr/>
          <p:nvPr/>
        </p:nvSpPr>
        <p:spPr>
          <a:xfrm>
            <a:off x="4761688" y="3006432"/>
            <a:ext cx="3840480" cy="310896"/>
          </a:xfrm>
          <a:prstGeom prst="rect">
            <a:avLst/>
          </a:prstGeom>
          <a:noFill/>
          <a:ln/>
        </p:spPr>
        <p:txBody>
          <a:bodyPr wrap="square" rtlCol="0" anchor="ctr"/>
          <a:lstStyle/>
          <a:p>
            <a:pPr marL="0" indent="0">
              <a:buNone/>
            </a:pPr>
            <a:r>
              <a:rPr lang="en-US" sz="1600" b="1" dirty="0">
                <a:latin typeface="Lato" panose="020F0502020204030203" pitchFamily="34" charset="0"/>
                <a:ea typeface="Calibri" pitchFamily="34" charset="-122"/>
                <a:cs typeface="Arial" panose="020B0604020202020204" pitchFamily="34" charset="0"/>
              </a:rPr>
              <a:t>Output / Dashboard</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4761688" y="3427056"/>
            <a:ext cx="4023360" cy="1188720"/>
          </a:xfrm>
          <a:prstGeom prst="rect">
            <a:avLst/>
          </a:prstGeom>
          <a:noFill/>
          <a:ln/>
        </p:spPr>
        <p:txBody>
          <a:bodyPr wrap="square" rtlCol="0" anchor="t"/>
          <a:lstStyle/>
          <a:p>
            <a:pPr marL="285750" indent="-285750" algn="just">
              <a:buFont typeface="Arial" panose="020B0604020202020204" pitchFamily="34" charset="0"/>
              <a:buChar char="•"/>
            </a:pPr>
            <a:r>
              <a:rPr lang="en-US" sz="1200" dirty="0">
                <a:latin typeface="Lato" panose="020F0502020204030203"/>
                <a:cs typeface="Arial" panose="020B0604020202020204" pitchFamily="34" charset="0"/>
              </a:rPr>
              <a:t>Final output is an interactive Power BI dashboard. </a:t>
            </a:r>
          </a:p>
          <a:p>
            <a:pPr marL="285750" indent="-285750" algn="just">
              <a:buFont typeface="Arial" panose="020B0604020202020204" pitchFamily="34" charset="0"/>
              <a:buChar char="•"/>
            </a:pPr>
            <a:r>
              <a:rPr lang="en-US" sz="1200" dirty="0">
                <a:latin typeface="Lato" panose="020F0502020204030203"/>
                <a:cs typeface="Arial" panose="020B0604020202020204" pitchFamily="34" charset="0"/>
              </a:rPr>
              <a:t>Displays charts, graphs, and KPI indicators for analysis. </a:t>
            </a:r>
          </a:p>
          <a:p>
            <a:pPr marL="285750" indent="-285750" algn="just">
              <a:buFont typeface="Arial" panose="020B0604020202020204" pitchFamily="34" charset="0"/>
              <a:buChar char="•"/>
            </a:pPr>
            <a:r>
              <a:rPr lang="en-US" sz="1200" dirty="0" smtClean="0">
                <a:latin typeface="Lato" panose="020F0502020204030203"/>
                <a:cs typeface="Arial" panose="020B0604020202020204" pitchFamily="34" charset="0"/>
              </a:rPr>
              <a:t>Provides </a:t>
            </a:r>
            <a:r>
              <a:rPr lang="en-US" sz="1200" dirty="0">
                <a:latin typeface="Lato" panose="020F0502020204030203"/>
                <a:cs typeface="Arial" panose="020B0604020202020204" pitchFamily="34" charset="0"/>
              </a:rPr>
              <a:t>clear insights into customer segments and risk levels. </a:t>
            </a:r>
            <a:endParaRPr lang="en-US" sz="1200" dirty="0" smtClean="0">
              <a:latin typeface="Lato" panose="020F0502020204030203"/>
              <a:cs typeface="Arial" panose="020B0604020202020204" pitchFamily="34" charset="0"/>
            </a:endParaRPr>
          </a:p>
          <a:p>
            <a:pPr marL="0" indent="0" algn="just">
              <a:buNone/>
            </a:pPr>
            <a:endParaRPr lang="en-US" sz="2800" dirty="0">
              <a:latin typeface="Lato" panose="020F0502020204030203"/>
              <a:cs typeface="Arial" panose="020B0604020202020204" pitchFamily="34" charset="0"/>
            </a:endParaRPr>
          </a:p>
        </p:txBody>
      </p:sp>
      <p:sp>
        <p:nvSpPr>
          <p:cNvPr id="2" name="Rectangle 1"/>
          <p:cNvSpPr/>
          <p:nvPr/>
        </p:nvSpPr>
        <p:spPr>
          <a:xfrm>
            <a:off x="4643253" y="1627248"/>
            <a:ext cx="4331189" cy="1200329"/>
          </a:xfrm>
          <a:prstGeom prst="rect">
            <a:avLst/>
          </a:prstGeom>
        </p:spPr>
        <p:txBody>
          <a:bodyPr wrap="square">
            <a:spAutoFit/>
          </a:bodyPr>
          <a:lstStyle/>
          <a:p>
            <a:pPr algn="just">
              <a:buFont typeface="Arial" panose="020B0604020202020204" pitchFamily="34" charset="0"/>
              <a:buChar char="•"/>
            </a:pPr>
            <a:r>
              <a:rPr lang="en-US" sz="1200" dirty="0" smtClean="0">
                <a:latin typeface="Lato" panose="020F0502020204030203"/>
                <a:cs typeface="Arial" panose="020B0604020202020204" pitchFamily="34" charset="0"/>
              </a:rPr>
              <a:t>Raw data is refined in Excel by removing duplicates and fixing missing values. </a:t>
            </a:r>
          </a:p>
          <a:p>
            <a:pPr algn="just">
              <a:buFont typeface="Arial" panose="020B0604020202020204" pitchFamily="34" charset="0"/>
              <a:buChar char="•"/>
            </a:pPr>
            <a:r>
              <a:rPr lang="en-US" sz="1200" dirty="0" smtClean="0">
                <a:latin typeface="Lato" panose="020F0502020204030203"/>
                <a:cs typeface="Arial" panose="020B0604020202020204" pitchFamily="34" charset="0"/>
              </a:rPr>
              <a:t>Data </a:t>
            </a:r>
            <a:r>
              <a:rPr lang="en-US" sz="1200" dirty="0">
                <a:latin typeface="Lato" panose="020F0502020204030203"/>
                <a:cs typeface="Arial" panose="020B0604020202020204" pitchFamily="34" charset="0"/>
              </a:rPr>
              <a:t>is standardized and structured to ensure accuracy and consistency.</a:t>
            </a:r>
          </a:p>
          <a:p>
            <a:pPr algn="just">
              <a:buFont typeface="Arial" panose="020B0604020202020204" pitchFamily="34" charset="0"/>
              <a:buChar char="•"/>
            </a:pPr>
            <a:r>
              <a:rPr lang="en-US" sz="1200" dirty="0">
                <a:latin typeface="Lato" panose="020F0502020204030203"/>
                <a:cs typeface="Arial" panose="020B0604020202020204" pitchFamily="34" charset="0"/>
              </a:rPr>
              <a:t>Data is organized using sorting, filtering, and conditional formatting techniques. </a:t>
            </a:r>
          </a:p>
        </p:txBody>
      </p:sp>
      <p:sp>
        <p:nvSpPr>
          <p:cNvPr id="3" name="Rectangle 2"/>
          <p:cNvSpPr/>
          <p:nvPr/>
        </p:nvSpPr>
        <p:spPr>
          <a:xfrm>
            <a:off x="469074" y="3353904"/>
            <a:ext cx="4064013" cy="1200329"/>
          </a:xfrm>
          <a:prstGeom prst="rect">
            <a:avLst/>
          </a:prstGeom>
        </p:spPr>
        <p:txBody>
          <a:bodyPr wrap="square">
            <a:spAutoFit/>
          </a:bodyPr>
          <a:lstStyle/>
          <a:p>
            <a:pPr marL="171450" indent="-171450" algn="just">
              <a:buFont typeface="Arial" panose="020B0604020202020204" pitchFamily="34" charset="0"/>
              <a:buChar char="•"/>
            </a:pPr>
            <a:r>
              <a:rPr lang="en-US" sz="1200" dirty="0">
                <a:latin typeface="Lato" panose="020F0502020204030203"/>
                <a:cs typeface="Arial" panose="020B0604020202020204" pitchFamily="34" charset="0"/>
              </a:rPr>
              <a:t>Excel is used for data cleaning, preprocessing, and basic analysis.</a:t>
            </a:r>
          </a:p>
          <a:p>
            <a:pPr marL="171450" indent="-171450" algn="just">
              <a:buFont typeface="Arial" panose="020B0604020202020204" pitchFamily="34" charset="0"/>
              <a:buChar char="•"/>
            </a:pPr>
            <a:r>
              <a:rPr lang="en-US" sz="1200" dirty="0">
                <a:latin typeface="Lato" panose="020F0502020204030203"/>
                <a:cs typeface="Arial" panose="020B0604020202020204" pitchFamily="34" charset="0"/>
              </a:rPr>
              <a:t>Power BI is connected to Excel data to build interactive dashboards and visualizations.</a:t>
            </a:r>
          </a:p>
          <a:p>
            <a:pPr marL="171450" indent="-171450" algn="just">
              <a:buFont typeface="Arial" panose="020B0604020202020204" pitchFamily="34" charset="0"/>
              <a:buChar char="•"/>
            </a:pPr>
            <a:r>
              <a:rPr lang="en-US" sz="1200" dirty="0">
                <a:latin typeface="Lato" panose="020F0502020204030203"/>
                <a:cs typeface="Arial" panose="020B0604020202020204" pitchFamily="34" charset="0"/>
              </a:rPr>
              <a:t>AI tools like </a:t>
            </a:r>
            <a:r>
              <a:rPr lang="en-US" sz="1200" dirty="0" smtClean="0">
                <a:latin typeface="Lato" panose="020F0502020204030203"/>
                <a:cs typeface="Arial" panose="020B0604020202020204" pitchFamily="34" charset="0"/>
              </a:rPr>
              <a:t>Copilot </a:t>
            </a:r>
            <a:r>
              <a:rPr lang="en-US" sz="1200" dirty="0">
                <a:latin typeface="Lato" panose="020F0502020204030203"/>
                <a:cs typeface="Arial" panose="020B0604020202020204" pitchFamily="34" charset="0"/>
              </a:rPr>
              <a:t>are used to generate insights and summaries</a:t>
            </a:r>
            <a:r>
              <a:rPr lang="en-US" sz="1200" dirty="0" smtClean="0">
                <a:latin typeface="Lato" panose="020F0502020204030203"/>
                <a:cs typeface="Arial" panose="020B0604020202020204" pitchFamily="34" charset="0"/>
              </a:rPr>
              <a:t>.</a:t>
            </a:r>
            <a:endParaRPr lang="en-US" sz="1200" dirty="0">
              <a:latin typeface="Lato" panose="020F0502020204030203"/>
              <a:cs typeface="Arial" panose="020B0604020202020204" pitchFamily="34" charset="0"/>
            </a:endParaRPr>
          </a:p>
        </p:txBody>
      </p:sp>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20623" y="607298"/>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Live Demo of Project</a:t>
            </a:r>
            <a:endParaRPr lang="en-US" sz="2000" dirty="0">
              <a:latin typeface="Lato" panose="020F0502020204030203" pitchFamily="34" charset="0"/>
              <a:cs typeface="Arial" panose="020B0604020202020204" pitchFamily="34" charset="0"/>
            </a:endParaRPr>
          </a:p>
        </p:txBody>
      </p:sp>
      <p:sp>
        <p:nvSpPr>
          <p:cNvPr id="6" name="Text 4"/>
          <p:cNvSpPr/>
          <p:nvPr/>
        </p:nvSpPr>
        <p:spPr>
          <a:xfrm>
            <a:off x="125487" y="1105839"/>
            <a:ext cx="8412480" cy="320040"/>
          </a:xfrm>
          <a:prstGeom prst="rect">
            <a:avLst/>
          </a:prstGeom>
          <a:noFill/>
          <a:ln/>
        </p:spPr>
        <p:txBody>
          <a:bodyPr wrap="square" rtlCol="0" anchor="ctr"/>
          <a:lstStyle/>
          <a:p>
            <a:pPr marL="0" indent="0">
              <a:buNone/>
            </a:pPr>
            <a:r>
              <a:rPr lang="en-US" dirty="0">
                <a:latin typeface="Lato" panose="020F0502020204030203" pitchFamily="34" charset="0"/>
                <a:ea typeface="Calibri" pitchFamily="34" charset="-122"/>
                <a:cs typeface="Arial" panose="020B0604020202020204" pitchFamily="34" charset="0"/>
              </a:rPr>
              <a:t>Here's the list of some demo screenshots / features of the project:</a:t>
            </a:r>
            <a:endParaRPr lang="en-US" dirty="0">
              <a:latin typeface="Lato" panose="020F0502020204030203" pitchFamily="34" charset="0"/>
              <a:cs typeface="Arial" panose="020B0604020202020204" pitchFamily="34" charset="0"/>
            </a:endParaRPr>
          </a:p>
        </p:txBody>
      </p:sp>
      <p:sp>
        <p:nvSpPr>
          <p:cNvPr id="7" name="Shape 5"/>
          <p:cNvSpPr/>
          <p:nvPr/>
        </p:nvSpPr>
        <p:spPr>
          <a:xfrm>
            <a:off x="978408"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9" name="Shape 7"/>
          <p:cNvSpPr/>
          <p:nvPr/>
        </p:nvSpPr>
        <p:spPr>
          <a:xfrm>
            <a:off x="251460" y="2196877"/>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pPr algn="ctr"/>
            <a:r>
              <a:rPr lang="en-US" sz="2000" b="1" dirty="0" smtClean="0"/>
              <a:t> </a:t>
            </a:r>
          </a:p>
          <a:p>
            <a:pPr algn="ctr"/>
            <a:endParaRPr lang="en-US" sz="2000" b="1" dirty="0" smtClean="0"/>
          </a:p>
          <a:p>
            <a:pPr algn="ctr"/>
            <a:endParaRPr lang="en-US" sz="900" b="1" dirty="0"/>
          </a:p>
          <a:p>
            <a:pPr algn="ctr"/>
            <a:r>
              <a:rPr lang="en-US" sz="900" b="1" dirty="0" smtClean="0"/>
              <a:t>Customer Overview Dashboard</a:t>
            </a:r>
          </a:p>
          <a:p>
            <a:r>
              <a:rPr lang="en-US" sz="900" dirty="0" smtClean="0"/>
              <a:t>Shows overall customer data including age, income, and account type. Helps in understanding customer distribution and segmentation for better analysis.</a:t>
            </a:r>
          </a:p>
          <a:p>
            <a:r>
              <a:rPr lang="en-US" dirty="0" smtClean="0"/>
              <a:t>           </a:t>
            </a:r>
            <a:endParaRPr lang="en-IN" dirty="0">
              <a:latin typeface="Lato" panose="020F0502020204030203" pitchFamily="34" charset="0"/>
            </a:endParaRPr>
          </a:p>
        </p:txBody>
      </p:sp>
      <p:sp>
        <p:nvSpPr>
          <p:cNvPr id="10" name="Text 8"/>
          <p:cNvSpPr/>
          <p:nvPr/>
        </p:nvSpPr>
        <p:spPr>
          <a:xfrm>
            <a:off x="274320"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1</a:t>
            </a:r>
            <a:endParaRPr lang="en-US" sz="1600" dirty="0">
              <a:latin typeface="Lato" panose="020F0502020204030203" pitchFamily="34" charset="0"/>
              <a:cs typeface="Arial" panose="020B0604020202020204" pitchFamily="34" charset="0"/>
            </a:endParaRPr>
          </a:p>
        </p:txBody>
      </p:sp>
      <p:sp>
        <p:nvSpPr>
          <p:cNvPr id="11" name="Text 9"/>
          <p:cNvSpPr/>
          <p:nvPr/>
        </p:nvSpPr>
        <p:spPr>
          <a:xfrm>
            <a:off x="411480"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2" name="Shape 10"/>
          <p:cNvSpPr/>
          <p:nvPr/>
        </p:nvSpPr>
        <p:spPr>
          <a:xfrm>
            <a:off x="3922776" y="1648237"/>
            <a:ext cx="1371600" cy="1371600"/>
          </a:xfrm>
          <a:prstGeom prst="ellipse">
            <a:avLst/>
          </a:prstGeom>
          <a:solidFill>
            <a:srgbClr val="FFC000"/>
          </a:solidFill>
          <a:ln w="38100">
            <a:solidFill>
              <a:srgbClr val="FFFFFF"/>
            </a:solidFill>
            <a:prstDash val="solid"/>
          </a:ln>
        </p:spPr>
        <p:txBody>
          <a:bodyPr/>
          <a:lstStyle/>
          <a:p>
            <a:endParaRPr lang="en-IN">
              <a:latin typeface="Lato" panose="020F0502020204030203" pitchFamily="34" charset="0"/>
            </a:endParaRPr>
          </a:p>
        </p:txBody>
      </p:sp>
      <p:sp>
        <p:nvSpPr>
          <p:cNvPr id="14" name="Shape 12"/>
          <p:cNvSpPr/>
          <p:nvPr/>
        </p:nvSpPr>
        <p:spPr>
          <a:xfrm>
            <a:off x="3218688" y="2196877"/>
            <a:ext cx="2788920" cy="2651760"/>
          </a:xfrm>
          <a:prstGeom prst="rect">
            <a:avLst/>
          </a:prstGeom>
          <a:solidFill>
            <a:srgbClr val="FDF3ED"/>
          </a:solidFill>
          <a:ln/>
          <a:effectLst>
            <a:outerShdw blurRad="101600" dist="38100" dir="8100000" algn="bl" rotWithShape="0">
              <a:srgbClr val="000000">
                <a:alpha val="15000"/>
              </a:srgbClr>
            </a:outerShdw>
          </a:effectLst>
        </p:spPr>
        <p:txBody>
          <a:bodyPr/>
          <a:lstStyle/>
          <a:p>
            <a:pPr algn="ctr"/>
            <a:endParaRPr lang="en-US" sz="900" b="1" dirty="0" smtClean="0"/>
          </a:p>
          <a:p>
            <a:pPr algn="ctr"/>
            <a:endParaRPr lang="en-US" sz="900" b="1" dirty="0"/>
          </a:p>
          <a:p>
            <a:pPr algn="ctr"/>
            <a:endParaRPr lang="en-US" sz="900" b="1" dirty="0" smtClean="0"/>
          </a:p>
          <a:p>
            <a:pPr algn="ctr"/>
            <a:endParaRPr lang="en-US" sz="900" b="1" dirty="0"/>
          </a:p>
          <a:p>
            <a:pPr algn="ctr"/>
            <a:endParaRPr lang="en-US" sz="900" b="1" dirty="0" smtClean="0"/>
          </a:p>
          <a:p>
            <a:pPr algn="ctr"/>
            <a:r>
              <a:rPr lang="en-US" sz="900" b="1" dirty="0" smtClean="0"/>
              <a:t>Risk </a:t>
            </a:r>
            <a:r>
              <a:rPr lang="en-US" sz="900" b="1" dirty="0"/>
              <a:t>&amp; Loan Analysis</a:t>
            </a:r>
          </a:p>
          <a:p>
            <a:r>
              <a:rPr lang="en-US" sz="900" dirty="0"/>
              <a:t>Displays loan status and risk levels of customers. Helps identify high-risk customers and supports </a:t>
            </a:r>
            <a:r>
              <a:rPr lang="en-US" sz="900" dirty="0" smtClean="0"/>
              <a:t>better financial decision-making.</a:t>
            </a:r>
            <a:endParaRPr lang="en-US" dirty="0"/>
          </a:p>
        </p:txBody>
      </p:sp>
      <p:sp>
        <p:nvSpPr>
          <p:cNvPr id="15" name="Text 13"/>
          <p:cNvSpPr/>
          <p:nvPr/>
        </p:nvSpPr>
        <p:spPr>
          <a:xfrm>
            <a:off x="3218688"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2</a:t>
            </a:r>
            <a:endParaRPr lang="en-US" sz="1600" dirty="0">
              <a:latin typeface="Lato" panose="020F0502020204030203" pitchFamily="34" charset="0"/>
              <a:cs typeface="Arial" panose="020B0604020202020204" pitchFamily="34" charset="0"/>
            </a:endParaRPr>
          </a:p>
        </p:txBody>
      </p:sp>
      <p:sp>
        <p:nvSpPr>
          <p:cNvPr id="16" name="Text 14"/>
          <p:cNvSpPr/>
          <p:nvPr/>
        </p:nvSpPr>
        <p:spPr>
          <a:xfrm>
            <a:off x="3355848"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sp>
        <p:nvSpPr>
          <p:cNvPr id="17" name="Shape 15"/>
          <p:cNvSpPr/>
          <p:nvPr/>
        </p:nvSpPr>
        <p:spPr>
          <a:xfrm>
            <a:off x="6867144" y="1648237"/>
            <a:ext cx="1371600" cy="1371600"/>
          </a:xfrm>
          <a:prstGeom prst="ellipse">
            <a:avLst/>
          </a:prstGeom>
          <a:solidFill>
            <a:srgbClr val="1565C0"/>
          </a:solidFill>
          <a:ln w="38100">
            <a:solidFill>
              <a:srgbClr val="FFFFFF"/>
            </a:solidFill>
            <a:prstDash val="solid"/>
          </a:ln>
        </p:spPr>
        <p:txBody>
          <a:bodyPr/>
          <a:lstStyle/>
          <a:p>
            <a:endParaRPr lang="en-IN">
              <a:latin typeface="Lato" panose="020F0502020204030203" pitchFamily="34" charset="0"/>
            </a:endParaRPr>
          </a:p>
        </p:txBody>
      </p:sp>
      <p:sp>
        <p:nvSpPr>
          <p:cNvPr id="18" name="Text 16"/>
          <p:cNvSpPr/>
          <p:nvPr/>
        </p:nvSpPr>
        <p:spPr>
          <a:xfrm>
            <a:off x="6867144" y="1648237"/>
            <a:ext cx="1371600" cy="1371600"/>
          </a:xfrm>
          <a:prstGeom prst="rect">
            <a:avLst/>
          </a:prstGeom>
          <a:noFill/>
          <a:ln/>
        </p:spPr>
        <p:txBody>
          <a:bodyPr wrap="square" rtlCol="0" anchor="ctr"/>
          <a:lstStyle/>
          <a:p>
            <a:pPr marL="0" indent="0" algn="ctr">
              <a:buNone/>
            </a:pPr>
            <a:endParaRPr lang="en-US" sz="3600" dirty="0">
              <a:latin typeface="Lato" panose="020F0502020204030203" pitchFamily="34" charset="0"/>
            </a:endParaRPr>
          </a:p>
        </p:txBody>
      </p:sp>
      <p:sp>
        <p:nvSpPr>
          <p:cNvPr id="19" name="Shape 17"/>
          <p:cNvSpPr/>
          <p:nvPr/>
        </p:nvSpPr>
        <p:spPr>
          <a:xfrm>
            <a:off x="6163056" y="2200479"/>
            <a:ext cx="2788920" cy="2651760"/>
          </a:xfrm>
          <a:prstGeom prst="rect">
            <a:avLst/>
          </a:prstGeom>
          <a:solidFill>
            <a:schemeClr val="accent1">
              <a:lumMod val="20000"/>
              <a:lumOff val="80000"/>
            </a:schemeClr>
          </a:solidFill>
          <a:ln/>
          <a:effectLst>
            <a:outerShdw blurRad="101600" dist="38100" dir="8100000" algn="bl" rotWithShape="0">
              <a:srgbClr val="000000">
                <a:alpha val="15000"/>
              </a:srgbClr>
            </a:outerShdw>
          </a:effectLst>
        </p:spPr>
        <p:txBody>
          <a:bodyPr/>
          <a:lstStyle/>
          <a:p>
            <a:endParaRPr lang="en-US" b="1" dirty="0" smtClean="0"/>
          </a:p>
          <a:p>
            <a:r>
              <a:rPr lang="en-US" b="1" dirty="0"/>
              <a:t> </a:t>
            </a:r>
            <a:r>
              <a:rPr lang="en-US" b="1" dirty="0" smtClean="0"/>
              <a:t>    </a:t>
            </a:r>
          </a:p>
          <a:p>
            <a:r>
              <a:rPr lang="en-US" b="1" dirty="0"/>
              <a:t> </a:t>
            </a:r>
            <a:r>
              <a:rPr lang="en-US" b="1" dirty="0" smtClean="0"/>
              <a:t>          </a:t>
            </a:r>
            <a:r>
              <a:rPr lang="en-US" sz="900" b="1" dirty="0"/>
              <a:t>Financial Insights Dashboard</a:t>
            </a:r>
          </a:p>
          <a:p>
            <a:r>
              <a:rPr lang="en-US" sz="900" dirty="0"/>
              <a:t>Provides key financial metrics like total balance, transactions, and trends. Helps in analyzing customer financial health and performance.</a:t>
            </a:r>
          </a:p>
          <a:p>
            <a:endParaRPr lang="en-US" dirty="0"/>
          </a:p>
        </p:txBody>
      </p:sp>
      <p:sp>
        <p:nvSpPr>
          <p:cNvPr id="20" name="Text 18"/>
          <p:cNvSpPr/>
          <p:nvPr/>
        </p:nvSpPr>
        <p:spPr>
          <a:xfrm>
            <a:off x="6163056" y="2413802"/>
            <a:ext cx="2788920" cy="411480"/>
          </a:xfrm>
          <a:prstGeom prst="rect">
            <a:avLst/>
          </a:prstGeom>
          <a:noFill/>
          <a:ln/>
        </p:spPr>
        <p:txBody>
          <a:bodyPr wrap="square" rtlCol="0" anchor="ctr"/>
          <a:lstStyle/>
          <a:p>
            <a:pPr marL="0" indent="0" algn="ctr">
              <a:buNone/>
            </a:pPr>
            <a:r>
              <a:rPr lang="en-US" sz="1600" b="1" dirty="0">
                <a:latin typeface="Lato" panose="020F0502020204030203" pitchFamily="34" charset="0"/>
                <a:ea typeface="Calibri" pitchFamily="34" charset="-122"/>
                <a:cs typeface="Arial" panose="020B0604020202020204" pitchFamily="34" charset="0"/>
              </a:rPr>
              <a:t>Demo 3</a:t>
            </a:r>
            <a:endParaRPr lang="en-US" sz="1600" dirty="0">
              <a:latin typeface="Lato" panose="020F0502020204030203" pitchFamily="34" charset="0"/>
              <a:cs typeface="Arial" panose="020B0604020202020204" pitchFamily="34" charset="0"/>
            </a:endParaRPr>
          </a:p>
        </p:txBody>
      </p:sp>
      <p:sp>
        <p:nvSpPr>
          <p:cNvPr id="21" name="Text 19"/>
          <p:cNvSpPr/>
          <p:nvPr/>
        </p:nvSpPr>
        <p:spPr>
          <a:xfrm>
            <a:off x="6300216" y="2919838"/>
            <a:ext cx="2514600" cy="1371600"/>
          </a:xfrm>
          <a:prstGeom prst="rect">
            <a:avLst/>
          </a:prstGeom>
          <a:noFill/>
          <a:ln/>
        </p:spPr>
        <p:txBody>
          <a:bodyPr wrap="square" rtlCol="0" anchor="ctr"/>
          <a:lstStyle/>
          <a:p>
            <a:pPr marL="0" indent="0" algn="ctr">
              <a:buNone/>
            </a:pPr>
            <a:endParaRPr lang="en-US" sz="1600" dirty="0">
              <a:latin typeface="Lato" panose="020F0502020204030203" pitchFamily="34" charset="0"/>
              <a:cs typeface="Arial" panose="020B0604020202020204" pitchFamily="34" charset="0"/>
            </a:endParaRPr>
          </a:p>
        </p:txBody>
      </p:sp>
      <p:pic>
        <p:nvPicPr>
          <p:cNvPr id="3" name="Picture 2"/>
          <p:cNvPicPr>
            <a:picLocks noChangeAspect="1"/>
          </p:cNvPicPr>
          <p:nvPr/>
        </p:nvPicPr>
        <p:blipFill>
          <a:blip r:embed="rId4"/>
          <a:stretch>
            <a:fillRect/>
          </a:stretch>
        </p:blipFill>
        <p:spPr>
          <a:xfrm>
            <a:off x="388620" y="3568477"/>
            <a:ext cx="2467121" cy="1194272"/>
          </a:xfrm>
          <a:prstGeom prst="rect">
            <a:avLst/>
          </a:prstGeom>
        </p:spPr>
      </p:pic>
      <p:pic>
        <p:nvPicPr>
          <p:cNvPr id="5" name="Picture 4"/>
          <p:cNvPicPr>
            <a:picLocks noChangeAspect="1"/>
          </p:cNvPicPr>
          <p:nvPr/>
        </p:nvPicPr>
        <p:blipFill>
          <a:blip r:embed="rId5"/>
          <a:stretch>
            <a:fillRect/>
          </a:stretch>
        </p:blipFill>
        <p:spPr>
          <a:xfrm>
            <a:off x="6246055" y="3568477"/>
            <a:ext cx="2568761" cy="1149242"/>
          </a:xfrm>
          <a:prstGeom prst="rect">
            <a:avLst/>
          </a:prstGeom>
        </p:spPr>
      </p:pic>
      <p:pic>
        <p:nvPicPr>
          <p:cNvPr id="8" name="Picture 7"/>
          <p:cNvPicPr>
            <a:picLocks noChangeAspect="1"/>
          </p:cNvPicPr>
          <p:nvPr/>
        </p:nvPicPr>
        <p:blipFill>
          <a:blip r:embed="rId6"/>
          <a:stretch>
            <a:fillRect/>
          </a:stretch>
        </p:blipFill>
        <p:spPr>
          <a:xfrm>
            <a:off x="3355847" y="3536548"/>
            <a:ext cx="2514601" cy="1181171"/>
          </a:xfrm>
          <a:prstGeom prst="rect">
            <a:avLst/>
          </a:prstGeom>
        </p:spPr>
      </p:pic>
    </p:spTree>
    <p:custDataLst>
      <p:tags r:id="rId1"/>
    </p:custData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320040" y="621792"/>
            <a:ext cx="8229600" cy="438912"/>
          </a:xfrm>
          <a:prstGeom prst="rect">
            <a:avLst/>
          </a:prstGeom>
          <a:noFill/>
          <a:ln/>
        </p:spPr>
        <p:txBody>
          <a:bodyPr wrap="square" rtlCol="0" anchor="ctr"/>
          <a:lstStyle/>
          <a:p>
            <a:pPr marL="0" indent="0">
              <a:buNone/>
            </a:pPr>
            <a:r>
              <a:rPr lang="en-US" sz="2200" b="1" dirty="0">
                <a:solidFill>
                  <a:srgbClr val="1B3A8A"/>
                </a:solidFill>
                <a:latin typeface="Calibri" pitchFamily="34" charset="0"/>
                <a:ea typeface="Calibri" pitchFamily="34" charset="-122"/>
                <a:cs typeface="Calibri" pitchFamily="34" charset="-120"/>
              </a:rPr>
              <a:t>Video of Project Demo</a:t>
            </a:r>
            <a:endParaRPr lang="en-US" sz="2200" dirty="0"/>
          </a:p>
        </p:txBody>
      </p:sp>
      <p:sp>
        <p:nvSpPr>
          <p:cNvPr id="6" name="Shape 4"/>
          <p:cNvSpPr/>
          <p:nvPr/>
        </p:nvSpPr>
        <p:spPr>
          <a:xfrm>
            <a:off x="365760" y="685800"/>
            <a:ext cx="8412480" cy="3977640"/>
          </a:xfrm>
          <a:prstGeom prst="rect">
            <a:avLst/>
          </a:prstGeom>
          <a:solidFill>
            <a:srgbClr val="ECEFF1"/>
          </a:solidFill>
          <a:ln w="25400">
            <a:solidFill>
              <a:srgbClr val="1B3A8A"/>
            </a:solidFill>
            <a:prstDash val="solid"/>
          </a:ln>
        </p:spPr>
        <p:txBody>
          <a:bodyPr/>
          <a:lstStyle/>
          <a:p>
            <a:endParaRPr lang="en-IN"/>
          </a:p>
        </p:txBody>
      </p:sp>
      <p:sp>
        <p:nvSpPr>
          <p:cNvPr id="7" name="Shape 5"/>
          <p:cNvSpPr/>
          <p:nvPr/>
        </p:nvSpPr>
        <p:spPr>
          <a:xfrm>
            <a:off x="365760" y="685800"/>
            <a:ext cx="8412480" cy="384048"/>
          </a:xfrm>
          <a:prstGeom prst="rect">
            <a:avLst/>
          </a:prstGeom>
          <a:solidFill>
            <a:srgbClr val="E0E0E0"/>
          </a:solidFill>
          <a:ln/>
        </p:spPr>
        <p:txBody>
          <a:bodyPr/>
          <a:lstStyle/>
          <a:p>
            <a:endParaRPr lang="en-IN"/>
          </a:p>
        </p:txBody>
      </p:sp>
      <p:sp>
        <p:nvSpPr>
          <p:cNvPr id="8" name="Shape 6"/>
          <p:cNvSpPr/>
          <p:nvPr/>
        </p:nvSpPr>
        <p:spPr>
          <a:xfrm>
            <a:off x="502920" y="777240"/>
            <a:ext cx="164592" cy="164592"/>
          </a:xfrm>
          <a:prstGeom prst="ellipse">
            <a:avLst/>
          </a:prstGeom>
          <a:solidFill>
            <a:srgbClr val="FF5F57"/>
          </a:solidFill>
          <a:ln/>
        </p:spPr>
        <p:txBody>
          <a:bodyPr/>
          <a:lstStyle/>
          <a:p>
            <a:endParaRPr lang="en-IN"/>
          </a:p>
        </p:txBody>
      </p:sp>
      <p:sp>
        <p:nvSpPr>
          <p:cNvPr id="9" name="Shape 7"/>
          <p:cNvSpPr/>
          <p:nvPr/>
        </p:nvSpPr>
        <p:spPr>
          <a:xfrm>
            <a:off x="731520" y="777240"/>
            <a:ext cx="164592" cy="164592"/>
          </a:xfrm>
          <a:prstGeom prst="ellipse">
            <a:avLst/>
          </a:prstGeom>
          <a:solidFill>
            <a:srgbClr val="FEBC2E"/>
          </a:solidFill>
          <a:ln/>
        </p:spPr>
        <p:txBody>
          <a:bodyPr/>
          <a:lstStyle/>
          <a:p>
            <a:endParaRPr lang="en-IN"/>
          </a:p>
        </p:txBody>
      </p:sp>
      <p:sp>
        <p:nvSpPr>
          <p:cNvPr id="10" name="Shape 8"/>
          <p:cNvSpPr/>
          <p:nvPr/>
        </p:nvSpPr>
        <p:spPr>
          <a:xfrm>
            <a:off x="960120" y="777240"/>
            <a:ext cx="164592" cy="164592"/>
          </a:xfrm>
          <a:prstGeom prst="ellipse">
            <a:avLst/>
          </a:prstGeom>
          <a:solidFill>
            <a:srgbClr val="28C840"/>
          </a:solidFill>
          <a:ln/>
        </p:spPr>
        <p:txBody>
          <a:bodyPr/>
          <a:lstStyle/>
          <a:p>
            <a:endParaRPr lang="en-IN"/>
          </a:p>
        </p:txBody>
      </p:sp>
      <p:sp>
        <p:nvSpPr>
          <p:cNvPr id="11" name="Shape 9"/>
          <p:cNvSpPr/>
          <p:nvPr/>
        </p:nvSpPr>
        <p:spPr>
          <a:xfrm>
            <a:off x="1371600" y="777240"/>
            <a:ext cx="5029200" cy="201168"/>
          </a:xfrm>
          <a:prstGeom prst="rect">
            <a:avLst/>
          </a:prstGeom>
          <a:solidFill>
            <a:srgbClr val="FFFFFF"/>
          </a:solidFill>
          <a:ln w="6350">
            <a:solidFill>
              <a:srgbClr val="CCCCCC"/>
            </a:solidFill>
            <a:prstDash val="solid"/>
          </a:ln>
        </p:spPr>
        <p:txBody>
          <a:bodyPr/>
          <a:lstStyle/>
          <a:p>
            <a:endParaRPr lang="en-IN"/>
          </a:p>
        </p:txBody>
      </p:sp>
      <p:sp>
        <p:nvSpPr>
          <p:cNvPr id="12" name="Text 10"/>
          <p:cNvSpPr/>
          <p:nvPr/>
        </p:nvSpPr>
        <p:spPr>
          <a:xfrm>
            <a:off x="1389888" y="768096"/>
            <a:ext cx="4992624" cy="219456"/>
          </a:xfrm>
          <a:prstGeom prst="rect">
            <a:avLst/>
          </a:prstGeom>
          <a:noFill/>
          <a:ln/>
        </p:spPr>
        <p:txBody>
          <a:bodyPr wrap="square" rtlCol="0" anchor="ctr"/>
          <a:lstStyle/>
          <a:p>
            <a:pPr marL="0" indent="0">
              <a:buNone/>
            </a:pPr>
            <a:r>
              <a:rPr lang="en-US" sz="900" dirty="0">
                <a:solidFill>
                  <a:srgbClr val="607D8B"/>
                </a:solidFill>
                <a:latin typeface="Calibri" pitchFamily="34" charset="0"/>
                <a:ea typeface="Calibri" pitchFamily="34" charset="-122"/>
                <a:cs typeface="Calibri" pitchFamily="34" charset="-120"/>
              </a:rPr>
              <a:t>[https://your-project-demo-link.com]</a:t>
            </a:r>
            <a:endParaRPr lang="en-US" sz="900" dirty="0"/>
          </a:p>
        </p:txBody>
      </p:sp>
      <p:sp>
        <p:nvSpPr>
          <p:cNvPr id="13" name="Shape 11"/>
          <p:cNvSpPr/>
          <p:nvPr/>
        </p:nvSpPr>
        <p:spPr>
          <a:xfrm>
            <a:off x="3749040" y="1828800"/>
            <a:ext cx="1645920" cy="1645920"/>
          </a:xfrm>
          <a:prstGeom prst="ellipse">
            <a:avLst/>
          </a:prstGeom>
          <a:solidFill>
            <a:srgbClr val="1B3A8A">
              <a:alpha val="80000"/>
            </a:srgbClr>
          </a:solidFill>
          <a:ln/>
        </p:spPr>
        <p:txBody>
          <a:bodyPr/>
          <a:lstStyle/>
          <a:p>
            <a:endParaRPr lang="en-IN"/>
          </a:p>
        </p:txBody>
      </p:sp>
      <p:sp>
        <p:nvSpPr>
          <p:cNvPr id="14" name="Text 12"/>
          <p:cNvSpPr/>
          <p:nvPr/>
        </p:nvSpPr>
        <p:spPr>
          <a:xfrm>
            <a:off x="3749040" y="1828800"/>
            <a:ext cx="1645920" cy="1645920"/>
          </a:xfrm>
          <a:prstGeom prst="rect">
            <a:avLst/>
          </a:prstGeom>
          <a:noFill/>
          <a:ln/>
        </p:spPr>
        <p:txBody>
          <a:bodyPr wrap="square" rtlCol="0" anchor="ctr"/>
          <a:lstStyle/>
          <a:p>
            <a:pPr marL="0" indent="0" algn="ctr">
              <a:buNone/>
            </a:pPr>
            <a:r>
              <a:rPr lang="en-US" sz="4800" dirty="0">
                <a:solidFill>
                  <a:srgbClr val="FFFFFF"/>
                </a:solidFill>
                <a:hlinkClick r:id="rId6" action="ppaction://hlinkfile"/>
              </a:rPr>
              <a:t>▶</a:t>
            </a:r>
            <a:endParaRPr lang="en-US" sz="4800" dirty="0"/>
          </a:p>
        </p:txBody>
      </p:sp>
      <p:sp>
        <p:nvSpPr>
          <p:cNvPr id="15" name="Text 13"/>
          <p:cNvSpPr/>
          <p:nvPr/>
        </p:nvSpPr>
        <p:spPr>
          <a:xfrm>
            <a:off x="914400" y="3794760"/>
            <a:ext cx="7315200" cy="594360"/>
          </a:xfrm>
          <a:prstGeom prst="rect">
            <a:avLst/>
          </a:prstGeom>
          <a:noFill/>
          <a:ln/>
        </p:spPr>
        <p:txBody>
          <a:bodyPr wrap="square" rtlCol="0" anchor="ctr"/>
          <a:lstStyle/>
          <a:p>
            <a:pPr marL="0" indent="0" algn="ctr">
              <a:buNone/>
            </a:pPr>
            <a:r>
              <a:rPr lang="en-US" sz="1100" i="1" dirty="0">
                <a:solidFill>
                  <a:srgbClr val="607D8B"/>
                </a:solidFill>
                <a:latin typeface="Calibri" pitchFamily="34" charset="0"/>
                <a:ea typeface="Calibri" pitchFamily="34" charset="-122"/>
                <a:cs typeface="Calibri" pitchFamily="34" charset="-120"/>
              </a:rPr>
              <a:t>[Insert your project demo video.</a:t>
            </a:r>
            <a:endParaRPr lang="en-US" sz="1100" dirty="0"/>
          </a:p>
          <a:p>
            <a:pPr marL="0" indent="0" algn="ctr">
              <a:buNone/>
            </a:pPr>
            <a:r>
              <a:rPr lang="en-US" sz="1100" i="1" dirty="0">
                <a:solidFill>
                  <a:srgbClr val="607D8B"/>
                </a:solidFill>
                <a:latin typeface="Calibri" pitchFamily="34" charset="0"/>
                <a:ea typeface="Calibri" pitchFamily="34" charset="-122"/>
                <a:cs typeface="Calibri" pitchFamily="34" charset="-120"/>
              </a:rPr>
              <a:t>You can embed a video your live project.]</a:t>
            </a:r>
            <a:endParaRPr lang="en-US" sz="1100" dirty="0"/>
          </a:p>
        </p:txBody>
      </p:sp>
      <p:pic>
        <p:nvPicPr>
          <p:cNvPr id="2" name="Audio 1">
            <a:hlinkClick r:id="" action="ppaction://media"/>
          </p:cNvPr>
          <p:cNvPicPr>
            <a:picLocks noChangeAspect="1"/>
          </p:cNvPicPr>
          <p:nvPr>
            <a:audioFile r:link="rId3"/>
            <p:extLst>
              <p:ext uri="{DAA4B4D4-6D71-4841-9C94-3DE7FCFB9230}">
                <p14:media xmlns:p14="http://schemas.microsoft.com/office/powerpoint/2010/main" r:embed="rId2"/>
              </p:ext>
            </p:extLst>
          </p:nvPr>
        </p:nvPicPr>
        <p:blipFill>
          <a:blip r:embed="rId7"/>
          <a:stretch>
            <a:fillRect/>
          </a:stretch>
        </p:blipFill>
        <p:spPr>
          <a:xfrm>
            <a:off x="8504238" y="4503738"/>
            <a:ext cx="487362" cy="487362"/>
          </a:xfrm>
          <a:prstGeom prst="rect">
            <a:avLst/>
          </a:prstGeom>
        </p:spPr>
      </p:pic>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11432"/>
    </mc:Choice>
    <mc:Fallback xmlns="">
      <p:transition spd="slow" advTm="11432"/>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0351" y="612064"/>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Conclusion</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5486" y="1084927"/>
            <a:ext cx="4031517" cy="2439030"/>
          </a:xfrm>
          <a:prstGeom prst="rect">
            <a:avLst/>
          </a:prstGeom>
          <a:noFill/>
          <a:ln/>
        </p:spPr>
        <p:txBody>
          <a:bodyPr wrap="square" rtlCol="0" anchor="t"/>
          <a:lstStyle/>
          <a:p>
            <a:pPr lvl="0" eaLnBrk="0" fontAlgn="base" hangingPunct="0">
              <a:spcBef>
                <a:spcPct val="0"/>
              </a:spcBef>
              <a:spcAft>
                <a:spcPct val="0"/>
              </a:spcAft>
              <a:buFontTx/>
              <a:buChar char="•"/>
            </a:pPr>
            <a:r>
              <a:rPr lang="en-US" altLang="en-US" dirty="0">
                <a:latin typeface="Lato" panose="020F0502020204030203"/>
                <a:cs typeface="Arial" panose="020B0604020202020204" pitchFamily="34" charset="0"/>
              </a:rPr>
              <a:t>Developed a banking dashboard</a:t>
            </a:r>
            <a:br>
              <a:rPr lang="en-US" altLang="en-US" dirty="0">
                <a:latin typeface="Lato" panose="020F0502020204030203"/>
                <a:cs typeface="Arial" panose="020B0604020202020204" pitchFamily="34" charset="0"/>
              </a:rPr>
            </a:br>
            <a:r>
              <a:rPr lang="en-US" altLang="en-US" dirty="0">
                <a:latin typeface="Lato" panose="020F0502020204030203"/>
                <a:cs typeface="Arial" panose="020B0604020202020204" pitchFamily="34" charset="0"/>
              </a:rPr>
              <a:t>to analyze customer behavior and risk </a:t>
            </a:r>
            <a:r>
              <a:rPr lang="en-US" altLang="en-US" dirty="0" smtClean="0">
                <a:latin typeface="Lato" panose="020F0502020204030203"/>
                <a:cs typeface="Arial" panose="020B0604020202020204" pitchFamily="34" charset="0"/>
              </a:rPr>
              <a:t>levels. </a:t>
            </a:r>
            <a:endParaRPr lang="en-US" altLang="en-US" dirty="0">
              <a:latin typeface="Lato" panose="020F0502020204030203"/>
              <a:cs typeface="Arial" panose="020B0604020202020204" pitchFamily="34" charset="0"/>
            </a:endParaRPr>
          </a:p>
          <a:p>
            <a:pPr lvl="0" eaLnBrk="0" fontAlgn="base" hangingPunct="0">
              <a:spcBef>
                <a:spcPct val="0"/>
              </a:spcBef>
              <a:spcAft>
                <a:spcPct val="0"/>
              </a:spcAft>
              <a:buFontTx/>
              <a:buChar char="•"/>
            </a:pPr>
            <a:r>
              <a:rPr lang="en-US" altLang="en-US" dirty="0">
                <a:latin typeface="Lato" panose="020F0502020204030203"/>
                <a:cs typeface="Arial" panose="020B0604020202020204" pitchFamily="34" charset="0"/>
              </a:rPr>
              <a:t>Used Excel and Power </a:t>
            </a:r>
            <a:r>
              <a:rPr lang="en-US" altLang="en-US" dirty="0" smtClean="0">
                <a:latin typeface="Lato" panose="020F0502020204030203"/>
                <a:cs typeface="Arial" panose="020B0604020202020204" pitchFamily="34" charset="0"/>
              </a:rPr>
              <a:t>BI.</a:t>
            </a:r>
            <a:r>
              <a:rPr lang="en-US" altLang="en-US" dirty="0">
                <a:latin typeface="Lato" panose="020F0502020204030203"/>
                <a:cs typeface="Arial" panose="020B0604020202020204" pitchFamily="34" charset="0"/>
              </a:rPr>
              <a:t/>
            </a:r>
            <a:br>
              <a:rPr lang="en-US" altLang="en-US" dirty="0">
                <a:latin typeface="Lato" panose="020F0502020204030203"/>
                <a:cs typeface="Arial" panose="020B0604020202020204" pitchFamily="34" charset="0"/>
              </a:rPr>
            </a:br>
            <a:r>
              <a:rPr lang="en-US" altLang="en-US" dirty="0">
                <a:latin typeface="Lato" panose="020F0502020204030203"/>
                <a:cs typeface="Arial" panose="020B0604020202020204" pitchFamily="34" charset="0"/>
              </a:rPr>
              <a:t>to generate meaningful insights </a:t>
            </a:r>
          </a:p>
          <a:p>
            <a:pPr lvl="0" eaLnBrk="0" fontAlgn="base" hangingPunct="0">
              <a:spcBef>
                <a:spcPct val="0"/>
              </a:spcBef>
              <a:spcAft>
                <a:spcPct val="0"/>
              </a:spcAft>
              <a:buFontTx/>
              <a:buChar char="•"/>
            </a:pPr>
            <a:r>
              <a:rPr lang="en-US" altLang="en-US" dirty="0">
                <a:latin typeface="Lato" panose="020F0502020204030203"/>
                <a:cs typeface="Arial" panose="020B0604020202020204" pitchFamily="34" charset="0"/>
              </a:rPr>
              <a:t>Identified key customer trends</a:t>
            </a:r>
            <a:br>
              <a:rPr lang="en-US" altLang="en-US" dirty="0">
                <a:latin typeface="Lato" panose="020F0502020204030203"/>
                <a:cs typeface="Arial" panose="020B0604020202020204" pitchFamily="34" charset="0"/>
              </a:rPr>
            </a:br>
            <a:r>
              <a:rPr lang="en-US" altLang="en-US" dirty="0">
                <a:latin typeface="Lato" panose="020F0502020204030203"/>
                <a:cs typeface="Arial" panose="020B0604020202020204" pitchFamily="34" charset="0"/>
              </a:rPr>
              <a:t>and financial </a:t>
            </a:r>
            <a:r>
              <a:rPr lang="en-US" altLang="en-US" dirty="0" smtClean="0">
                <a:latin typeface="Lato" panose="020F0502020204030203"/>
                <a:cs typeface="Arial" panose="020B0604020202020204" pitchFamily="34" charset="0"/>
              </a:rPr>
              <a:t>risks. </a:t>
            </a:r>
            <a:endParaRPr lang="en-US" altLang="en-US" dirty="0">
              <a:latin typeface="Lato" panose="020F0502020204030203"/>
              <a:cs typeface="Arial" panose="020B0604020202020204" pitchFamily="34" charset="0"/>
            </a:endParaRPr>
          </a:p>
          <a:p>
            <a:pPr lvl="0" eaLnBrk="0" fontAlgn="base" hangingPunct="0">
              <a:spcBef>
                <a:spcPct val="0"/>
              </a:spcBef>
              <a:spcAft>
                <a:spcPct val="0"/>
              </a:spcAft>
              <a:buFontTx/>
              <a:buChar char="•"/>
            </a:pPr>
            <a:r>
              <a:rPr lang="en-US" altLang="en-US" dirty="0">
                <a:latin typeface="Lato" panose="020F0502020204030203"/>
                <a:cs typeface="Arial" panose="020B0604020202020204" pitchFamily="34" charset="0"/>
              </a:rPr>
              <a:t>Achieved project objectives</a:t>
            </a:r>
            <a:br>
              <a:rPr lang="en-US" altLang="en-US" dirty="0">
                <a:latin typeface="Lato" panose="020F0502020204030203"/>
                <a:cs typeface="Arial" panose="020B0604020202020204" pitchFamily="34" charset="0"/>
              </a:rPr>
            </a:br>
            <a:r>
              <a:rPr lang="en-US" altLang="en-US" dirty="0">
                <a:latin typeface="Lato" panose="020F0502020204030203"/>
                <a:cs typeface="Arial" panose="020B0604020202020204" pitchFamily="34" charset="0"/>
              </a:rPr>
              <a:t>with effective data </a:t>
            </a:r>
            <a:r>
              <a:rPr lang="en-US" altLang="en-US" dirty="0" smtClean="0">
                <a:latin typeface="Lato" panose="020F0502020204030203"/>
                <a:cs typeface="Arial" panose="020B0604020202020204" pitchFamily="34" charset="0"/>
              </a:rPr>
              <a:t>analysis. </a:t>
            </a:r>
            <a:endParaRPr lang="en-US" altLang="en-US" dirty="0">
              <a:latin typeface="Lato" panose="020F0502020204030203"/>
              <a:cs typeface="Arial" panose="020B0604020202020204" pitchFamily="34" charset="0"/>
            </a:endParaRPr>
          </a:p>
          <a:p>
            <a:pPr lvl="0" eaLnBrk="0" fontAlgn="base" hangingPunct="0">
              <a:spcBef>
                <a:spcPct val="0"/>
              </a:spcBef>
              <a:spcAft>
                <a:spcPct val="0"/>
              </a:spcAft>
              <a:buFontTx/>
              <a:buChar char="•"/>
            </a:pPr>
            <a:r>
              <a:rPr lang="en-US" altLang="en-US" dirty="0">
                <a:latin typeface="Lato" panose="020F0502020204030203"/>
                <a:cs typeface="Arial" panose="020B0604020202020204" pitchFamily="34" charset="0"/>
              </a:rPr>
              <a:t>Improves decision-making</a:t>
            </a:r>
            <a:br>
              <a:rPr lang="en-US" altLang="en-US" dirty="0">
                <a:latin typeface="Lato" panose="020F0502020204030203"/>
                <a:cs typeface="Arial" panose="020B0604020202020204" pitchFamily="34" charset="0"/>
              </a:rPr>
            </a:br>
            <a:r>
              <a:rPr lang="en-US" altLang="en-US" dirty="0">
                <a:latin typeface="Lato" panose="020F0502020204030203"/>
                <a:cs typeface="Arial" panose="020B0604020202020204" pitchFamily="34" charset="0"/>
              </a:rPr>
              <a:t>using data and AI </a:t>
            </a:r>
            <a:r>
              <a:rPr lang="en-US" altLang="en-US" dirty="0" smtClean="0">
                <a:latin typeface="Lato" panose="020F0502020204030203"/>
                <a:cs typeface="Arial" panose="020B0604020202020204" pitchFamily="34" charset="0"/>
              </a:rPr>
              <a:t>tools.</a:t>
            </a:r>
            <a:endParaRPr lang="en-US" altLang="en-US" dirty="0">
              <a:latin typeface="Lato" panose="020F0502020204030203"/>
              <a:cs typeface="Arial" panose="020B0604020202020204" pitchFamily="34" charset="0"/>
            </a:endParaRPr>
          </a:p>
          <a:p>
            <a:pPr marL="0" indent="0">
              <a:buNone/>
            </a:pPr>
            <a:endParaRPr lang="en-US" sz="1600" dirty="0">
              <a:latin typeface="Arial" panose="020B0604020202020204" pitchFamily="34" charset="0"/>
              <a:cs typeface="Arial" panose="020B0604020202020204" pitchFamily="34" charset="0"/>
            </a:endParaRPr>
          </a:p>
        </p:txBody>
      </p:sp>
      <p:sp>
        <p:nvSpPr>
          <p:cNvPr id="19" name="Text 17"/>
          <p:cNvSpPr/>
          <p:nvPr/>
        </p:nvSpPr>
        <p:spPr>
          <a:xfrm>
            <a:off x="5303520" y="3474720"/>
            <a:ext cx="3017520" cy="502920"/>
          </a:xfrm>
          <a:prstGeom prst="rect">
            <a:avLst/>
          </a:prstGeom>
          <a:noFill/>
          <a:ln/>
        </p:spPr>
        <p:txBody>
          <a:bodyPr wrap="square" rtlCol="0" anchor="ctr"/>
          <a:lstStyle/>
          <a:p>
            <a:pPr marL="0" indent="0" algn="ctr">
              <a:buNone/>
            </a:pPr>
            <a:r>
              <a:rPr lang="en-US" sz="1600" b="1" kern="0" spc="200" dirty="0">
                <a:solidFill>
                  <a:srgbClr val="FFFFFF"/>
                </a:solidFill>
                <a:latin typeface="Lato" panose="020F0502020204030203" pitchFamily="34" charset="0"/>
                <a:ea typeface="Calibri" pitchFamily="34" charset="-122"/>
                <a:cs typeface="Calibri" pitchFamily="34" charset="-120"/>
              </a:rPr>
              <a:t>CONCLUSION</a:t>
            </a:r>
            <a:endParaRPr lang="en-US" sz="1600" dirty="0">
              <a:latin typeface="Lato" panose="020F0502020204030203" pitchFamily="34" charset="0"/>
            </a:endParaRPr>
          </a:p>
        </p:txBody>
      </p:sp>
      <p:pic>
        <p:nvPicPr>
          <p:cNvPr id="20" name="Picture 19" descr="A blue circle with a pencil and paper with a star on it&#10;&#10;AI-generated content may be incorrect.">
            <a:extLst>
              <a:ext uri="{FF2B5EF4-FFF2-40B4-BE49-F238E27FC236}">
                <a16:creationId xmlns:a16="http://schemas.microsoft.com/office/drawing/2014/main" xmlns="" id="{BAE68F53-65EE-1751-E92D-7025D978B68E}"/>
              </a:ext>
            </a:extLst>
          </p:cNvPr>
          <p:cNvPicPr>
            <a:picLocks noChangeAspect="1"/>
          </p:cNvPicPr>
          <p:nvPr/>
        </p:nvPicPr>
        <p:blipFill>
          <a:blip r:embed="rId4">
            <a:duotone>
              <a:schemeClr val="accent1">
                <a:shade val="45000"/>
                <a:satMod val="135000"/>
              </a:schemeClr>
              <a:prstClr val="white"/>
            </a:duotone>
          </a:blip>
          <a:srcRect l="25397" t="26296" r="26825" b="29752"/>
          <a:stretch>
            <a:fillRect/>
          </a:stretch>
        </p:blipFill>
        <p:spPr>
          <a:xfrm>
            <a:off x="4898406" y="971550"/>
            <a:ext cx="3597456" cy="3309355"/>
          </a:xfrm>
          <a:prstGeom prst="rect">
            <a:avLst/>
          </a:prstGeom>
        </p:spPr>
      </p:pic>
    </p:spTree>
    <p:custDataLst>
      <p:tags r:id="rId1"/>
    </p:custData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2"/>
          <p:cNvSpPr/>
          <p:nvPr/>
        </p:nvSpPr>
        <p:spPr>
          <a:xfrm>
            <a:off x="123247" y="613561"/>
            <a:ext cx="8229600" cy="438912"/>
          </a:xfrm>
          <a:prstGeom prst="rect">
            <a:avLst/>
          </a:prstGeom>
          <a:noFill/>
          <a:ln/>
        </p:spPr>
        <p:txBody>
          <a:bodyPr wrap="square" rtlCol="0" anchor="ctr"/>
          <a:lstStyle/>
          <a:p>
            <a:pPr marL="0" indent="0">
              <a:buNone/>
            </a:pPr>
            <a:r>
              <a:rPr lang="en-US" sz="2000" b="1" dirty="0">
                <a:solidFill>
                  <a:srgbClr val="1B3A8A"/>
                </a:solidFill>
                <a:latin typeface="Lato" panose="020F0502020204030203" pitchFamily="34" charset="0"/>
                <a:ea typeface="Calibri" pitchFamily="34" charset="-122"/>
                <a:cs typeface="Arial" panose="020B0604020202020204" pitchFamily="34" charset="0"/>
              </a:rPr>
              <a:t>Future Scope</a:t>
            </a:r>
            <a:endParaRPr lang="en-US" sz="2000" dirty="0">
              <a:latin typeface="Lato" panose="020F0502020204030203" pitchFamily="34" charset="0"/>
              <a:cs typeface="Arial" panose="020B0604020202020204" pitchFamily="34" charset="0"/>
            </a:endParaRPr>
          </a:p>
        </p:txBody>
      </p:sp>
      <p:sp>
        <p:nvSpPr>
          <p:cNvPr id="14" name="Text 12"/>
          <p:cNvSpPr/>
          <p:nvPr/>
        </p:nvSpPr>
        <p:spPr>
          <a:xfrm>
            <a:off x="123247" y="1082104"/>
            <a:ext cx="4114800" cy="3474720"/>
          </a:xfrm>
          <a:prstGeom prst="rect">
            <a:avLst/>
          </a:prstGeom>
          <a:noFill/>
          <a:ln/>
        </p:spPr>
        <p:txBody>
          <a:bodyPr wrap="square" rtlCol="0" anchor="t"/>
          <a:lstStyle/>
          <a:p>
            <a:pPr algn="just"/>
            <a:r>
              <a:rPr lang="en-US" sz="1400" dirty="0">
                <a:latin typeface="Lato" panose="020F0502020204030203"/>
                <a:cs typeface="Arial" panose="020B0604020202020204" pitchFamily="34" charset="0"/>
              </a:rPr>
              <a:t>The future scope of this project includes integrating real-time banking data for live analysis and updates. Machine learning techniques can be applied to enhance predictive insights and risk analysis. The dashboard can be further improved with advanced Power BI features and automation. Additionally, the system can be expanded into a web-based or mobile platform to improve accessibility and user experience</a:t>
            </a:r>
          </a:p>
        </p:txBody>
      </p:sp>
      <p:pic>
        <p:nvPicPr>
          <p:cNvPr id="2" name="Picture 1">
            <a:extLst>
              <a:ext uri="{FF2B5EF4-FFF2-40B4-BE49-F238E27FC236}">
                <a16:creationId xmlns:a16="http://schemas.microsoft.com/office/drawing/2014/main" xmlns="" id="{412449DB-BF51-DAAE-EA83-F4C0089676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1635" y="879613"/>
            <a:ext cx="4512365" cy="3384274"/>
          </a:xfrm>
          <a:prstGeom prst="rect">
            <a:avLst/>
          </a:prstGeom>
        </p:spPr>
      </p:pic>
    </p:spTree>
    <p:custDataLst>
      <p:tags r:id="rId1"/>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5" name="Text 3"/>
          <p:cNvSpPr/>
          <p:nvPr/>
        </p:nvSpPr>
        <p:spPr>
          <a:xfrm>
            <a:off x="914400" y="3017520"/>
            <a:ext cx="7315200" cy="411480"/>
          </a:xfrm>
          <a:prstGeom prst="rect">
            <a:avLst/>
          </a:prstGeom>
          <a:noFill/>
          <a:ln/>
        </p:spPr>
        <p:txBody>
          <a:bodyPr wrap="square" rtlCol="0" anchor="ctr"/>
          <a:lstStyle/>
          <a:p>
            <a:pPr marL="0" indent="0" algn="ctr">
              <a:buNone/>
            </a:pPr>
            <a:r>
              <a:rPr lang="en-US" sz="1400" kern="0" spc="200" dirty="0">
                <a:latin typeface="Lato" panose="020F0502020204030203" pitchFamily="34" charset="0"/>
                <a:ea typeface="Calibri" pitchFamily="34" charset="-122"/>
                <a:cs typeface="Arial" panose="020B0604020202020204" pitchFamily="34" charset="0"/>
              </a:rPr>
              <a:t>AICW Fellowship  |  Student Project Presentation 2026</a:t>
            </a:r>
            <a:endParaRPr lang="en-US" sz="1400" dirty="0">
              <a:latin typeface="Lato" panose="020F0502020204030203" pitchFamily="34" charset="0"/>
              <a:cs typeface="Arial" panose="020B0604020202020204" pitchFamily="34" charset="0"/>
            </a:endParaRPr>
          </a:p>
        </p:txBody>
      </p:sp>
      <p:sp>
        <p:nvSpPr>
          <p:cNvPr id="6" name="Text 4"/>
          <p:cNvSpPr/>
          <p:nvPr/>
        </p:nvSpPr>
        <p:spPr>
          <a:xfrm>
            <a:off x="914400" y="3566160"/>
            <a:ext cx="7315200" cy="320040"/>
          </a:xfrm>
          <a:prstGeom prst="rect">
            <a:avLst/>
          </a:prstGeom>
          <a:noFill/>
          <a:ln/>
        </p:spPr>
        <p:txBody>
          <a:bodyPr wrap="square" lIns="91440" tIns="45720" rIns="91440" bIns="45720" rtlCol="0" anchor="ctr"/>
          <a:lstStyle/>
          <a:p>
            <a:pPr marL="0" indent="0" algn="ctr">
              <a:buNone/>
            </a:pPr>
            <a:r>
              <a:rPr lang="en-US" sz="1100" dirty="0">
                <a:latin typeface="Lato" panose="020F0502020204030203" pitchFamily="34" charset="0"/>
                <a:ea typeface="Calibri"/>
                <a:cs typeface="Arial" panose="020B0604020202020204" pitchFamily="34" charset="0"/>
              </a:rPr>
              <a:t>  LinkedIn  |   </a:t>
            </a:r>
            <a:r>
              <a:rPr lang="en-US" sz="1100" dirty="0" err="1">
                <a:latin typeface="Lato" panose="020F0502020204030203" pitchFamily="34" charset="0"/>
                <a:ea typeface="Calibri"/>
                <a:cs typeface="Arial" panose="020B0604020202020204" pitchFamily="34" charset="0"/>
              </a:rPr>
              <a:t>Edunet</a:t>
            </a:r>
            <a:r>
              <a:rPr lang="en-US" sz="1100" dirty="0">
                <a:latin typeface="Lato" panose="020F0502020204030203" pitchFamily="34" charset="0"/>
                <a:ea typeface="Calibri"/>
                <a:cs typeface="Arial" panose="020B0604020202020204" pitchFamily="34" charset="0"/>
              </a:rPr>
              <a:t> Foundation</a:t>
            </a:r>
            <a:endParaRPr lang="en-US" sz="1100" dirty="0">
              <a:latin typeface="Lato" panose="020F0502020204030203" pitchFamily="34" charset="0"/>
              <a:cs typeface="Arial" panose="020B0604020202020204" pitchFamily="34" charset="0"/>
            </a:endParaRPr>
          </a:p>
        </p:txBody>
      </p:sp>
      <p:sp>
        <p:nvSpPr>
          <p:cNvPr id="9" name="TextBox 4">
            <a:extLst>
              <a:ext uri="{FF2B5EF4-FFF2-40B4-BE49-F238E27FC236}">
                <a16:creationId xmlns:a16="http://schemas.microsoft.com/office/drawing/2014/main" xmlns="" id="{F7A740B1-0782-B37E-5F62-503024E32BC9}"/>
              </a:ext>
            </a:extLst>
          </p:cNvPr>
          <p:cNvSpPr txBox="1"/>
          <p:nvPr/>
        </p:nvSpPr>
        <p:spPr>
          <a:xfrm>
            <a:off x="2632982" y="1705295"/>
            <a:ext cx="3878036" cy="1175065"/>
          </a:xfrm>
          <a:prstGeom prst="rect">
            <a:avLst/>
          </a:prstGeom>
        </p:spPr>
        <p:txBody>
          <a:bodyPr wrap="square" lIns="0" tIns="0" rIns="0" bIns="0" rtlCol="0" anchor="t">
            <a:spAutoFit/>
          </a:bodyPr>
          <a:lstStyle/>
          <a:p>
            <a:pPr algn="ctr">
              <a:lnSpc>
                <a:spcPts val="10686"/>
              </a:lnSpc>
            </a:pPr>
            <a:r>
              <a:rPr lang="en-US" sz="5000" b="1" dirty="0">
                <a:solidFill>
                  <a:srgbClr val="0D358D"/>
                </a:solidFill>
                <a:latin typeface="Lato" panose="020F0502020204030203" pitchFamily="34" charset="0"/>
                <a:ea typeface="Aileron Ultra-Bold"/>
                <a:cs typeface="Arial" panose="020B0604020202020204" pitchFamily="34" charset="0"/>
                <a:sym typeface="Aileron Ultra-Bold"/>
              </a:rPr>
              <a:t>Thank You</a:t>
            </a: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OFFICE THEME" val="ROGxgyxs"/>
  <p:tag name="ARTICULATE_PROJECT_OPEN" val="0"/>
  <p:tag name="ARTICULATE_SLIDE_COUNT" val="1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1656</TotalTime>
  <Words>637</Words>
  <Application>Microsoft Office PowerPoint</Application>
  <PresentationFormat>On-screen Show (16:9)</PresentationFormat>
  <Paragraphs>109</Paragraphs>
  <Slides>11</Slides>
  <Notes>11</Notes>
  <HiddenSlides>0</HiddenSlides>
  <MMClips>1</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11</vt:i4>
      </vt:variant>
    </vt:vector>
  </HeadingPairs>
  <TitlesOfParts>
    <vt:vector size="21" baseType="lpstr">
      <vt:lpstr>Aileron</vt:lpstr>
      <vt:lpstr>Aileron Bold</vt:lpstr>
      <vt:lpstr>Aileron Ultra-Bold</vt:lpstr>
      <vt:lpstr>Arial</vt:lpstr>
      <vt:lpstr>Calibri</vt:lpstr>
      <vt:lpstr>Cambria Math</vt:lpstr>
      <vt:lpstr>Cascadia Mono ExtraLight</vt:lpstr>
      <vt:lpstr>Lato</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AICW Student Project Presentation Template 2026</dc:title>
  <dc:subject>PptxGenJS Presentation</dc:subject>
  <dc:creator>PptxGenJS</dc:creator>
  <cp:lastModifiedBy>hp</cp:lastModifiedBy>
  <cp:revision>52</cp:revision>
  <dcterms:created xsi:type="dcterms:W3CDTF">2026-02-18T09:17:23Z</dcterms:created>
  <dcterms:modified xsi:type="dcterms:W3CDTF">2026-04-11T09:45:13Z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1F7F540C-1CAD-4091-84DE-558331FD12BA</vt:lpwstr>
  </property>
  <property fmtid="{D5CDD505-2E9C-101B-9397-08002B2CF9AE}" pid="3" name="ArticulatePath">
    <vt:lpwstr>https://edunetfoundationorg-my.sharepoint.com/personal/kaisar_edunetfoundation_org/Documents/Task/AICW/Student project/AI Fellowship Project Template2026 (1)</vt:lpwstr>
  </property>
</Properties>
</file>