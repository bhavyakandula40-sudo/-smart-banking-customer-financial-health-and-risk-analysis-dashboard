
<file path=[Content_Types].xml><?xml version="1.0" encoding="utf-8"?>
<Types xmlns="http://schemas.openxmlformats.org/package/2006/content-types">
  <Default Extension="png" ContentType="image/png"/>
  <Default Extension="svg" ContentType="image/svg+xml"/>
  <Default Extension="m4a" ContentType="audio/mp4"/>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5C0"/>
    <a:srgbClr val="FDF3ED"/>
    <a:srgbClr val="CEE3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9" d="100"/>
          <a:sy n="129" d="100"/>
        </p:scale>
        <p:origin x="130" y="96"/>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xmlns=""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xmlns=""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xmlns=""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xmlns=""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xmlns=""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xmlns=""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xmlns=""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xmlns=""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image" Target="../media/image3.sv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audio" Target="../media/media1.m4a"/><Relationship Id="rId7" Type="http://schemas.openxmlformats.org/officeDocument/2006/relationships/image" Target="../media/image12.png"/><Relationship Id="rId2" Type="http://schemas.microsoft.com/office/2007/relationships/media" Target="../media/media1.m4a"/><Relationship Id="rId1" Type="http://schemas.openxmlformats.org/officeDocument/2006/relationships/tags" Target="../tags/tag12.xml"/><Relationship Id="rId6" Type="http://schemas.openxmlformats.org/officeDocument/2006/relationships/hyperlink" Target="audio1000804705.m4a" TargetMode="External"/><Relationship Id="rId5" Type="http://schemas.openxmlformats.org/officeDocument/2006/relationships/notesSlide" Target="../notesSlides/notesSlide8.xml"/><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xmlns=""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xmlns=""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xmlns=""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xmlns=""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xmlns="" id="{071C7EC6-7D4C-F061-CDE0-6A50914ECB9E}"/>
              </a:ext>
            </a:extLst>
          </p:cNvPr>
          <p:cNvGrpSpPr/>
          <p:nvPr/>
        </p:nvGrpSpPr>
        <p:grpSpPr>
          <a:xfrm>
            <a:off x="48416" y="4890401"/>
            <a:ext cx="7571294" cy="126178"/>
            <a:chOff x="0" y="0"/>
            <a:chExt cx="3988171" cy="66464"/>
          </a:xfrm>
        </p:grpSpPr>
        <p:sp>
          <p:nvSpPr>
            <p:cNvPr id="6" name="Freeform 6">
              <a:extLst>
                <a:ext uri="{FF2B5EF4-FFF2-40B4-BE49-F238E27FC236}">
                  <a16:creationId xmlns:a16="http://schemas.microsoft.com/office/drawing/2014/main" xmlns=""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xmlns=""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xmlns=""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xmlns=""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xmlns=""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xmlns=""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xmlns=""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xmlns=""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xmlns=""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xmlns=""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xmlns=""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xmlns=""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xmlns=""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xmlns=""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xmlns=""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xmlns=""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xmlns=""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xmlns=""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xmlns=""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xmlns=""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xmlns=""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xmlns=""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xmlns=""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xmlns=""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xmlns=""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xmlns=""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xmlns=""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xmlns=""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xmlns="" id="{EEE29F0A-1253-B8CE-E742-41B8B6EB922D}"/>
              </a:ext>
            </a:extLst>
          </p:cNvPr>
          <p:cNvSpPr txBox="1"/>
          <p:nvPr/>
        </p:nvSpPr>
        <p:spPr>
          <a:xfrm>
            <a:off x="2302781" y="4344678"/>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xmlns="" id="{2E9FAC26-1E84-D690-0FD4-B1A364AF40DE}"/>
              </a:ext>
            </a:extLst>
          </p:cNvPr>
          <p:cNvSpPr txBox="1"/>
          <p:nvPr/>
        </p:nvSpPr>
        <p:spPr>
          <a:xfrm>
            <a:off x="2302779" y="4471625"/>
            <a:ext cx="1633432" cy="256480"/>
          </a:xfrm>
          <a:prstGeom prst="rect">
            <a:avLst/>
          </a:prstGeom>
        </p:spPr>
        <p:txBody>
          <a:bodyPr lIns="0" tIns="0" rIns="0" bIns="0" rtlCol="0" anchor="t">
            <a:spAutoFit/>
          </a:bodyPr>
          <a:lstStyle/>
          <a:p>
            <a:pPr>
              <a:lnSpc>
                <a:spcPts val="2038"/>
              </a:lnSpc>
            </a:pPr>
            <a:r>
              <a:rPr lang="en-US" sz="1200" b="1" dirty="0" err="1" smtClean="0">
                <a:solidFill>
                  <a:srgbClr val="0D358D"/>
                </a:solidFill>
                <a:latin typeface="Arial" panose="020B0604020202020204" pitchFamily="34" charset="0"/>
                <a:ea typeface="Aileron Bold"/>
                <a:cs typeface="Arial" panose="020B0604020202020204" pitchFamily="34" charset="0"/>
                <a:sym typeface="Aileron Bold"/>
              </a:rPr>
              <a:t>K.Bhavya</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0" name="Picture 49" descr="A blue circle with a person and a envelope in it&#10;&#10;AI-generated content may be incorrect.">
            <a:extLst>
              <a:ext uri="{FF2B5EF4-FFF2-40B4-BE49-F238E27FC236}">
                <a16:creationId xmlns:a16="http://schemas.microsoft.com/office/drawing/2014/main" xmlns="" id="{C926F708-70B7-B0DB-A148-0FA2830D925D}"/>
              </a:ext>
            </a:extLst>
          </p:cNvPr>
          <p:cNvPicPr>
            <a:picLocks noChangeAspect="1"/>
          </p:cNvPicPr>
          <p:nvPr/>
        </p:nvPicPr>
        <p:blipFill>
          <a:blip r:embed="rId6"/>
          <a:srcRect l="26757" t="2453" r="27842" b="53701"/>
          <a:stretch>
            <a:fillRect/>
          </a:stretch>
        </p:blipFill>
        <p:spPr>
          <a:xfrm>
            <a:off x="1879018" y="4336133"/>
            <a:ext cx="395331" cy="381795"/>
          </a:xfrm>
          <a:prstGeom prst="rect">
            <a:avLst/>
          </a:prstGeom>
        </p:spPr>
      </p:pic>
      <p:sp>
        <p:nvSpPr>
          <p:cNvPr id="41" name="TextBox 41">
            <a:extLst>
              <a:ext uri="{FF2B5EF4-FFF2-40B4-BE49-F238E27FC236}">
                <a16:creationId xmlns:a16="http://schemas.microsoft.com/office/drawing/2014/main" xmlns="" id="{3403BDBE-05E2-50C5-0F55-4F0483352E2C}"/>
              </a:ext>
            </a:extLst>
          </p:cNvPr>
          <p:cNvSpPr txBox="1"/>
          <p:nvPr/>
        </p:nvSpPr>
        <p:spPr>
          <a:xfrm>
            <a:off x="3924234" y="4279537"/>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xmlns="" id="{B84F91E2-C42E-10B3-A03A-88AA58AF1258}"/>
              </a:ext>
            </a:extLst>
          </p:cNvPr>
          <p:cNvSpPr txBox="1"/>
          <p:nvPr/>
        </p:nvSpPr>
        <p:spPr>
          <a:xfrm>
            <a:off x="3945013" y="4413410"/>
            <a:ext cx="2272871" cy="227435"/>
          </a:xfrm>
          <a:prstGeom prst="rect">
            <a:avLst/>
          </a:prstGeom>
        </p:spPr>
        <p:txBody>
          <a:bodyPr lIns="0" tIns="0" rIns="0" bIns="0" rtlCol="0" anchor="t">
            <a:spAutoFit/>
          </a:bodyPr>
          <a:lstStyle/>
          <a:p>
            <a:pPr>
              <a:lnSpc>
                <a:spcPts val="2038"/>
              </a:lnSpc>
            </a:pPr>
            <a:r>
              <a:rPr lang="en-US" sz="1200" b="1" dirty="0" smtClean="0">
                <a:solidFill>
                  <a:srgbClr val="0D358D"/>
                </a:solidFill>
                <a:latin typeface="Arial" panose="020B0604020202020204" pitchFamily="34" charset="0"/>
                <a:ea typeface="Aileron Bold"/>
                <a:cs typeface="Arial" panose="020B0604020202020204" pitchFamily="34" charset="0"/>
                <a:sym typeface="Aileron Bold"/>
              </a:rPr>
              <a:t>bhavyakandula40@gmail.com</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1" name="Picture 50" descr="A blue circle with a person and a envelope in it&#10;&#10;AI-generated content may be incorrect.">
            <a:extLst>
              <a:ext uri="{FF2B5EF4-FFF2-40B4-BE49-F238E27FC236}">
                <a16:creationId xmlns:a16="http://schemas.microsoft.com/office/drawing/2014/main" xmlns="" id="{EC8FEF14-C75E-1155-0600-B4343B3F57F8}"/>
              </a:ext>
            </a:extLst>
          </p:cNvPr>
          <p:cNvPicPr>
            <a:picLocks noChangeAspect="1"/>
          </p:cNvPicPr>
          <p:nvPr/>
        </p:nvPicPr>
        <p:blipFill>
          <a:blip r:embed="rId6"/>
          <a:srcRect l="26859" t="52379" r="26874" b="2349"/>
          <a:stretch>
            <a:fillRect/>
          </a:stretch>
        </p:blipFill>
        <p:spPr>
          <a:xfrm>
            <a:off x="3523298" y="4318413"/>
            <a:ext cx="398279" cy="389719"/>
          </a:xfrm>
          <a:prstGeom prst="rect">
            <a:avLst/>
          </a:prstGeom>
        </p:spPr>
      </p:pic>
      <p:grpSp>
        <p:nvGrpSpPr>
          <p:cNvPr id="66" name="Group 65">
            <a:extLst>
              <a:ext uri="{FF2B5EF4-FFF2-40B4-BE49-F238E27FC236}">
                <a16:creationId xmlns:a16="http://schemas.microsoft.com/office/drawing/2014/main" xmlns="" id="{658A7A12-122B-4A3C-11D3-C4D8BF732077}"/>
              </a:ext>
            </a:extLst>
          </p:cNvPr>
          <p:cNvGrpSpPr/>
          <p:nvPr/>
        </p:nvGrpSpPr>
        <p:grpSpPr>
          <a:xfrm>
            <a:off x="832333" y="4337076"/>
            <a:ext cx="1838104" cy="353150"/>
            <a:chOff x="3111573" y="4295282"/>
            <a:chExt cx="1838104" cy="353150"/>
          </a:xfrm>
        </p:grpSpPr>
        <p:sp>
          <p:nvSpPr>
            <p:cNvPr id="67" name="TextBox 41">
              <a:extLst>
                <a:ext uri="{FF2B5EF4-FFF2-40B4-BE49-F238E27FC236}">
                  <a16:creationId xmlns:a16="http://schemas.microsoft.com/office/drawing/2014/main" xmlns=""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xmlns="" id="{A541DFB6-306C-CD3E-24BD-6D7131F87B73}"/>
                </a:ext>
              </a:extLst>
            </p:cNvPr>
            <p:cNvSpPr txBox="1"/>
            <p:nvPr/>
          </p:nvSpPr>
          <p:spPr>
            <a:xfrm>
              <a:off x="3111573" y="4391952"/>
              <a:ext cx="1072420" cy="256480"/>
            </a:xfrm>
            <a:prstGeom prst="rect">
              <a:avLst/>
            </a:prstGeom>
          </p:spPr>
          <p:txBody>
            <a:bodyPr wrap="square" lIns="0" tIns="0" rIns="0" bIns="0" rtlCol="0" anchor="t">
              <a:spAutoFit/>
            </a:bodyPr>
            <a:lstStyle/>
            <a:p>
              <a:pPr>
                <a:lnSpc>
                  <a:spcPts val="2038"/>
                </a:lnSpc>
              </a:pPr>
              <a:r>
                <a:rPr lang="en-US" sz="1000" b="1" dirty="0" smtClean="0">
                  <a:solidFill>
                    <a:srgbClr val="0D358D"/>
                  </a:solidFill>
                  <a:ea typeface="Aileron Bold"/>
                  <a:cs typeface="Arial" panose="020B0604020202020204" pitchFamily="34" charset="0"/>
                  <a:sym typeface="Aileron Bold"/>
                </a:rPr>
                <a:t>  </a:t>
              </a:r>
              <a:r>
                <a:rPr lang="en-US" sz="900" b="1" dirty="0" smtClean="0">
                  <a:solidFill>
                    <a:srgbClr val="0D358D"/>
                  </a:solidFill>
                  <a:latin typeface="Arial" panose="020B0604020202020204" pitchFamily="34" charset="0"/>
                  <a:ea typeface="Aileron Bold"/>
                  <a:cs typeface="Arial" panose="020B0604020202020204" pitchFamily="34" charset="0"/>
                  <a:sym typeface="Aileron Bold"/>
                </a:rPr>
                <a:t>Uma </a:t>
              </a:r>
              <a:r>
                <a:rPr lang="en-US" sz="900" b="1" dirty="0" err="1" smtClean="0">
                  <a:solidFill>
                    <a:srgbClr val="0D358D"/>
                  </a:solidFill>
                  <a:latin typeface="Arial" panose="020B0604020202020204" pitchFamily="34" charset="0"/>
                  <a:ea typeface="Aileron Bold"/>
                  <a:cs typeface="Arial" panose="020B0604020202020204" pitchFamily="34" charset="0"/>
                  <a:sym typeface="Aileron Bold"/>
                </a:rPr>
                <a:t>maheshwari</a:t>
              </a:r>
              <a:r>
                <a:rPr lang="en-US" sz="900" b="1" dirty="0" smtClean="0">
                  <a:solidFill>
                    <a:srgbClr val="0D358D"/>
                  </a:solidFill>
                  <a:latin typeface="Arial" panose="020B0604020202020204" pitchFamily="34" charset="0"/>
                  <a:ea typeface="Aileron Bold"/>
                  <a:cs typeface="Arial" panose="020B0604020202020204" pitchFamily="34" charset="0"/>
                  <a:sym typeface="Aileron Bold"/>
                </a:rPr>
                <a:t> </a:t>
              </a:r>
              <a:endParaRPr lang="en-US" sz="9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a16="http://schemas.microsoft.com/office/drawing/2014/main" xmlns=""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xmlns=""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xmlns=""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xmlns=""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xmlns=""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xmlns=""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xmlns=""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xmlns=""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xmlns="" id="{21A2EF52-784B-5BFA-EB88-FB9E7588BFF8}"/>
              </a:ext>
            </a:extLst>
          </p:cNvPr>
          <p:cNvPicPr>
            <a:picLocks noChangeAspect="1"/>
          </p:cNvPicPr>
          <p:nvPr/>
        </p:nvPicPr>
        <p:blipFill>
          <a:blip r:embed="rId10"/>
          <a:srcRect b="19729"/>
          <a:stretch>
            <a:fillRect/>
          </a:stretch>
        </p:blipFill>
        <p:spPr>
          <a:xfrm>
            <a:off x="173754" y="1046557"/>
            <a:ext cx="3854253" cy="1849530"/>
          </a:xfrm>
          <a:prstGeom prst="rect">
            <a:avLst/>
          </a:prstGeom>
        </p:spPr>
      </p:pic>
      <p:sp>
        <p:nvSpPr>
          <p:cNvPr id="27" name="TextBox 26">
            <a:extLst>
              <a:ext uri="{FF2B5EF4-FFF2-40B4-BE49-F238E27FC236}">
                <a16:creationId xmlns:a16="http://schemas.microsoft.com/office/drawing/2014/main" xmlns="" id="{56CE2B4C-42F3-6C3D-A2AC-C0C414252A53}"/>
              </a:ext>
            </a:extLst>
          </p:cNvPr>
          <p:cNvSpPr txBox="1"/>
          <p:nvPr/>
        </p:nvSpPr>
        <p:spPr>
          <a:xfrm>
            <a:off x="364883" y="3708312"/>
            <a:ext cx="5421506" cy="338554"/>
          </a:xfrm>
          <a:prstGeom prst="rect">
            <a:avLst/>
          </a:prstGeom>
          <a:noFill/>
        </p:spPr>
        <p:txBody>
          <a:bodyPr wrap="square">
            <a:spAutoFit/>
          </a:bodyPr>
          <a:lstStyle/>
          <a:p>
            <a:pPr algn="ctr">
              <a:spcBef>
                <a:spcPts val="400"/>
              </a:spcBef>
              <a:spcAft>
                <a:spcPts val="400"/>
              </a:spcAft>
              <a:buNone/>
            </a:pPr>
            <a:r>
              <a:rPr lang="en-IN" sz="1600" b="1" dirty="0" smtClean="0">
                <a:solidFill>
                  <a:srgbClr val="0070C0"/>
                </a:solidFill>
                <a:effectLst/>
                <a:ea typeface="Arial" panose="020B0604020202020204" pitchFamily="34" charset="0"/>
              </a:rPr>
              <a:t>Client Financial Risk </a:t>
            </a:r>
            <a:r>
              <a:rPr lang="en-US" sz="1600" b="1" dirty="0" smtClean="0">
                <a:solidFill>
                  <a:srgbClr val="0070C0"/>
                </a:solidFill>
                <a:effectLst/>
                <a:ea typeface="Arial" panose="020B0604020202020204" pitchFamily="34" charset="0"/>
              </a:rPr>
              <a:t>Monitoring And Analysis System</a:t>
            </a:r>
            <a:endParaRPr lang="en-IN" sz="1600" b="1" dirty="0">
              <a:solidFill>
                <a:srgbClr val="0070C0"/>
              </a:solidFill>
              <a:effectLst/>
              <a:ea typeface="Arial" panose="020B0604020202020204" pitchFamily="34" charset="0"/>
            </a:endParaRPr>
          </a:p>
        </p:txBody>
      </p:sp>
    </p:spTree>
    <p:custDataLst>
      <p:tags r:id="rId1"/>
    </p:custDataLst>
    <p:extLst>
      <p:ext uri="{BB962C8B-B14F-4D97-AF65-F5344CB8AC3E}">
        <p14:creationId xmlns:p14="http://schemas.microsoft.com/office/powerpoint/2010/main" val="1212236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xmlns=""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xmlns=""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xmlns="" id="{38849028-F25C-7DA0-DE56-0DC142EECABD}"/>
              </a:ext>
            </a:extLst>
          </p:cNvPr>
          <p:cNvSpPr txBox="1"/>
          <p:nvPr/>
        </p:nvSpPr>
        <p:spPr>
          <a:xfrm>
            <a:off x="77373" y="928468"/>
            <a:ext cx="5380892" cy="4001095"/>
          </a:xfrm>
          <a:prstGeom prst="rect">
            <a:avLst/>
          </a:prstGeom>
          <a:noFill/>
        </p:spPr>
        <p:txBody>
          <a:bodyPr wrap="square">
            <a:spAutoFit/>
          </a:bodyPr>
          <a:lstStyle/>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Analyze banking customer data to understand </a:t>
            </a:r>
            <a:r>
              <a:rPr lang="en-US" sz="1600" dirty="0" smtClean="0">
                <a:latin typeface="Lato" panose="020F0502020204030203"/>
                <a:ea typeface="Cambria Math" panose="02040503050406030204" pitchFamily="18" charset="0"/>
                <a:cs typeface="Cascadia Mono ExtraLight" panose="020B0609020000020004" pitchFamily="49" charset="0"/>
              </a:rPr>
              <a:t>n </a:t>
            </a:r>
            <a:r>
              <a:rPr lang="en-US" sz="1600" dirty="0">
                <a:latin typeface="Lato" panose="020F0502020204030203"/>
                <a:ea typeface="Cambria Math" panose="02040503050406030204" pitchFamily="18" charset="0"/>
                <a:cs typeface="Cascadia Mono ExtraLight" panose="020B0609020000020004" pitchFamily="49" charset="0"/>
              </a:rPr>
              <a:t>insights through dashboards.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Key highlight: Combines AI with business intelligence tools for smarter </a:t>
            </a:r>
            <a:r>
              <a:rPr lang="en-US" sz="1600" dirty="0" smtClean="0">
                <a:latin typeface="Lato" panose="020F0502020204030203"/>
                <a:ea typeface="Cambria Math" panose="02040503050406030204" pitchFamily="18" charset="0"/>
                <a:cs typeface="Cascadia Mono ExtraLight" panose="020B0609020000020004" pitchFamily="49" charset="0"/>
              </a:rPr>
              <a:t>an financial </a:t>
            </a:r>
            <a:r>
              <a:rPr lang="en-US" sz="1600" dirty="0">
                <a:latin typeface="Lato" panose="020F0502020204030203"/>
                <a:ea typeface="Cambria Math" panose="02040503050406030204" pitchFamily="18" charset="0"/>
                <a:cs typeface="Cascadia Mono ExtraLight" panose="020B0609020000020004" pitchFamily="49" charset="0"/>
              </a:rPr>
              <a:t>behavior, spending patterns, and risk levels.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Objective is to convert raw data into meaningful insights for better decision-making.</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Uses Microsoft Excel for data cleaning and preprocessing.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Uses Power BI to create interactive dashboards and visualizations.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Integrates AI tools like Copilot for insights and report generation.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Identifies high-value customers and detects potential financial risks.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Provides clear, data-</a:t>
            </a:r>
            <a:r>
              <a:rPr lang="en-US" sz="1600" dirty="0" err="1">
                <a:latin typeface="Lato" panose="020F0502020204030203"/>
                <a:ea typeface="Cambria Math" panose="02040503050406030204" pitchFamily="18" charset="0"/>
                <a:cs typeface="Cascadia Mono ExtraLight" panose="020B0609020000020004" pitchFamily="49" charset="0"/>
              </a:rPr>
              <a:t>drived</a:t>
            </a:r>
            <a:r>
              <a:rPr lang="en-US" sz="1600" dirty="0">
                <a:latin typeface="Lato" panose="020F0502020204030203"/>
                <a:ea typeface="Cambria Math" panose="02040503050406030204" pitchFamily="18" charset="0"/>
                <a:cs typeface="Cascadia Mono ExtraLight" panose="020B0609020000020004" pitchFamily="49" charset="0"/>
              </a:rPr>
              <a:t> </a:t>
            </a:r>
            <a:r>
              <a:rPr lang="en-US" sz="1600" dirty="0">
                <a:latin typeface="Lato" panose="020F0502020204030203"/>
              </a:rPr>
              <a:t>more efficient analysis</a:t>
            </a:r>
            <a:r>
              <a:rPr lang="en-US" sz="1200" dirty="0">
                <a:latin typeface="Lato" panose="020F0502020204030203"/>
              </a:rPr>
              <a:t>.</a:t>
            </a:r>
          </a:p>
          <a:p>
            <a:pPr algn="just">
              <a:spcAft>
                <a:spcPts val="800"/>
              </a:spcAft>
              <a:tabLst>
                <a:tab pos="4229100" algn="ctr"/>
              </a:tabLst>
            </a:pPr>
            <a:endParaRPr lang="en-US" sz="1400" dirty="0">
              <a:latin typeface="Lato" panose="020F0502020204030203"/>
              <a:ea typeface="+mn-lt"/>
              <a:cs typeface="Arial" panose="020B0604020202020204" pitchFamily="34" charset="0"/>
            </a:endParaRPr>
          </a:p>
        </p:txBody>
      </p:sp>
      <p:sp>
        <p:nvSpPr>
          <p:cNvPr id="2" name="Freeform 28">
            <a:extLst>
              <a:ext uri="{FF2B5EF4-FFF2-40B4-BE49-F238E27FC236}">
                <a16:creationId xmlns:a16="http://schemas.microsoft.com/office/drawing/2014/main" xmlns=""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Tree>
    <p:custDataLst>
      <p:tags r:id="rId1"/>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2" name="Rectangle 1"/>
          <p:cNvSpPr/>
          <p:nvPr/>
        </p:nvSpPr>
        <p:spPr>
          <a:xfrm>
            <a:off x="120624" y="914924"/>
            <a:ext cx="4611694" cy="369332"/>
          </a:xfrm>
          <a:prstGeom prst="rect">
            <a:avLst/>
          </a:prstGeom>
        </p:spPr>
        <p:txBody>
          <a:bodyPr wrap="square">
            <a:spAutoFit/>
          </a:bodyPr>
          <a:lstStyle/>
          <a:p>
            <a:pPr algn="just"/>
            <a:endParaRPr lang="en-US" dirty="0" smtClean="0">
              <a:latin typeface="Lato" panose="020F0502020204030203"/>
            </a:endParaRPr>
          </a:p>
        </p:txBody>
      </p:sp>
      <p:sp>
        <p:nvSpPr>
          <p:cNvPr id="8" name="Rectangle 4"/>
          <p:cNvSpPr>
            <a:spLocks noChangeArrowheads="1"/>
          </p:cNvSpPr>
          <p:nvPr/>
        </p:nvSpPr>
        <p:spPr bwMode="auto">
          <a:xfrm>
            <a:off x="63281" y="3356744"/>
            <a:ext cx="49995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smtClean="0">
                <a:ln>
                  <a:noFill/>
                </a:ln>
                <a:solidFill>
                  <a:schemeClr val="tx1"/>
                </a:solidFill>
                <a:effectLst/>
                <a:latin typeface="Lato" panose="020F0502020204030203"/>
              </a:rPr>
              <a:t> </a:t>
            </a:r>
          </a:p>
        </p:txBody>
      </p:sp>
      <p:sp>
        <p:nvSpPr>
          <p:cNvPr id="9" name="Rectangle 5"/>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6"/>
          <p:cNvSpPr>
            <a:spLocks noChangeArrowheads="1"/>
          </p:cNvSpPr>
          <p:nvPr/>
        </p:nvSpPr>
        <p:spPr bwMode="auto">
          <a:xfrm>
            <a:off x="0" y="158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1" i="0" u="none" strike="noStrike" cap="none" normalizeH="0" baseline="0" smtClean="0">
                <a:ln>
                  <a:noFill/>
                </a:ln>
                <a:solidFill>
                  <a:schemeClr val="tx1"/>
                </a:solidFill>
                <a:effectLst/>
                <a:latin typeface="Arial" panose="020B0604020202020204" pitchFamily="34" charset="0"/>
              </a:rPr>
              <a:t>📄 Proposed Sol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5" name="Rectangle 4"/>
          <p:cNvSpPr/>
          <p:nvPr/>
        </p:nvSpPr>
        <p:spPr>
          <a:xfrm>
            <a:off x="120625" y="1116280"/>
            <a:ext cx="4558254" cy="3816429"/>
          </a:xfrm>
          <a:prstGeom prst="rect">
            <a:avLst/>
          </a:prstGeom>
        </p:spPr>
        <p:txBody>
          <a:bodyPr wrap="square">
            <a:spAutoFit/>
          </a:bodyPr>
          <a:lstStyle/>
          <a:p>
            <a:pPr marL="285750" indent="-285750" algn="just">
              <a:buFont typeface="Arial" panose="020B0604020202020204" pitchFamily="34" charset="0"/>
              <a:buChar char="•"/>
            </a:pPr>
            <a:r>
              <a:rPr lang="en-US" sz="1600" dirty="0" smtClean="0">
                <a:solidFill>
                  <a:srgbClr val="222222"/>
                </a:solidFill>
                <a:latin typeface="Lato" panose="020F0502020204030203"/>
              </a:rPr>
              <a:t>Banking </a:t>
            </a:r>
            <a:r>
              <a:rPr lang="en-US" sz="1600" dirty="0">
                <a:solidFill>
                  <a:srgbClr val="222222"/>
                </a:solidFill>
                <a:latin typeface="Lato" panose="020F0502020204030203"/>
              </a:rPr>
              <a:t>systems generate high-volume data, but lack of advanced analytics and integration prevents actionable insights.</a:t>
            </a:r>
          </a:p>
          <a:p>
            <a:pPr marL="285750" indent="-285750" algn="just">
              <a:buFont typeface="Arial" panose="020B0604020202020204" pitchFamily="34" charset="0"/>
              <a:buChar char="•"/>
            </a:pPr>
            <a:r>
              <a:rPr lang="en-US" sz="1600" dirty="0" smtClean="0">
                <a:solidFill>
                  <a:srgbClr val="222222"/>
                </a:solidFill>
                <a:latin typeface="Lato" panose="020F0502020204030203"/>
              </a:rPr>
              <a:t>Absence </a:t>
            </a:r>
            <a:r>
              <a:rPr lang="en-US" sz="1600" dirty="0">
                <a:solidFill>
                  <a:srgbClr val="222222"/>
                </a:solidFill>
                <a:latin typeface="Lato" panose="020F0502020204030203"/>
              </a:rPr>
              <a:t>of real-time data processing and dashboards limits effective monitoring of key financial KPIs.</a:t>
            </a:r>
          </a:p>
          <a:p>
            <a:pPr marL="285750" indent="-285750" algn="just">
              <a:buFont typeface="Arial" panose="020B0604020202020204" pitchFamily="34" charset="0"/>
              <a:buChar char="•"/>
            </a:pPr>
            <a:r>
              <a:rPr lang="en-US" sz="1600" dirty="0" smtClean="0">
                <a:solidFill>
                  <a:srgbClr val="222222"/>
                </a:solidFill>
                <a:latin typeface="Lato" panose="020F0502020204030203"/>
              </a:rPr>
              <a:t>Lack </a:t>
            </a:r>
            <a:r>
              <a:rPr lang="en-US" sz="1600" dirty="0">
                <a:solidFill>
                  <a:srgbClr val="222222"/>
                </a:solidFill>
                <a:latin typeface="Lato" panose="020F0502020204030203"/>
              </a:rPr>
              <a:t>of predictive analytics and risk scoring models makes it difficult to identify high-risk customers.</a:t>
            </a:r>
          </a:p>
          <a:p>
            <a:pPr marL="285750" indent="-285750" algn="just">
              <a:buFont typeface="Arial" panose="020B0604020202020204" pitchFamily="34" charset="0"/>
              <a:buChar char="•"/>
            </a:pPr>
            <a:r>
              <a:rPr lang="en-US" sz="1600" dirty="0" smtClean="0">
                <a:solidFill>
                  <a:srgbClr val="222222"/>
                </a:solidFill>
                <a:latin typeface="Lato" panose="020F0502020204030203"/>
              </a:rPr>
              <a:t>Manual </a:t>
            </a:r>
            <a:r>
              <a:rPr lang="en-US" sz="1600" dirty="0">
                <a:solidFill>
                  <a:srgbClr val="222222"/>
                </a:solidFill>
                <a:latin typeface="Lato" panose="020F0502020204030203"/>
              </a:rPr>
              <a:t>data processing and static reporting lead to delays, inefficiencies, and increased error rates.</a:t>
            </a:r>
          </a:p>
          <a:p>
            <a:pPr marL="285750" indent="-285750" algn="just">
              <a:buFont typeface="Arial" panose="020B0604020202020204" pitchFamily="34" charset="0"/>
              <a:buChar char="•"/>
            </a:pPr>
            <a:r>
              <a:rPr lang="en-US" sz="1600" dirty="0" smtClean="0">
                <a:solidFill>
                  <a:srgbClr val="222222"/>
                </a:solidFill>
                <a:latin typeface="Lato" panose="020F0502020204030203"/>
              </a:rPr>
              <a:t>Absence </a:t>
            </a:r>
            <a:r>
              <a:rPr lang="en-US" sz="1600" dirty="0">
                <a:solidFill>
                  <a:srgbClr val="222222"/>
                </a:solidFill>
                <a:latin typeface="Lato" panose="020F0502020204030203"/>
              </a:rPr>
              <a:t>of AI-powered (NLP-based) copilots limits intuitive data interpretation for non-technical users</a:t>
            </a:r>
            <a:r>
              <a:rPr lang="en-US" dirty="0">
                <a:solidFill>
                  <a:srgbClr val="222222"/>
                </a:solidFill>
                <a:latin typeface="Lato" panose="020F0502020204030203"/>
              </a:rPr>
              <a:t>.</a:t>
            </a:r>
            <a:endParaRPr lang="en-US" b="0" i="0" dirty="0">
              <a:solidFill>
                <a:srgbClr val="222222"/>
              </a:solidFill>
              <a:effectLst/>
              <a:latin typeface="Lato" panose="020F0502020204030203"/>
            </a:endParaRPr>
          </a:p>
        </p:txBody>
      </p:sp>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720834" cy="3419438"/>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3" name="Rectangle 2"/>
          <p:cNvSpPr>
            <a:spLocks noChangeArrowheads="1"/>
          </p:cNvSpPr>
          <p:nvPr/>
        </p:nvSpPr>
        <p:spPr bwMode="auto">
          <a:xfrm>
            <a:off x="125486" y="973392"/>
            <a:ext cx="453557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r>
              <a:rPr lang="en-US" sz="1600" dirty="0" smtClean="0">
                <a:latin typeface="Lato" panose="020F0502020204030203"/>
              </a:rPr>
              <a:t>Implement advanced analytics and real-time data processing to transform banking data into actionable insights.</a:t>
            </a:r>
          </a:p>
          <a:p>
            <a:pPr marL="285750" indent="-285750" algn="just">
              <a:buFont typeface="Arial" panose="020B0604020202020204" pitchFamily="34" charset="0"/>
              <a:buChar char="•"/>
            </a:pPr>
            <a:r>
              <a:rPr lang="en-US" sz="1600" dirty="0" smtClean="0">
                <a:latin typeface="Lato" panose="020F0502020204030203"/>
              </a:rPr>
              <a:t>Develop interactive Power BI dashboards for effective monitoring of key financial KPIs.</a:t>
            </a:r>
          </a:p>
          <a:p>
            <a:pPr marL="285750" indent="-285750" algn="just">
              <a:buFont typeface="Arial" panose="020B0604020202020204" pitchFamily="34" charset="0"/>
              <a:buChar char="•"/>
            </a:pPr>
            <a:r>
              <a:rPr lang="en-US" sz="1600" dirty="0" smtClean="0">
                <a:latin typeface="Lato" panose="020F0502020204030203"/>
              </a:rPr>
              <a:t>Build </a:t>
            </a:r>
            <a:r>
              <a:rPr lang="en-US" sz="1600" dirty="0">
                <a:latin typeface="Lato" panose="020F0502020204030203"/>
              </a:rPr>
              <a:t>predictive analytics and risk scoring models to identify high-risk customers.</a:t>
            </a:r>
          </a:p>
          <a:p>
            <a:pPr marL="285750" indent="-285750" algn="just">
              <a:buFont typeface="Arial" panose="020B0604020202020204" pitchFamily="34" charset="0"/>
              <a:buChar char="•"/>
            </a:pPr>
            <a:r>
              <a:rPr lang="en-US" sz="1600" dirty="0">
                <a:latin typeface="Lato" panose="020F0502020204030203"/>
              </a:rPr>
              <a:t>Automate data cleaning and reporting to reduce manual effort, delays, and errors.</a:t>
            </a:r>
          </a:p>
          <a:p>
            <a:pPr marL="285750" indent="-285750" algn="just">
              <a:buFont typeface="Arial" panose="020B0604020202020204" pitchFamily="34" charset="0"/>
              <a:buChar char="•"/>
            </a:pPr>
            <a:r>
              <a:rPr lang="en-US" sz="1600" dirty="0">
                <a:latin typeface="Lato" panose="020F0502020204030203"/>
              </a:rPr>
              <a:t>Integrate an AI-powered (NLP-based) Copilot studio for easy and intuitive data </a:t>
            </a:r>
            <a:r>
              <a:rPr lang="en-US" sz="1600" dirty="0" smtClean="0">
                <a:latin typeface="Lato" panose="020F0502020204030203"/>
              </a:rPr>
              <a:t>interpretation.</a:t>
            </a:r>
          </a:p>
          <a:p>
            <a:pPr algn="just"/>
            <a:endParaRPr kumimoji="0" lang="en-US" altLang="en-US" sz="1600" b="0" i="0" u="none" strike="noStrike" cap="none" normalizeH="0" baseline="0" dirty="0" smtClean="0">
              <a:ln>
                <a:noFill/>
              </a:ln>
              <a:solidFill>
                <a:schemeClr val="tx1"/>
              </a:solidFill>
              <a:effectLst/>
              <a:latin typeface="Lato" panose="020F0502020204030203"/>
            </a:endParaRPr>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528453" y="1508166"/>
            <a:ext cx="3501716" cy="973777"/>
          </a:xfrm>
          <a:prstGeom prst="rect">
            <a:avLst/>
          </a:prstGeom>
          <a:noFill/>
          <a:ln/>
        </p:spPr>
        <p:txBody>
          <a:bodyPr wrap="square" rtlCol="0" anchor="t"/>
          <a:lstStyle/>
          <a:p>
            <a:pPr lvl="0" eaLnBrk="0" fontAlgn="base" hangingPunct="0">
              <a:spcBef>
                <a:spcPct val="0"/>
              </a:spcBef>
              <a:spcAft>
                <a:spcPct val="0"/>
              </a:spcAft>
              <a:buFontTx/>
              <a:buChar char="•"/>
            </a:pPr>
            <a:endParaRPr lang="en-US" altLang="en-US" sz="900" dirty="0" smtClean="0"/>
          </a:p>
          <a:p>
            <a:pPr lvl="0" algn="just" eaLnBrk="0" fontAlgn="base" hangingPunct="0">
              <a:spcBef>
                <a:spcPct val="0"/>
              </a:spcBef>
              <a:spcAft>
                <a:spcPct val="0"/>
              </a:spcAft>
              <a:buFontTx/>
              <a:buChar char="•"/>
            </a:pPr>
            <a:r>
              <a:rPr lang="en-US" altLang="en-US" sz="900" dirty="0" smtClean="0"/>
              <a:t> </a:t>
            </a:r>
            <a:r>
              <a:rPr lang="en-US" altLang="en-US" sz="1200" dirty="0" smtClean="0">
                <a:latin typeface="Lato" panose="020F0502020204030203"/>
                <a:cs typeface="Arial" panose="020B0604020202020204" pitchFamily="34" charset="0"/>
              </a:rPr>
              <a:t>Real includes key details like demographics, account types, balances, income, and credit score. </a:t>
            </a:r>
          </a:p>
          <a:p>
            <a:pPr lvl="0" algn="just" eaLnBrk="0" fontAlgn="base" hangingPunct="0">
              <a:spcBef>
                <a:spcPct val="0"/>
              </a:spcBef>
              <a:spcAft>
                <a:spcPct val="0"/>
              </a:spcAft>
              <a:buFontTx/>
              <a:buChar char="•"/>
            </a:pPr>
            <a:r>
              <a:rPr lang="en-US" altLang="en-US" sz="1200" dirty="0" smtClean="0">
                <a:latin typeface="Lato" panose="020F0502020204030203"/>
                <a:cs typeface="Arial" panose="020B0604020202020204" pitchFamily="34" charset="0"/>
              </a:rPr>
              <a:t>Acts </a:t>
            </a:r>
            <a:r>
              <a:rPr lang="en-US" altLang="en-US" sz="1200" dirty="0">
                <a:latin typeface="Lato" panose="020F0502020204030203"/>
                <a:cs typeface="Arial" panose="020B0604020202020204" pitchFamily="34" charset="0"/>
              </a:rPr>
              <a:t>as the primary input for financial analysis and insights generation. </a:t>
            </a:r>
          </a:p>
          <a:p>
            <a:pPr lvl="0" algn="just" eaLnBrk="0" fontAlgn="base" hangingPunct="0">
              <a:spcBef>
                <a:spcPct val="0"/>
              </a:spcBef>
              <a:spcAft>
                <a:spcPct val="0"/>
              </a:spcAft>
              <a:buFontTx/>
              <a:buChar char="•"/>
            </a:pPr>
            <a:r>
              <a:rPr lang="en-US" altLang="en-US" sz="1200" dirty="0">
                <a:latin typeface="Lato" panose="020F0502020204030203"/>
                <a:cs typeface="Arial" panose="020B0604020202020204" pitchFamily="34" charset="0"/>
              </a:rPr>
              <a:t>Data is directly uploaded into Excel and Power BI for processing. </a:t>
            </a:r>
          </a:p>
          <a:p>
            <a:pPr lvl="0" algn="just" eaLnBrk="0" fontAlgn="base" hangingPunct="0">
              <a:spcBef>
                <a:spcPct val="0"/>
              </a:spcBef>
              <a:spcAft>
                <a:spcPct val="0"/>
              </a:spcAft>
            </a:pPr>
            <a:endParaRPr lang="en-US" sz="2800" dirty="0">
              <a:latin typeface="Lato" panose="020F0502020204030203"/>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285750" indent="-285750" algn="just">
              <a:buFont typeface="Arial" panose="020B0604020202020204" pitchFamily="34" charset="0"/>
              <a:buChar char="•"/>
            </a:pPr>
            <a:r>
              <a:rPr lang="en-US" sz="1200" dirty="0">
                <a:latin typeface="Lato" panose="020F0502020204030203"/>
                <a:cs typeface="Arial" panose="020B0604020202020204" pitchFamily="34" charset="0"/>
              </a:rPr>
              <a:t>Final output is an interactive Power BI dashboard. </a:t>
            </a:r>
          </a:p>
          <a:p>
            <a:pPr marL="285750" indent="-285750" algn="just">
              <a:buFont typeface="Arial" panose="020B0604020202020204" pitchFamily="34" charset="0"/>
              <a:buChar char="•"/>
            </a:pPr>
            <a:r>
              <a:rPr lang="en-US" sz="1200" dirty="0">
                <a:latin typeface="Lato" panose="020F0502020204030203"/>
                <a:cs typeface="Arial" panose="020B0604020202020204" pitchFamily="34" charset="0"/>
              </a:rPr>
              <a:t>Displays charts, graphs, and KPI indicators for analysis. </a:t>
            </a:r>
          </a:p>
          <a:p>
            <a:pPr marL="285750" indent="-285750" algn="just">
              <a:buFont typeface="Arial" panose="020B0604020202020204" pitchFamily="34" charset="0"/>
              <a:buChar char="•"/>
            </a:pPr>
            <a:r>
              <a:rPr lang="en-US" sz="1200" dirty="0" smtClean="0">
                <a:latin typeface="Lato" panose="020F0502020204030203"/>
                <a:cs typeface="Arial" panose="020B0604020202020204" pitchFamily="34" charset="0"/>
              </a:rPr>
              <a:t>Provides </a:t>
            </a:r>
            <a:r>
              <a:rPr lang="en-US" sz="1200" dirty="0">
                <a:latin typeface="Lato" panose="020F0502020204030203"/>
                <a:cs typeface="Arial" panose="020B0604020202020204" pitchFamily="34" charset="0"/>
              </a:rPr>
              <a:t>clear insights into customer segments and risk levels. </a:t>
            </a:r>
            <a:endParaRPr lang="en-US" sz="1200" dirty="0" smtClean="0">
              <a:latin typeface="Lato" panose="020F0502020204030203"/>
              <a:cs typeface="Arial" panose="020B0604020202020204" pitchFamily="34" charset="0"/>
            </a:endParaRPr>
          </a:p>
          <a:p>
            <a:pPr marL="0" indent="0" algn="just">
              <a:buNone/>
            </a:pPr>
            <a:endParaRPr lang="en-US" sz="2800" dirty="0">
              <a:latin typeface="Lato" panose="020F0502020204030203"/>
              <a:cs typeface="Arial" panose="020B0604020202020204" pitchFamily="34" charset="0"/>
            </a:endParaRPr>
          </a:p>
        </p:txBody>
      </p:sp>
      <p:sp>
        <p:nvSpPr>
          <p:cNvPr id="2" name="Rectangle 1"/>
          <p:cNvSpPr/>
          <p:nvPr/>
        </p:nvSpPr>
        <p:spPr>
          <a:xfrm>
            <a:off x="4643253" y="1627248"/>
            <a:ext cx="4331189" cy="1200329"/>
          </a:xfrm>
          <a:prstGeom prst="rect">
            <a:avLst/>
          </a:prstGeom>
        </p:spPr>
        <p:txBody>
          <a:bodyPr wrap="square">
            <a:spAutoFit/>
          </a:bodyPr>
          <a:lstStyle/>
          <a:p>
            <a:pPr algn="just">
              <a:buFont typeface="Arial" panose="020B0604020202020204" pitchFamily="34" charset="0"/>
              <a:buChar char="•"/>
            </a:pPr>
            <a:r>
              <a:rPr lang="en-US" sz="1200" dirty="0" smtClean="0">
                <a:latin typeface="Lato" panose="020F0502020204030203"/>
                <a:cs typeface="Arial" panose="020B0604020202020204" pitchFamily="34" charset="0"/>
              </a:rPr>
              <a:t>Raw data is refined in Excel by removing duplicates and fixing missing values. </a:t>
            </a:r>
          </a:p>
          <a:p>
            <a:pPr algn="just">
              <a:buFont typeface="Arial" panose="020B0604020202020204" pitchFamily="34" charset="0"/>
              <a:buChar char="•"/>
            </a:pPr>
            <a:r>
              <a:rPr lang="en-US" sz="1200" dirty="0" smtClean="0">
                <a:latin typeface="Lato" panose="020F0502020204030203"/>
                <a:cs typeface="Arial" panose="020B0604020202020204" pitchFamily="34" charset="0"/>
              </a:rPr>
              <a:t>Data </a:t>
            </a:r>
            <a:r>
              <a:rPr lang="en-US" sz="1200" dirty="0">
                <a:latin typeface="Lato" panose="020F0502020204030203"/>
                <a:cs typeface="Arial" panose="020B0604020202020204" pitchFamily="34" charset="0"/>
              </a:rPr>
              <a:t>is standardized and structured to ensure accuracy and consistency.</a:t>
            </a:r>
          </a:p>
          <a:p>
            <a:pPr algn="just">
              <a:buFont typeface="Arial" panose="020B0604020202020204" pitchFamily="34" charset="0"/>
              <a:buChar char="•"/>
            </a:pPr>
            <a:r>
              <a:rPr lang="en-US" sz="1200" dirty="0">
                <a:latin typeface="Lato" panose="020F0502020204030203"/>
                <a:cs typeface="Arial" panose="020B0604020202020204" pitchFamily="34" charset="0"/>
              </a:rPr>
              <a:t>Data is organized using sorting, filtering, and conditional formatting techniques. </a:t>
            </a:r>
          </a:p>
        </p:txBody>
      </p:sp>
      <p:sp>
        <p:nvSpPr>
          <p:cNvPr id="3" name="Rectangle 2"/>
          <p:cNvSpPr/>
          <p:nvPr/>
        </p:nvSpPr>
        <p:spPr>
          <a:xfrm>
            <a:off x="469074" y="3353904"/>
            <a:ext cx="4064013" cy="1200329"/>
          </a:xfrm>
          <a:prstGeom prst="rect">
            <a:avLst/>
          </a:prstGeom>
        </p:spPr>
        <p:txBody>
          <a:bodyPr wrap="square">
            <a:spAutoFit/>
          </a:bodyPr>
          <a:lstStyle/>
          <a:p>
            <a:pPr marL="171450" indent="-171450" algn="just">
              <a:buFont typeface="Arial" panose="020B0604020202020204" pitchFamily="34" charset="0"/>
              <a:buChar char="•"/>
            </a:pPr>
            <a:r>
              <a:rPr lang="en-US" sz="1200" dirty="0">
                <a:latin typeface="Lato" panose="020F0502020204030203"/>
                <a:cs typeface="Arial" panose="020B0604020202020204" pitchFamily="34" charset="0"/>
              </a:rPr>
              <a:t>Excel is used for data cleaning, preprocessing, and basic analysis.</a:t>
            </a:r>
          </a:p>
          <a:p>
            <a:pPr marL="171450" indent="-171450" algn="just">
              <a:buFont typeface="Arial" panose="020B0604020202020204" pitchFamily="34" charset="0"/>
              <a:buChar char="•"/>
            </a:pPr>
            <a:r>
              <a:rPr lang="en-US" sz="1200" dirty="0">
                <a:latin typeface="Lato" panose="020F0502020204030203"/>
                <a:cs typeface="Arial" panose="020B0604020202020204" pitchFamily="34" charset="0"/>
              </a:rPr>
              <a:t>Power BI is connected to Excel data to build interactive dashboards and visualizations.</a:t>
            </a:r>
          </a:p>
          <a:p>
            <a:pPr marL="171450" indent="-171450" algn="just">
              <a:buFont typeface="Arial" panose="020B0604020202020204" pitchFamily="34" charset="0"/>
              <a:buChar char="•"/>
            </a:pPr>
            <a:r>
              <a:rPr lang="en-US" sz="1200" dirty="0">
                <a:latin typeface="Lato" panose="020F0502020204030203"/>
                <a:cs typeface="Arial" panose="020B0604020202020204" pitchFamily="34" charset="0"/>
              </a:rPr>
              <a:t>AI tools like </a:t>
            </a:r>
            <a:r>
              <a:rPr lang="en-US" sz="1200" dirty="0" smtClean="0">
                <a:latin typeface="Lato" panose="020F0502020204030203"/>
                <a:cs typeface="Arial" panose="020B0604020202020204" pitchFamily="34" charset="0"/>
              </a:rPr>
              <a:t>Copilot </a:t>
            </a:r>
            <a:r>
              <a:rPr lang="en-US" sz="1200" dirty="0">
                <a:latin typeface="Lato" panose="020F0502020204030203"/>
                <a:cs typeface="Arial" panose="020B0604020202020204" pitchFamily="34" charset="0"/>
              </a:rPr>
              <a:t>are used to generate insights and summaries</a:t>
            </a:r>
            <a:r>
              <a:rPr lang="en-US" sz="1200" dirty="0" smtClean="0">
                <a:latin typeface="Lato" panose="020F0502020204030203"/>
                <a:cs typeface="Arial" panose="020B0604020202020204" pitchFamily="34" charset="0"/>
              </a:rPr>
              <a:t>.</a:t>
            </a:r>
            <a:endParaRPr lang="en-US" sz="1200" dirty="0">
              <a:latin typeface="Lato" panose="020F0502020204030203"/>
              <a:cs typeface="Arial" panose="020B0604020202020204" pitchFamily="34" charset="0"/>
            </a:endParaRPr>
          </a:p>
        </p:txBody>
      </p:sp>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51460" y="2244435"/>
            <a:ext cx="2788920" cy="2604201"/>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pPr algn="ctr"/>
            <a:endParaRPr lang="en-US" b="1" dirty="0" smtClean="0">
              <a:latin typeface="Lato" panose="020F0502020204030203" pitchFamily="34" charset="0"/>
              <a:ea typeface="Calibri" pitchFamily="34" charset="-122"/>
              <a:cs typeface="Arial" panose="020B0604020202020204" pitchFamily="34" charset="0"/>
            </a:endParaRPr>
          </a:p>
          <a:p>
            <a:pPr algn="ctr"/>
            <a:r>
              <a:rPr lang="en-US" sz="1600" b="1" dirty="0" smtClean="0">
                <a:latin typeface="Lato" panose="020F0502020204030203" pitchFamily="34" charset="0"/>
                <a:ea typeface="Calibri" pitchFamily="34" charset="-122"/>
                <a:cs typeface="Arial" panose="020B0604020202020204" pitchFamily="34" charset="0"/>
              </a:rPr>
              <a:t>Demo 1</a:t>
            </a:r>
          </a:p>
          <a:p>
            <a:pPr algn="ctr"/>
            <a:r>
              <a:rPr lang="en-US" sz="1600" b="1" dirty="0" smtClean="0">
                <a:latin typeface="Lato" panose="020F0502020204030203" pitchFamily="34" charset="0"/>
                <a:ea typeface="Calibri" pitchFamily="34" charset="-122"/>
                <a:cs typeface="Arial" panose="020B0604020202020204" pitchFamily="34" charset="0"/>
              </a:rPr>
              <a:t>Customer overview</a:t>
            </a:r>
            <a:endParaRPr lang="en-US" sz="1600" dirty="0">
              <a:latin typeface="Lato" panose="020F0502020204030203" pitchFamily="34" charset="0"/>
              <a:cs typeface="Arial" panose="020B0604020202020204" pitchFamily="34" charset="0"/>
            </a:endParaRPr>
          </a:p>
        </p:txBody>
      </p:sp>
      <p:sp>
        <p:nvSpPr>
          <p:cNvPr id="10" name="Text 8"/>
          <p:cNvSpPr/>
          <p:nvPr/>
        </p:nvSpPr>
        <p:spPr>
          <a:xfrm>
            <a:off x="274320" y="2505694"/>
            <a:ext cx="2788920" cy="319588"/>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pPr algn="ctr"/>
            <a:endParaRPr lang="en-US" sz="900" b="1" dirty="0" smtClean="0"/>
          </a:p>
          <a:p>
            <a:pPr algn="ctr"/>
            <a:endParaRPr lang="en-US" sz="900" b="1" dirty="0"/>
          </a:p>
          <a:p>
            <a:pPr algn="ctr"/>
            <a:endParaRPr lang="en-US" sz="900" b="1" dirty="0" smtClean="0"/>
          </a:p>
          <a:p>
            <a:pPr algn="ctr"/>
            <a:endParaRPr lang="en-US" sz="900" b="1" dirty="0"/>
          </a:p>
          <a:p>
            <a:pPr algn="ctr"/>
            <a:r>
              <a:rPr lang="en-US" sz="1600" b="1" dirty="0" smtClean="0">
                <a:latin typeface="Lato" panose="020F0502020204030203"/>
              </a:rPr>
              <a:t>Risk </a:t>
            </a:r>
            <a:r>
              <a:rPr lang="en-US" sz="1600" b="1" dirty="0">
                <a:latin typeface="Lato" panose="020F0502020204030203"/>
              </a:rPr>
              <a:t>&amp; Loan Analysis</a:t>
            </a:r>
          </a:p>
          <a:p>
            <a:endParaRPr lang="en-US" sz="1600" dirty="0">
              <a:latin typeface="Lato" panose="020F0502020204030203"/>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smtClean="0">
                <a:latin typeface="Lato" panose="020F0502020204030203" pitchFamily="34" charset="0"/>
                <a:ea typeface="Calibri" pitchFamily="34" charset="-122"/>
                <a:cs typeface="Arial" panose="020B0604020202020204" pitchFamily="34" charset="0"/>
              </a:rPr>
              <a:t>Demo </a:t>
            </a:r>
            <a:r>
              <a:rPr lang="en-US" sz="1600" b="1" dirty="0">
                <a:latin typeface="Lato" panose="020F0502020204030203" pitchFamily="34" charset="0"/>
                <a:ea typeface="Calibri" pitchFamily="34" charset="-122"/>
                <a:cs typeface="Arial" panose="020B0604020202020204" pitchFamily="34" charset="0"/>
              </a:rPr>
              <a:t>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US" b="1" dirty="0" smtClean="0"/>
          </a:p>
          <a:p>
            <a:r>
              <a:rPr lang="en-US" b="1" dirty="0"/>
              <a:t> </a:t>
            </a:r>
            <a:r>
              <a:rPr lang="en-US" b="1" dirty="0" smtClean="0"/>
              <a:t>    </a:t>
            </a:r>
          </a:p>
          <a:p>
            <a:r>
              <a:rPr lang="en-US" b="1" dirty="0">
                <a:latin typeface="Lato" panose="020F0502020204030203"/>
              </a:rPr>
              <a:t> </a:t>
            </a:r>
            <a:r>
              <a:rPr lang="en-US" b="1" dirty="0" smtClean="0">
                <a:latin typeface="Lato" panose="020F0502020204030203"/>
              </a:rPr>
              <a:t>          </a:t>
            </a:r>
            <a:r>
              <a:rPr lang="en-US" sz="1600" b="1" dirty="0">
                <a:latin typeface="Lato" panose="020F0502020204030203"/>
              </a:rPr>
              <a:t>Financial </a:t>
            </a:r>
            <a:r>
              <a:rPr lang="en-US" sz="1600" b="1" dirty="0" smtClean="0">
                <a:latin typeface="Lato" panose="020F0502020204030203"/>
              </a:rPr>
              <a:t>Insights </a:t>
            </a:r>
            <a:endParaRPr lang="en-US" sz="1600" b="1" dirty="0">
              <a:latin typeface="Lato" panose="020F0502020204030203"/>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hlinkClick r:id="rId6" action="ppaction://hlinkfile"/>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pic>
        <p:nvPicPr>
          <p:cNvPr id="2" name="Audio 1">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8504238" y="4503738"/>
            <a:ext cx="487362" cy="487362"/>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432"/>
    </mc:Choice>
    <mc:Fallback xmlns="">
      <p:transition spd="slow" advTm="114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72192" y="1175657"/>
            <a:ext cx="5070764" cy="3004457"/>
          </a:xfrm>
          <a:prstGeom prst="rect">
            <a:avLst/>
          </a:prstGeom>
          <a:noFill/>
          <a:ln/>
        </p:spPr>
        <p:txBody>
          <a:bodyPr wrap="square" rtlCol="0" anchor="t"/>
          <a:lstStyle/>
          <a:p>
            <a:pPr marL="285750" lvl="0" indent="-285750" eaLnBrk="0" fontAlgn="base" hangingPunct="0">
              <a:spcBef>
                <a:spcPct val="0"/>
              </a:spcBef>
              <a:spcAft>
                <a:spcPct val="0"/>
              </a:spcAft>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xmlns=""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5415148" y="819397"/>
            <a:ext cx="3591353" cy="3230089"/>
          </a:xfrm>
          <a:prstGeom prst="rect">
            <a:avLst/>
          </a:prstGeom>
        </p:spPr>
      </p:pic>
      <p:sp>
        <p:nvSpPr>
          <p:cNvPr id="3" name="Rectangle 2"/>
          <p:cNvSpPr>
            <a:spLocks noChangeArrowheads="1"/>
          </p:cNvSpPr>
          <p:nvPr/>
        </p:nvSpPr>
        <p:spPr bwMode="auto">
          <a:xfrm>
            <a:off x="267195" y="808197"/>
            <a:ext cx="488075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Developed a banking dashboard to analyze customer behavior and assess risk levels.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Utilized Excel and Power BI to generate meaningful and actionable insights.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Identified key customer trends and potential financial risks. </a:t>
            </a:r>
          </a:p>
          <a:p>
            <a:pPr lvl="0" algn="just" eaLnBrk="0" fontAlgn="base" hangingPunct="0">
              <a:spcBef>
                <a:spcPct val="0"/>
              </a:spcBef>
              <a:spcAft>
                <a:spcPct val="0"/>
              </a:spcAft>
              <a:buFontTx/>
              <a:buChar char="•"/>
            </a:pPr>
            <a:r>
              <a:rPr lang="en-US" dirty="0"/>
              <a:t>Implemented interactive dashboards with real-time filtering for better user experience and deeper data </a:t>
            </a:r>
            <a:r>
              <a:rPr lang="en-US" dirty="0" smtClean="0"/>
              <a:t>exploration</a:t>
            </a:r>
            <a:r>
              <a:rPr lang="en-US" dirty="0"/>
              <a:t>.</a:t>
            </a:r>
            <a:endParaRPr kumimoji="0" lang="en-US" altLang="en-US" i="0" u="none" strike="noStrike" cap="none" normalizeH="0" baseline="0" dirty="0" smtClean="0">
              <a:ln>
                <a:noFill/>
              </a:ln>
              <a:solidFill>
                <a:schemeClr val="tx1"/>
              </a:solidFill>
              <a:effectLst/>
              <a:latin typeface="Lato" panose="020F0502020204030203"/>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Enhanced decision-making capabilities using data-driven and AI-powered tools. </a:t>
            </a:r>
          </a:p>
        </p:txBody>
      </p:sp>
    </p:spTree>
    <p:custDataLst>
      <p:tags r:id="rId1"/>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algn="just"/>
            <a:r>
              <a:rPr lang="en-US" sz="1400" dirty="0">
                <a:latin typeface="Lato" panose="020F0502020204030203"/>
                <a:cs typeface="Arial" panose="020B0604020202020204" pitchFamily="34" charset="0"/>
              </a:rPr>
              <a:t>The future scope of this project includes integrating real-time banking data for live analysis and updates. Machine learning techniques can be applied to enhance predictive insights and risk analysis. The dashboard can be further improved with advanced Power BI features and automation. Additionally, the system can be expanded into a web-based or mobile platform to improve accessibility and user experience</a:t>
            </a:r>
          </a:p>
        </p:txBody>
      </p:sp>
      <p:pic>
        <p:nvPicPr>
          <p:cNvPr id="2" name="Picture 1">
            <a:extLst>
              <a:ext uri="{FF2B5EF4-FFF2-40B4-BE49-F238E27FC236}">
                <a16:creationId xmlns:a16="http://schemas.microsoft.com/office/drawing/2014/main" xmlns=""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xmlns=""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2394</TotalTime>
  <Words>674</Words>
  <Application>Microsoft Office PowerPoint</Application>
  <PresentationFormat>On-screen Show (16:9)</PresentationFormat>
  <Paragraphs>101</Paragraphs>
  <Slides>11</Slides>
  <Notes>11</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Aileron</vt:lpstr>
      <vt:lpstr>Aileron Bold</vt:lpstr>
      <vt:lpstr>Aileron Ultra-Bold</vt:lpstr>
      <vt:lpstr>Arial</vt:lpstr>
      <vt:lpstr>Calibri</vt:lpstr>
      <vt:lpstr>Cambria Math</vt:lpstr>
      <vt:lpstr>Cascadia Mono ExtraLight</vt:lpstr>
      <vt:lpstr>Lato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hp</cp:lastModifiedBy>
  <cp:revision>70</cp:revision>
  <dcterms:created xsi:type="dcterms:W3CDTF">2026-02-18T09:17:23Z</dcterms:created>
  <dcterms:modified xsi:type="dcterms:W3CDTF">2026-04-19T16:26:16Z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